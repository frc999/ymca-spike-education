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1160bd6d98f4346" /><Relationship Type="http://schemas.openxmlformats.org/officeDocument/2006/relationships/extended-properties" Target="/docProps/app.xml" Id="Rd6ad867b74f14d49" /><Relationship Type="http://schemas.openxmlformats.org/officeDocument/2006/relationships/officeDocument" Target="/ppt/presentation.xml" Id="Reb7cc4dd67994033" /></Relationships>
</file>

<file path=ppt/presentation.xml><?xml version="1.0" encoding="utf-8"?>
<p:presentation xmlns:p="http://schemas.openxmlformats.org/presentationml/2006/main">
  <p:sldMasterIdLst>
    <p:sldMasterId xmlns:r="http://schemas.openxmlformats.org/officeDocument/2006/relationships" id="2147483648" r:id="Re3aca300d3d64fdc"/>
  </p:sldMasterIdLst>
  <p:notesMasterIdLst>
    <p:notesMasterId xmlns:r="http://schemas.openxmlformats.org/officeDocument/2006/relationships" r:id="Radbee64bdd684dda"/>
  </p:notesMasterIdLst>
  <p:sldIdLst>
    <p:sldId xmlns:r="http://schemas.openxmlformats.org/officeDocument/2006/relationships" id="256" r:id="Rd415e92c5e7f45d7"/>
    <p:sldId xmlns:r="http://schemas.openxmlformats.org/officeDocument/2006/relationships" id="257" r:id="R60aa02ce18344485"/>
    <p:sldId xmlns:r="http://schemas.openxmlformats.org/officeDocument/2006/relationships" id="258" r:id="R2b754aa5b39a4b58"/>
    <p:sldId xmlns:r="http://schemas.openxmlformats.org/officeDocument/2006/relationships" id="259" r:id="Reb52487280d84933"/>
    <p:sldId xmlns:r="http://schemas.openxmlformats.org/officeDocument/2006/relationships" id="260" r:id="Rcf9226907835458b"/>
    <p:sldId xmlns:r="http://schemas.openxmlformats.org/officeDocument/2006/relationships" id="261" r:id="R3ed36f576dae488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82ae393c909462f" /><Relationship Type="http://schemas.openxmlformats.org/officeDocument/2006/relationships/slideMaster" Target="/ppt/slideMasters/slideMaster1.xml" Id="Re3aca300d3d64fdc" /><Relationship Type="http://schemas.openxmlformats.org/officeDocument/2006/relationships/notesMaster" Target="/ppt/notesMasters/notesMaster1.xml" Id="Radbee64bdd684dda" /><Relationship Type="http://schemas.openxmlformats.org/officeDocument/2006/relationships/presProps" Target="/ppt/presProps.xml" Id="R031d42997ffb4ca4" /><Relationship Type="http://schemas.openxmlformats.org/officeDocument/2006/relationships/tableStyles" Target="/ppt/tableStyles.xml" Id="Rb6a59fc9d6b24a8e" /><Relationship Type="http://schemas.openxmlformats.org/officeDocument/2006/relationships/slide" Target="/ppt/slides/slide1.xml" Id="Rd415e92c5e7f45d7" /><Relationship Type="http://schemas.openxmlformats.org/officeDocument/2006/relationships/slide" Target="/ppt/slides/slide2.xml" Id="R60aa02ce18344485" /><Relationship Type="http://schemas.openxmlformats.org/officeDocument/2006/relationships/slide" Target="/ppt/slides/slide3.xml" Id="R2b754aa5b39a4b58" /><Relationship Type="http://schemas.openxmlformats.org/officeDocument/2006/relationships/slide" Target="/ppt/slides/slide4.xml" Id="Reb52487280d84933" /><Relationship Type="http://schemas.openxmlformats.org/officeDocument/2006/relationships/slide" Target="/ppt/slides/slide5.xml" Id="Rcf9226907835458b" /><Relationship Type="http://schemas.openxmlformats.org/officeDocument/2006/relationships/slide" Target="/ppt/slides/slide6.xml" Id="R3ed36f576dae488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cfc60d07b364c9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e0f0e78fdd9495d" /><Relationship Type="http://schemas.openxmlformats.org/officeDocument/2006/relationships/notesMaster" Target="/ppt/notesMasters/notesMaster1.xml" Id="Ra1a83553042d40f2" /></Relationships>
</file>

<file path=ppt/notesSlides/_rels/notesSlide2.xml.rels>&#65279;<?xml version="1.0" encoding="utf-8"?><Relationships xmlns="http://schemas.openxmlformats.org/package/2006/relationships"><Relationship Type="http://schemas.openxmlformats.org/officeDocument/2006/relationships/slide" Target="/ppt/slides/slide2.xml" Id="R7cba5d7ec96248e2" /><Relationship Type="http://schemas.openxmlformats.org/officeDocument/2006/relationships/notesMaster" Target="/ppt/notesMasters/notesMaster1.xml" Id="R3f09430752a24309" /></Relationships>
</file>

<file path=ppt/notesSlides/_rels/notesSlide3.xml.rels>&#65279;<?xml version="1.0" encoding="utf-8"?><Relationships xmlns="http://schemas.openxmlformats.org/package/2006/relationships"><Relationship Type="http://schemas.openxmlformats.org/officeDocument/2006/relationships/slide" Target="/ppt/slides/slide3.xml" Id="R20dd8e3ea71d427a" /><Relationship Type="http://schemas.openxmlformats.org/officeDocument/2006/relationships/notesMaster" Target="/ppt/notesMasters/notesMaster1.xml" Id="Rce21ee2fa8fd4c98" /></Relationships>
</file>

<file path=ppt/notesSlides/_rels/notesSlide4.xml.rels>&#65279;<?xml version="1.0" encoding="utf-8"?><Relationships xmlns="http://schemas.openxmlformats.org/package/2006/relationships"><Relationship Type="http://schemas.openxmlformats.org/officeDocument/2006/relationships/slide" Target="/ppt/slides/slide4.xml" Id="R5f57d2a672ef4082" /><Relationship Type="http://schemas.openxmlformats.org/officeDocument/2006/relationships/notesMaster" Target="/ppt/notesMasters/notesMaster1.xml" Id="Rc1a836537f234ccb" /></Relationships>
</file>

<file path=ppt/notesSlides/_rels/notesSlide5.xml.rels>&#65279;<?xml version="1.0" encoding="utf-8"?><Relationships xmlns="http://schemas.openxmlformats.org/package/2006/relationships"><Relationship Type="http://schemas.openxmlformats.org/officeDocument/2006/relationships/slide" Target="/ppt/slides/slide5.xml" Id="R9f8d115e2cc74791" /><Relationship Type="http://schemas.openxmlformats.org/officeDocument/2006/relationships/notesMaster" Target="/ppt/notesMasters/notesMaster1.xml" Id="Rebde21dc90da4d38" /></Relationships>
</file>

<file path=ppt/notesSlides/_rels/notesSlide6.xml.rels>&#65279;<?xml version="1.0" encoding="utf-8"?><Relationships xmlns="http://schemas.openxmlformats.org/package/2006/relationships"><Relationship Type="http://schemas.openxmlformats.org/officeDocument/2006/relationships/slide" Target="/ppt/slides/slide6.xml" Id="R7f8cf838c8ae433b" /><Relationship Type="http://schemas.openxmlformats.org/officeDocument/2006/relationships/notesMaster" Target="/ppt/notesMasters/notesMaster1.xml" Id="R10ce200819d84b4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PREPARATION</a:t>
            </a:r>
          </a:p>
          <a:p xmlns:a="http://schemas.openxmlformats.org/drawingml/2006/main">
            <a:r>
              <a:t/>
            </a:r>
          </a:p>
          <a:p xmlns:a="http://schemas.openxmlformats.org/drawingml/2006/main">
            <a:r>
              <a:t>Week 4 Parking assistant</a:t>
            </a:r>
          </a:p>
          <a:p xmlns:a="http://schemas.openxmlformats.org/drawingml/2006/main">
            <a:r>
              <a:t/>
            </a:r>
          </a:p>
          <a:p xmlns:a="http://schemas.openxmlformats.org/drawingml/2006/main">
            <a:r>
              <a:t>Speaker notes for the six-slide class presentation. Use the slides as brief prompts and leave time for children to build, operate and explain. This is a robotics session with a small prepared Python recipe.</a:t>
            </a:r>
          </a:p>
          <a:p xmlns:a="http://schemas.openxmlformats.org/drawingml/2006/main">
            <a:r>
              <a:t/>
            </a:r>
          </a:p>
          <a:p xmlns:a="http://schemas.openxmlformats.org/drawingml/2006/main">
            <a:r>
              <a:t>Class setup</a:t>
            </a:r>
          </a:p>
          <a:p xmlns:a="http://schemas.openxmlformats.org/drawingml/2006/main">
            <a:r>
              <a:t/>
            </a:r>
          </a:p>
          <a:p xmlns:a="http://schemas.openxmlformats.org/drawingml/2006/main">
            <a:r>
              <a:t>12 children in grades 5–6 form four teams of three: T1/T2 share Kit A and T3/T4 share Kit B. Four student instructors cover two robot stations and two build tables; a fifth or sixth can float. The adult lead oversees the room and YMCA procedures. Bring four available laptops: two remain connected to robots and two show build references. Printed build cards make the build activity work with two laptops too.</a:t>
            </a:r>
          </a:p>
          <a:p xmlns:a="http://schemas.openxmlformats.org/drawingml/2006/main">
            <a:r>
              <a:t/>
            </a:r>
          </a:p>
          <a:p xmlns:a="http://schemas.openxmlformats.org/drawingml/2006/main">
            <a:r>
              <a:t>Learning goal Each child predicts a threshold decision and distinguishes a valid distance reading from an invalid reading.</a:t>
            </a:r>
          </a:p>
          <a:p xmlns:a="http://schemas.openxmlformats.org/drawingml/2006/main">
            <a:r>
              <a:t/>
            </a:r>
          </a:p>
          <a:p xmlns:a="http://schemas.openxmlformats.org/drawingml/2006/main">
            <a:r>
              <a:t>Minimum success The robot approaches a broad cardboard wall in small steps and stops around 150 mm away. The team explains the threshold, invalid-reading stop, and movement limit.</a:t>
            </a:r>
          </a:p>
          <a:p xmlns:a="http://schemas.openxmlformats.org/drawingml/2006/main">
            <a:r>
              <a:t/>
            </a:r>
          </a:p>
          <a:p xmlns:a="http://schemas.openxmlformats.org/drawingml/2006/main">
            <a:r>
              <a:t>Prepare Mount the distance sensor before class. Open W04_parking.py. At 100, 150, and 250 mm, check readings against the ruler. Start about 300 mm from a broad, upright wall. Keep hands out of the lane. Prepare two mentor examples and four labeled team build packs. Rehearse attachment clearance, a hand test and a quick swap. Show the hub color guide.</a:t>
            </a:r>
          </a:p>
          <a:p xmlns:a="http://schemas.openxmlformats.org/drawingml/2006/main">
            <a:r>
              <a:t/>
            </a:r>
          </a:p>
          <a:p xmlns:a="http://schemas.openxmlformats.org/drawingml/2006/main">
            <a:r>
              <a:t>Materials and files Print and pack from the matching checklist in 01_Instructor/Class_Preparation. Use the team sheet and build card. Keep the original two bases assembled, A left/B right, auxiliary motor unplugged; add C/D only as the lessons require. Hardware rehearsal remains required.</a:t>
            </a:r>
          </a:p>
          <a:p xmlns:a="http://schemas.openxmlformats.org/drawingml/2006/main">
            <a:r>
              <a:t/>
            </a:r>
          </a:p>
          <a:p xmlns:a="http://schemas.openxmlformats.org/drawingml/2006/main">
            <a:r>
              <a:t>Slide 1 Parking assistant</a:t>
            </a:r>
          </a:p>
          <a:p xmlns:a="http://schemas.openxmlformats.org/drawingml/2006/main">
            <a:r>
              <a:t/>
            </a:r>
          </a:p>
          <a:p xmlns:a="http://schemas.openxmlformats.org/drawingml/2006/main">
            <a:r>
              <a:t>Timing 0–5 minutes</a:t>
            </a:r>
          </a:p>
          <a:p xmlns:a="http://schemas.openxmlformats.org/drawingml/2006/main">
            <a:r>
              <a:t/>
            </a:r>
          </a:p>
          <a:p xmlns:a="http://schemas.openxmlformats.org/drawingml/2006/main">
            <a:r>
              <a:t>Say “Today’s challenge is parking beside a wall. You will predict, test, and use evidence to explain your choice. All three teammates will operate and explain.”</a:t>
            </a:r>
          </a:p>
          <a:p xmlns:a="http://schemas.openxmlformats.org/drawingml/2006/main">
            <a:r>
              <a:t/>
            </a:r>
          </a:p>
          <a:p xmlns:a="http://schemas.openxmlformats.org/drawingml/2006/main">
            <a:r>
              <a:t>Ask before explaining How did the dance repeat without copying all its lines?</a:t>
            </a:r>
          </a:p>
          <a:p xmlns:a="http://schemas.openxmlformats.org/drawingml/2006/main">
            <a:r>
              <a:t/>
            </a:r>
          </a:p>
          <a:p xmlns:a="http://schemas.openxmlformats.org/drawingml/2006/main">
            <a:r>
              <a:t>Listen for A counted loop repeated the indented actions.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2 Todays robot challenge</a:t>
            </a:r>
          </a:p>
          <a:p xmlns:a="http://schemas.openxmlformats.org/drawingml/2006/main">
            <a:r>
              <a:t/>
            </a:r>
          </a:p>
          <a:p xmlns:a="http://schemas.openxmlformats.org/drawingml/2006/main">
            <a:r>
              <a:t>Timing 5–10 minutes</a:t>
            </a:r>
          </a:p>
          <a:p xmlns:a="http://schemas.openxmlformats.org/drawingml/2006/main">
            <a:r>
              <a:t/>
            </a:r>
          </a:p>
          <a:p xmlns:a="http://schemas.openxmlformats.org/drawingml/2006/main">
            <a:r>
              <a:t>Purpose Each student predicts a threshold decision and distinguishes a valid distance reading from an invalid reading.</a:t>
            </a:r>
          </a:p>
          <a:p xmlns:a="http://schemas.openxmlformats.org/drawingml/2006/main">
            <a:r>
              <a:t/>
            </a:r>
          </a:p>
          <a:p xmlns:a="http://schemas.openxmlformats.org/drawingml/2006/main">
            <a:r>
              <a:t>Do and explain Show a live distance reading while the robot stays still. Python readings use millimeters. Trace the condition 0 &lt;= gap &lt;= stop_mm. An invalid negative value must stop the activity for a check.</a:t>
            </a:r>
          </a:p>
          <a:p xmlns:a="http://schemas.openxmlformats.org/drawingml/2006/main">
            <a:r>
              <a:t/>
            </a:r>
          </a:p>
          <a:p xmlns:a="http://schemas.openxmlformats.org/drawingml/2006/main">
            <a:r>
              <a:t>Suggested words “Our useful result today is this: The robot approaches a broad cardboard wall in small steps and stops around 150 mm away. The team explains the threshold, invalid-reading stop, and movement limit. A test that misses still gives us information if we record it accurately.”</a:t>
            </a:r>
          </a:p>
          <a:p xmlns:a="http://schemas.openxmlformats.org/drawingml/2006/main">
            <a:r>
              <a:t/>
            </a:r>
          </a:p>
          <a:p xmlns:a="http://schemas.openxmlformats.org/drawingml/2006/main">
            <a:r>
              <a:t>Ask “What did the robot do? What evidence could we record? What must stay the same when we compare the next run?” Let a different student answer each question.</a:t>
            </a:r>
          </a:p>
          <a:p xmlns:a="http://schemas.openxmlformats.org/drawingml/2006/main">
            <a:r>
              <a:t/>
            </a:r>
          </a:p>
          <a:p xmlns:a="http://schemas.openxmlformats.org/drawingml/2006/main">
            <a:r>
              <a:t>If the example fails Invalid reading: check the C port and wall angle. Reaches step limit: move start closer or inspect readings. Stops too close: slow down and inspect step size. No collision is required to test the sensor. Allow one quick reset, then use the prepared stationary or paper explanation. Student testing time should not become a repair demonstration.</a:t>
            </a:r>
          </a:p>
          <a:p xmlns:a="http://schemas.openxmlformats.org/drawingml/2006/main">
            <a:r>
              <a:t/>
            </a:r>
          </a:p>
          <a:p xmlns:a="http://schemas.openxmlformats.org/drawingml/2006/main">
            <a:r>
              <a:t>Hub check Read the light on the correct button: steady green center means powered on with a compatible OS and at least 20% battery; flashing orange center means charge; flashing red center means stop, power off and cool for 15 minutes. White center needs a compatible OS; flashing purple center means updating. Blue is the connection button: flashing means waiting for Bluetooth, steady means connected. A display letter is a program output, not a battery or connection status. See the full SPIKE Hub Color Guide.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3 Sensor input and if conditions and prediction</a:t>
            </a:r>
          </a:p>
          <a:p xmlns:a="http://schemas.openxmlformats.org/drawingml/2006/main">
            <a:r>
              <a:t/>
            </a:r>
          </a:p>
          <a:p xmlns:a="http://schemas.openxmlformats.org/drawingml/2006/main">
            <a:r>
              <a:t>Timing 10–14 minutes</a:t>
            </a:r>
          </a:p>
          <a:p xmlns:a="http://schemas.openxmlformats.org/drawingml/2006/main">
            <a:r>
              <a:t/>
            </a:r>
          </a:p>
          <a:p xmlns:a="http://schemas.openxmlformats.org/drawingml/2006/main">
            <a:r>
              <a:t>stop_mm = 150</a:t>
            </a:r>
          </a:p>
          <a:p xmlns:a="http://schemas.openxmlformats.org/drawingml/2006/main">
            <a:r>
              <a:t>gap = distance_sensor.distance(port.C)</a:t>
            </a:r>
          </a:p>
          <a:p xmlns:a="http://schemas.openxmlformats.org/drawingml/2006/main">
            <a:r>
              <a:t>if 0 &lt;= gap &lt;= stop_mm:</a:t>
            </a:r>
          </a:p>
          <a:p xmlns:a="http://schemas.openxmlformats.org/drawingml/2006/main">
            <a:r>
              <a:t>    await signal("P")</a:t>
            </a:r>
          </a:p>
          <a:p xmlns:a="http://schemas.openxmlformats.org/drawingml/2006/main">
            <a:r>
              <a:t/>
            </a:r>
          </a:p>
          <a:p xmlns:a="http://schemas.openxmlformats.org/drawingml/2006/main">
            <a:r>
              <a:t>Say “The sensor supplies a distance. Our program uses a rule to decide whether it is close enough. A reading can also be invalid, so we need a separate check.”</a:t>
            </a:r>
          </a:p>
          <a:p xmlns:a="http://schemas.openxmlformats.org/drawingml/2006/main">
            <a:r>
              <a:t/>
            </a:r>
          </a:p>
          <a:p xmlns:a="http://schemas.openxmlformats.org/drawingml/2006/main">
            <a:r>
              <a:t>Point to the slide The slide isolates one decision: 0 &lt;= gap &lt;= stop_mm. With stop_mm = 150, valid readings from 0 through 150 satisfy it, including exactly 150.</a:t>
            </a:r>
          </a:p>
          <a:p xmlns:a="http://schemas.openxmlformats.org/drawingml/2006/main">
            <a:r>
              <a:t/>
            </a:r>
          </a:p>
          <a:p xmlns:a="http://schemas.openxmlformats.org/drawingml/2006/main">
            <a:r>
              <a:t>Ask At a 150 mm threshold, classify 220, 150, 90, and -1. Which readings mean near? Which means check the sensor?</a:t>
            </a:r>
          </a:p>
          <a:p xmlns:a="http://schemas.openxmlformats.org/drawingml/2006/main">
            <a:r>
              <a:t/>
            </a:r>
          </a:p>
          <a:p xmlns:a="http://schemas.openxmlformats.org/drawingml/2006/main">
            <a:r>
              <a:t>Expected reasoning 220 continues. 150 and 90 are near. -1 is invalid and must not be treated as a real near distance. At 170 with a threshold of 150, continue if a step remains.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4 Our robot and build jobs</a:t>
            </a:r>
          </a:p>
          <a:p xmlns:a="http://schemas.openxmlformats.org/drawingml/2006/main">
            <a:r>
              <a:t/>
            </a:r>
          </a:p>
          <a:p xmlns:a="http://schemas.openxmlformats.org/drawingml/2006/main">
            <a:r>
              <a:t>Timing 14–38 then retests minutes</a:t>
            </a:r>
          </a:p>
          <a:p xmlns:a="http://schemas.openxmlformats.org/drawingml/2006/main">
            <a:r>
              <a:t/>
            </a:r>
          </a:p>
          <a:p xmlns:a="http://schemas.openxmlformats.org/drawingml/2006/main">
            <a:r>
              <a:t>Station map 14–26: T1/T3 use robots and T2/T4 build. 26–38: teams switch stations. 38–44: T1/T3 retest while the other teams finish builds. 44–50: T2/T4 retest. Rotate roles at 18, 22, 30, 34, 40, 42, 46 and 48 minutes. Each team has 18 robot minutes, giving each child about six minutes as driver plus handling, observing and building. Transitions occur within these blocks.</a:t>
            </a:r>
          </a:p>
          <a:p xmlns:a="http://schemas.openxmlformats.org/drawingml/2006/main">
            <a:r>
              <a:t/>
            </a:r>
          </a:p>
          <a:p xmlns:a="http://schemas.openxmlformats.org/drawingml/2006/main">
            <a:r>
              <a:t>Jobs At the robot, the driver edits and starts after “clear.” The navigator reads the step, predicts, positions the stopped robot and payload, fits an approved attachment and checks the lane. The observer watches, measures and records one number, tick or phrase. Rotate all three jobs every four minutes in the first turn and every two minutes in the retest. At the build table, rotate builder, designer/parts manager and tester/reporter on the same timer. Everyone contributes hands-on work.</a:t>
            </a:r>
          </a:p>
          <a:p xmlns:a="http://schemas.openxmlformats.org/drawingml/2006/main">
            <a:r>
              <a:t/>
            </a:r>
          </a:p>
          <a:p xmlns:a="http://schemas.openxmlformats.org/drawingml/2006/main">
            <a:r>
              <a:t>Robot steps 1. With wheels still, measure the wall distance using a ruler. Compare two sensor readings with the measured gap. Explain millimeters versus centimeters. 2. Set stop_mm = 150. Start roughly 300 mm away and run. The supplied helper checks the sensor before each short 30-wheel-degree movement and limits the run to 12 steps. 3. Measure the stopped distance and record the reason printed by the program: near, invalid, or limit. A limit message does not mean successful parking. 4. Swap roles. Try a 200 mm threshold from the same start. Predict whether the robot will stop sooner or later. Keep the wall broad and square to the sensor. 5. On the final turn, repeat one chosen setting. Explain why this classroom prototype is not a real vehicle safety system.</a:t>
            </a:r>
          </a:p>
          <a:p xmlns:a="http://schemas.openxmlformats.org/drawingml/2006/main">
            <a:r>
              <a:t/>
            </a:r>
          </a:p>
          <a:p xmlns:a="http://schemas.openxmlformats.org/drawingml/2006/main">
            <a:r>
              <a:t>Build A garage with a dependable target wall. Build a stable garage entrance and a broad, flat back wall that the distance sensor can face. Make a bay wider than the base footprint. Brace the flat back wall so a light tap does not tip it over. Move the unpowered proxy through the entrance. Mark a stopping zone in front of the wall. Test: Proxy clears the entrance; target wall stays flat and upright at sensor height.</a:t>
            </a:r>
          </a:p>
          <a:p xmlns:a="http://schemas.openxmlformats.org/drawingml/2006/main">
            <a:r>
              <a:t/>
            </a:r>
          </a:p>
          <a:p xmlns:a="http://schemas.openxmlformats.org/drawingml/2006/main">
            <a:r>
              <a:t>Connection to robot Use the mentor wall during initial parking tests. The mentor approves the team garage before its robot retest; keep the broad wall and sensor line of sight clear.</a:t>
            </a:r>
          </a:p>
          <a:p xmlns:a="http://schemas.openxmlformats.org/drawingml/2006/main">
            <a:r>
              <a:t/>
            </a:r>
          </a:p>
          <a:p xmlns:a="http://schemas.openxmlformats.org/drawingml/2006/main">
            <a:r>
              <a:t>Coaching Ask for an observation before suggesting a change. Help with one connection or edit, then return control. Typing can be assisted; the child still chooses, predicts and starts the run.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5 Evidence from our test</a:t>
            </a:r>
          </a:p>
          <a:p xmlns:a="http://schemas.openxmlformats.org/drawingml/2006/main">
            <a:r>
              <a:t/>
            </a:r>
          </a:p>
          <a:p xmlns:a="http://schemas.openxmlformats.org/drawingml/2006/main">
            <a:r>
              <a:t>Timing 38–50 minutes in two six-minute retests.</a:t>
            </a:r>
          </a:p>
          <a:p xmlns:a="http://schemas.openxmlformats.org/drawingml/2006/main">
            <a:r>
              <a:t/>
            </a:r>
          </a:p>
          <a:p xmlns:a="http://schemas.openxmlformats.org/drawingml/2006/main">
            <a:r>
              <a:t>Evidence At the robot: each child makes a prediction and takes a driver turn. Keep one number, tick or short phrase per trial. At the build table: show the model and its hand-test result. Log threshold, start gap, stopped gap, and stop reason for two trials. Individual exit uses a new reading of 170 mm with a 150 mm threshold.</a:t>
            </a:r>
          </a:p>
          <a:p xmlns:a="http://schemas.openxmlformats.org/drawingml/2006/main">
            <a:r>
              <a:t/>
            </a:r>
          </a:p>
          <a:p xmlns:a="http://schemas.openxmlformats.org/drawingml/2006/main">
            <a:r>
              <a:t>Ask What changed? What stayed the same? What did the real run show? Record a tick, short phrase or number at the robot. The build table tests the model by hand rather than repeating a worksheet.</a:t>
            </a:r>
          </a:p>
          <a:p xmlns:a="http://schemas.openxmlformats.org/drawingml/2006/main">
            <a:r>
              <a:t/>
            </a:r>
          </a:p>
          <a:p xmlns:a="http://schemas.openxmlformats.org/drawingml/2006/main">
            <a:r>
              <a:t>Troubleshooting Invalid reading: check the C port and wall angle. Reaches step limit: move start closer or inspect readings. Stops too close: slow down and inspect step size. No collision is required to test the sensor.</a:t>
            </a:r>
          </a:p>
          <a:p xmlns:a="http://schemas.openxmlformats.org/drawingml/2006/main">
            <a:r>
              <a:t/>
            </a:r>
          </a:p>
          <a:p xmlns:a="http://schemas.openxmlformats.org/drawingml/2006/main">
            <a:r>
              <a:t>Support Provide the decision rule in words and highlight the threshold number. A stationary sensor demonstration can meet the decision objective if movement fails.</a:t>
            </a:r>
          </a:p>
          <a:p xmlns:a="http://schemas.openxmlformats.org/drawingml/2006/main">
            <a:r>
              <a:t/>
            </a:r>
          </a:p>
          <a:p xmlns:a="http://schemas.openxmlformats.org/drawingml/2006/main">
            <a:r>
              <a:t>Extension Change one wall property, such as angle, and compare valid readings. Explain why poor readings require a fallback. Do not remove the step limit.</a:t>
            </a:r>
          </a:p>
          <a:p xmlns:a="http://schemas.openxmlformats.org/drawingml/2006/main">
            <a:r>
              <a:t/>
            </a:r>
          </a:p>
          <a:p xmlns:a="http://schemas.openxmlformats.org/drawingml/2006/main">
            <a:r>
              <a:t>If needed Set near false. Repeat up to 12 checks: if distance is within a valid near range, set near true; otherwise, if still allowed, move straight a small increment. Use app distance units shown on the block, commonly cm: 15 cm equals 150 mm. Mentor verifies invalid-reading behavior and uses manual stop if needed.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6 What we learned and noticed</a:t>
            </a:r>
          </a:p>
          <a:p xmlns:a="http://schemas.openxmlformats.org/drawingml/2006/main">
            <a:r>
              <a:t/>
            </a:r>
          </a:p>
          <a:p xmlns:a="http://schemas.openxmlformats.org/drawingml/2006/main">
            <a:r>
              <a:t>Timing 50–54 minutes for reflection; 54–60 for saving, packing and pickup.</a:t>
            </a:r>
          </a:p>
          <a:p xmlns:a="http://schemas.openxmlformats.org/drawingml/2006/main">
            <a:r>
              <a:t/>
            </a:r>
          </a:p>
          <a:p xmlns:a="http://schemas.openxmlformats.org/drawingml/2006/main">
            <a:r>
              <a:t>Ask each child What did you learn about sensors and decisions? What did you observe as the robot neared the wall? What would you change in the garage or next test?</a:t>
            </a:r>
          </a:p>
          <a:p xmlns:a="http://schemas.openxmlformats.org/drawingml/2006/main">
            <a:r>
              <a:t/>
            </a:r>
          </a:p>
          <a:p xmlns:a="http://schemas.openxmlformats.org/drawingml/2006/main">
            <a:r>
              <a:t>Facilitate Run two pod conversations in parallel. Give each of the six children about 20–30 seconds for one chosen prompt. Invite a concrete observation from the robot or build. Accept pointing, a demonstration or a short sentence.</a:t>
            </a:r>
          </a:p>
          <a:p xmlns:a="http://schemas.openxmlformats.org/drawingml/2006/main">
            <a:r>
              <a:t/>
            </a:r>
          </a:p>
          <a:p xmlns:a="http://schemas.openxmlformats.org/drawingml/2006/main">
            <a:r>
              <a:t>Listen for 220 continues. 150 and 90 are near. -1 is invalid and must not be treated as a real near distance. At 170 with a threshold of 150, continue if a step remains.</a:t>
            </a:r>
          </a:p>
          <a:p xmlns:a="http://schemas.openxmlformats.org/drawingml/2006/main">
            <a:r>
              <a:t/>
            </a:r>
          </a:p>
          <a:p xmlns:a="http://schemas.openxmlformats.org/drawingml/2006/main">
            <a:r>
              <a:t>Close Save T1–T4 projects, stop and park both robots, remove only approved temporary attachments, store four labeled builds and count parts. Follow YMCA pickup procedures.</a:t>
            </a:r>
          </a:p>
          <a:p xmlns:a="http://schemas.openxmlformats.org/drawingml/2006/main">
            <a:r>
              <a:t/>
            </a:r>
          </a:p>
          <a:p xmlns:a="http://schemas.openxmlformats.org/drawingml/2006/main">
            <a:r>
              <a:t>Optional connection Sensors let an autonomous robot react to its surroundings.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cb00f4995e7465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745ec823f784392" /><Relationship Type="http://schemas.openxmlformats.org/officeDocument/2006/relationships/slideLayout" Target="/ppt/slideLayouts/slideLayout1.xml" Id="Rf66395bc8b59405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66395bc8b59405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72d78bc136fe47a2" /><Relationship Type="http://schemas.openxmlformats.org/officeDocument/2006/relationships/notesSlide" Target="/ppt/notesSlides/notesSlide1.xml" Id="R2f77c24d163d4e9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cb116b915b740ea" /><Relationship Type="http://schemas.openxmlformats.org/officeDocument/2006/relationships/notesSlide" Target="/ppt/notesSlides/notesSlide2.xml" Id="R13c420c68c3844f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e6e32780407498f" /><Relationship Type="http://schemas.openxmlformats.org/officeDocument/2006/relationships/notesSlide" Target="/ppt/notesSlides/notesSlide3.xml" Id="R6ce36ef912964d0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98c6d5362ee4c2b" /><Relationship Type="http://schemas.openxmlformats.org/officeDocument/2006/relationships/notesSlide" Target="/ppt/notesSlides/notesSlide4.xml" Id="R83e000aaea2c4fa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2849c6843cec463e" /><Relationship Type="http://schemas.openxmlformats.org/officeDocument/2006/relationships/notesSlide" Target="/ppt/notesSlides/notesSlide5.xml" Id="Rbf83d3f9c940495c"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c761bce8bc4b4828" /><Relationship Type="http://schemas.openxmlformats.org/officeDocument/2006/relationships/notesSlide" Target="/ppt/notesSlides/notesSlide6.xml" Id="R039d496f5e184307" /></Relationships>
</file>

<file path=ppt/slides/slide1.xml><?xml version="1.0" encoding="utf-8"?>
<p:sld xmlns:p="http://schemas.openxmlformats.org/presentationml/2006/main">
  <p:cSld>
    <p:bg>
      <p:bgPr>
        <a:solidFill xmlns:a="http://schemas.openxmlformats.org/drawingml/2006/main">
          <a:srgbClr val="173044"/>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DED63FF5-A0E6-49BE-9B44-37F1B6BCA856}"/>
              </a:ext>
            </a:extLst>
          </p:cNvPr>
          <p:cNvSpPr>
            <a:spLocks xmlns:a="http://schemas.openxmlformats.org/drawingml/2006/main" noGrp="1"/>
          </p:cNvSpPr>
          <p:nvPr/>
        </p:nvSpPr>
        <p:spPr>
          <a:xfrm xmlns:a="http://schemas.openxmlformats.org/drawingml/2006/main">
            <a:off x="762000" y="1257300"/>
            <a:ext cx="1057275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5100" b="1">
                <a:solidFill>
                  <a:srgbClr val="FFFFFF"/>
                </a:solidFill>
                <a:latin typeface="Arial"/>
                <a:ea typeface="Arial"/>
                <a:cs typeface="Arial"/>
              </a:defRPr>
            </a:pPr>
            <a:r>
              <a:rPr sz="5100" b="1">
                <a:solidFill>
                  <a:srgbClr val="FFFFFF"/>
                </a:solidFill>
                <a:latin typeface="Arial"/>
                <a:ea typeface="Arial"/>
                <a:cs typeface="Arial"/>
              </a:rPr>
              <a:t>Parking assistant</a:t>
            </a:r>
          </a:p>
        </p:txBody>
      </p:sp>
      <p:sp>
        <p:nvSpPr>
          <p:cNvPr id="2" name="">
            <a:extLst xmlns:a="http://schemas.openxmlformats.org/drawingml/2006/main">
              <a:ext uri="{FF2B5EF4-FFF2-40B4-BE49-F238E27FC236}">
                <a16:creationId xmlns:a16="http://schemas.microsoft.com/office/drawing/2014/main" id="{3FA904D1-CE73-44AA-AC53-6F21B5D306C5}"/>
              </a:ext>
            </a:extLst>
          </p:cNvPr>
          <p:cNvSpPr>
            <a:spLocks xmlns:a="http://schemas.openxmlformats.org/drawingml/2006/main" noGrp="1"/>
          </p:cNvSpPr>
          <p:nvPr/>
        </p:nvSpPr>
        <p:spPr>
          <a:xfrm xmlns:a="http://schemas.openxmlformats.org/drawingml/2006/main">
            <a:off x="800100" y="4000500"/>
            <a:ext cx="103822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75" b="0">
                <a:solidFill>
                  <a:srgbClr val="9DDADD"/>
                </a:solidFill>
                <a:latin typeface="Arial"/>
                <a:ea typeface="Arial"/>
                <a:cs typeface="Arial"/>
              </a:defRPr>
            </a:pPr>
            <a:r>
              <a:rPr sz="2475" b="0">
                <a:solidFill>
                  <a:srgbClr val="9DDADD"/>
                </a:solidFill>
                <a:latin typeface="Arial"/>
                <a:ea typeface="Arial"/>
                <a:cs typeface="Arial"/>
              </a:rPr>
              <a:t>A distance reading changes a decision</a:t>
            </a:r>
          </a:p>
        </p:txBody>
      </p:sp>
      <p:sp>
        <p:nvSpPr>
          <p:cNvPr id="3" name="">
            <a:extLst xmlns:a="http://schemas.openxmlformats.org/drawingml/2006/main">
              <a:ext uri="{FF2B5EF4-FFF2-40B4-BE49-F238E27FC236}">
                <a16:creationId xmlns:a16="http://schemas.microsoft.com/office/drawing/2014/main" id="{27D590B7-B7CA-4CC3-9C02-21733F02C1E8}"/>
              </a:ext>
            </a:extLst>
          </p:cNvPr>
          <p:cNvSpPr>
            <a:spLocks xmlns:a="http://schemas.openxmlformats.org/drawingml/2006/main" noGrp="1"/>
          </p:cNvSpPr>
          <p:nvPr/>
        </p:nvSpPr>
        <p:spPr>
          <a:xfrm xmlns:a="http://schemas.openxmlformats.org/drawingml/2006/main">
            <a:off x="762000" y="6181725"/>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425" b="0">
                <a:solidFill>
                  <a:srgbClr val="B9D4DC"/>
                </a:solidFill>
                <a:latin typeface="Arial"/>
                <a:ea typeface="Arial"/>
                <a:cs typeface="Arial"/>
              </a:defRPr>
            </a:pPr>
            <a:r>
              <a:rPr sz="1425" b="0">
                <a:solidFill>
                  <a:srgbClr val="B9D4DC"/>
                </a:solidFill>
                <a:latin typeface="Arial"/>
                <a:ea typeface="Arial"/>
                <a:cs typeface="Arial"/>
              </a:rPr>
              <a:t>Week 4 · MechaRAMS at the YMCA</a:t>
            </a:r>
          </a:p>
        </p:txBody>
      </p:sp>
    </p:spTree>
    <p:extLst>
      <p:ext uri="{BB962C8B-B14F-4D97-AF65-F5344CB8AC3E}">
        <p14:creationId xmlns:p14="http://schemas.microsoft.com/office/powerpoint/2010/main" val="2101924057"/>
      </p:ext>
    </p:extLst>
  </p:cSld>
</p:sld>
</file>

<file path=ppt/slides/slide2.xml><?xml version="1.0" encoding="utf-8"?>
<p:sld xmlns:p="http://schemas.openxmlformats.org/presentationml/2006/main">
  <p:cSld>
    <p:bg>
      <p:bgPr>
        <a:solidFill xmlns:a="http://schemas.openxmlformats.org/drawingml/2006/main">
          <a:srgbClr val="FBFAF6"/>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351B7621-B019-496E-9043-5574897A5C91}"/>
              </a:ext>
            </a:extLst>
          </p:cNvPr>
          <p:cNvSpPr>
            <a:spLocks xmlns:a="http://schemas.openxmlformats.org/drawingml/2006/main" noGrp="1"/>
          </p:cNvSpPr>
          <p:nvPr/>
        </p:nvSpPr>
        <p:spPr>
          <a:xfrm xmlns:a="http://schemas.openxmlformats.org/drawingml/2006/main">
            <a:off x="685800" y="4572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600" b="1">
                <a:solidFill>
                  <a:srgbClr val="173044"/>
                </a:solidFill>
                <a:latin typeface="Arial"/>
                <a:ea typeface="Arial"/>
                <a:cs typeface="Arial"/>
              </a:defRPr>
            </a:pPr>
            <a:r>
              <a:rPr sz="3600" b="1">
                <a:solidFill>
                  <a:srgbClr val="173044"/>
                </a:solidFill>
                <a:latin typeface="Arial"/>
                <a:ea typeface="Arial"/>
                <a:cs typeface="Arial"/>
              </a:rPr>
              <a:t>Today’s robot challenge</a:t>
            </a:r>
          </a:p>
        </p:txBody>
      </p:sp>
      <p:sp>
        <p:nvSpPr>
          <p:cNvPr id="2" name="">
            <a:extLst xmlns:a="http://schemas.openxmlformats.org/drawingml/2006/main">
              <a:ext uri="{FF2B5EF4-FFF2-40B4-BE49-F238E27FC236}">
                <a16:creationId xmlns:a16="http://schemas.microsoft.com/office/drawing/2014/main" id="{C195AC89-33AC-4C20-8946-CEF15A1C9559}"/>
              </a:ext>
            </a:extLst>
          </p:cNvPr>
          <p:cNvSpPr>
            <a:spLocks xmlns:a="http://schemas.openxmlformats.org/drawingml/2006/main" noGrp="1"/>
          </p:cNvSpPr>
          <p:nvPr/>
        </p:nvSpPr>
        <p:spPr>
          <a:xfrm xmlns:a="http://schemas.openxmlformats.org/drawingml/2006/main">
            <a:off x="762000" y="1952625"/>
            <a:ext cx="10477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550" b="0">
                <a:solidFill>
                  <a:srgbClr val="173044"/>
                </a:solidFill>
                <a:latin typeface="Arial"/>
                <a:ea typeface="Arial"/>
                <a:cs typeface="Arial"/>
              </a:defRPr>
            </a:pPr>
            <a:r>
              <a:rPr sz="2550" b="0">
                <a:solidFill>
                  <a:srgbClr val="173044"/>
                </a:solidFill>
                <a:latin typeface="Arial"/>
                <a:ea typeface="Arial"/>
                <a:cs typeface="Arial"/>
              </a:rPr>
              <a:t>A broad cardboard wall</a:t>
            </a:r>
          </a:p>
        </p:txBody>
      </p:sp>
      <p:sp>
        <p:nvSpPr>
          <p:cNvPr id="3" name="">
            <a:extLst xmlns:a="http://schemas.openxmlformats.org/drawingml/2006/main">
              <a:ext uri="{FF2B5EF4-FFF2-40B4-BE49-F238E27FC236}">
                <a16:creationId xmlns:a16="http://schemas.microsoft.com/office/drawing/2014/main" id="{F390E665-4006-4C7A-AFEC-43988DA42543}"/>
              </a:ext>
            </a:extLst>
          </p:cNvPr>
          <p:cNvSpPr>
            <a:spLocks xmlns:a="http://schemas.openxmlformats.org/drawingml/2006/main" noGrp="1"/>
          </p:cNvSpPr>
          <p:nvPr/>
        </p:nvSpPr>
        <p:spPr>
          <a:xfrm xmlns:a="http://schemas.openxmlformats.org/drawingml/2006/main">
            <a:off x="762000" y="3057525"/>
            <a:ext cx="10477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550" b="0">
                <a:solidFill>
                  <a:srgbClr val="173044"/>
                </a:solidFill>
                <a:latin typeface="Arial"/>
                <a:ea typeface="Arial"/>
                <a:cs typeface="Arial"/>
              </a:defRPr>
            </a:pPr>
            <a:r>
              <a:rPr sz="2550" b="0">
                <a:solidFill>
                  <a:srgbClr val="173044"/>
                </a:solidFill>
                <a:latin typeface="Arial"/>
                <a:ea typeface="Arial"/>
                <a:cs typeface="Arial"/>
              </a:rPr>
              <a:t>A measured distance threshold</a:t>
            </a:r>
          </a:p>
        </p:txBody>
      </p:sp>
      <p:sp>
        <p:nvSpPr>
          <p:cNvPr id="4" name="">
            <a:extLst xmlns:a="http://schemas.openxmlformats.org/drawingml/2006/main">
              <a:ext uri="{FF2B5EF4-FFF2-40B4-BE49-F238E27FC236}">
                <a16:creationId xmlns:a16="http://schemas.microsoft.com/office/drawing/2014/main" id="{9C97EC69-2E7D-4BB5-8CFA-ADC90D6C5BDF}"/>
              </a:ext>
            </a:extLst>
          </p:cNvPr>
          <p:cNvSpPr>
            <a:spLocks xmlns:a="http://schemas.openxmlformats.org/drawingml/2006/main" noGrp="1"/>
          </p:cNvSpPr>
          <p:nvPr/>
        </p:nvSpPr>
        <p:spPr>
          <a:xfrm xmlns:a="http://schemas.openxmlformats.org/drawingml/2006/main">
            <a:off x="762000" y="4162425"/>
            <a:ext cx="10477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550" b="0">
                <a:solidFill>
                  <a:srgbClr val="173044"/>
                </a:solidFill>
                <a:latin typeface="Arial"/>
                <a:ea typeface="Arial"/>
                <a:cs typeface="Arial"/>
              </a:defRPr>
            </a:pPr>
            <a:r>
              <a:rPr sz="2550" b="0">
                <a:solidFill>
                  <a:srgbClr val="173044"/>
                </a:solidFill>
                <a:latin typeface="Arial"/>
                <a:ea typeface="Arial"/>
                <a:cs typeface="Arial"/>
              </a:rPr>
              <a:t>A record of why the robot stopped</a:t>
            </a:r>
          </a:p>
        </p:txBody>
      </p:sp>
      <p:sp>
        <p:nvSpPr>
          <p:cNvPr id="6" name="">
            <a:extLst xmlns:a="http://schemas.openxmlformats.org/drawingml/2006/main">
              <a:ext uri="{FF2B5EF4-FFF2-40B4-BE49-F238E27FC236}">
                <a16:creationId xmlns:a16="http://schemas.microsoft.com/office/drawing/2014/main" id="{1A8F4653-CA4B-4340-85DE-25C3238B94A2}"/>
              </a:ext>
            </a:extLst>
          </p:cNvPr>
          <p:cNvSpPr>
            <a:spLocks xmlns:a="http://schemas.openxmlformats.org/drawingml/2006/main" noGrp="1"/>
          </p:cNvSpPr>
          <p:nvPr/>
        </p:nvSpPr>
        <p:spPr>
          <a:xfrm xmlns:a="http://schemas.openxmlformats.org/drawingml/2006/main">
            <a:off x="762000" y="5686425"/>
            <a:ext cx="3524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1">
                <a:solidFill>
                  <a:srgbClr val="17713A"/>
                </a:solidFill>
                <a:latin typeface="Arial"/>
                <a:ea typeface="Arial"/>
                <a:cs typeface="Arial"/>
              </a:defRPr>
            </a:defPPr>
          </a:lstStyle>
          <a:p xmlns:a="http://schemas.openxmlformats.org/drawingml/2006/main">
            <a:pPr>
              <a:buNone/>
              <a:defRPr sz="1575" b="1">
                <a:solidFill>
                  <a:srgbClr val="17713A"/>
                </a:solidFill>
                <a:latin typeface="Arial"/>
                <a:ea typeface="Arial"/>
                <a:cs typeface="Arial"/>
              </a:defRPr>
            </a:pPr>
            <a:r>
              <a:rPr sz="1575" b="1">
                <a:solidFill>
                  <a:srgbClr val="17713A"/>
                </a:solidFill>
                <a:latin typeface="Arial"/>
                <a:ea typeface="Arial"/>
                <a:cs typeface="Arial"/>
              </a:rPr>
              <a:t>GREEN steady: on</a:t>
            </a:r>
          </a:p>
        </p:txBody>
      </p:sp>
      <p:sp>
        <p:nvSpPr>
          <p:cNvPr id="7" name="">
            <a:extLst xmlns:a="http://schemas.openxmlformats.org/drawingml/2006/main">
              <a:ext uri="{FF2B5EF4-FFF2-40B4-BE49-F238E27FC236}">
                <a16:creationId xmlns:a16="http://schemas.microsoft.com/office/drawing/2014/main" id="{6D91A999-037F-407A-962A-E098F5BE9E92}"/>
              </a:ext>
            </a:extLst>
          </p:cNvPr>
          <p:cNvSpPr>
            <a:spLocks xmlns:a="http://schemas.openxmlformats.org/drawingml/2006/main" noGrp="1"/>
          </p:cNvSpPr>
          <p:nvPr/>
        </p:nvSpPr>
        <p:spPr>
          <a:xfrm xmlns:a="http://schemas.openxmlformats.org/drawingml/2006/main">
            <a:off x="4381500" y="5686425"/>
            <a:ext cx="3524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1">
                <a:solidFill>
                  <a:srgbClr val="915500"/>
                </a:solidFill>
                <a:latin typeface="Arial"/>
                <a:ea typeface="Arial"/>
                <a:cs typeface="Arial"/>
              </a:defRPr>
            </a:defPPr>
          </a:lstStyle>
          <a:p xmlns:a="http://schemas.openxmlformats.org/drawingml/2006/main">
            <a:pPr>
              <a:buNone/>
              <a:defRPr sz="1575" b="1">
                <a:solidFill>
                  <a:srgbClr val="915500"/>
                </a:solidFill>
                <a:latin typeface="Arial"/>
                <a:ea typeface="Arial"/>
                <a:cs typeface="Arial"/>
              </a:defRPr>
            </a:pPr>
            <a:r>
              <a:rPr sz="1575" b="1">
                <a:solidFill>
                  <a:srgbClr val="915500"/>
                </a:solidFill>
                <a:latin typeface="Arial"/>
                <a:ea typeface="Arial"/>
                <a:cs typeface="Arial"/>
              </a:rPr>
              <a:t>ORANGE flashing: charge</a:t>
            </a:r>
          </a:p>
        </p:txBody>
      </p:sp>
      <p:sp>
        <p:nvSpPr>
          <p:cNvPr id="8" name="">
            <a:extLst xmlns:a="http://schemas.openxmlformats.org/drawingml/2006/main">
              <a:ext uri="{FF2B5EF4-FFF2-40B4-BE49-F238E27FC236}">
                <a16:creationId xmlns:a16="http://schemas.microsoft.com/office/drawing/2014/main" id="{D958766A-C040-43DA-B6AB-D8343121BB0A}"/>
              </a:ext>
            </a:extLst>
          </p:cNvPr>
          <p:cNvSpPr>
            <a:spLocks xmlns:a="http://schemas.openxmlformats.org/drawingml/2006/main" noGrp="1"/>
          </p:cNvSpPr>
          <p:nvPr/>
        </p:nvSpPr>
        <p:spPr>
          <a:xfrm xmlns:a="http://schemas.openxmlformats.org/drawingml/2006/main">
            <a:off x="8001000" y="5686425"/>
            <a:ext cx="3524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1">
                <a:solidFill>
                  <a:srgbClr val="B1292D"/>
                </a:solidFill>
                <a:latin typeface="Arial"/>
                <a:ea typeface="Arial"/>
                <a:cs typeface="Arial"/>
              </a:defRPr>
            </a:defPPr>
          </a:lstStyle>
          <a:p xmlns:a="http://schemas.openxmlformats.org/drawingml/2006/main">
            <a:pPr>
              <a:buNone/>
              <a:defRPr sz="1575" b="1">
                <a:solidFill>
                  <a:srgbClr val="B1292D"/>
                </a:solidFill>
                <a:latin typeface="Arial"/>
                <a:ea typeface="Arial"/>
                <a:cs typeface="Arial"/>
              </a:defRPr>
            </a:pPr>
            <a:r>
              <a:rPr sz="1575" b="1">
                <a:solidFill>
                  <a:srgbClr val="B1292D"/>
                </a:solidFill>
                <a:latin typeface="Arial"/>
                <a:ea typeface="Arial"/>
                <a:cs typeface="Arial"/>
              </a:rPr>
              <a:t>RED flashing: stop + mentor</a:t>
            </a:r>
          </a:p>
        </p:txBody>
      </p:sp>
      <p:sp>
        <p:nvSpPr>
          <p:cNvPr id="9" name="">
            <a:extLst xmlns:a="http://schemas.openxmlformats.org/drawingml/2006/main">
              <a:ext uri="{FF2B5EF4-FFF2-40B4-BE49-F238E27FC236}">
                <a16:creationId xmlns:a16="http://schemas.microsoft.com/office/drawing/2014/main" id="{26397028-B171-4810-9E00-B8D7D9B33B70}"/>
              </a:ext>
            </a:extLst>
          </p:cNvPr>
          <p:cNvSpPr>
            <a:spLocks xmlns:a="http://schemas.openxmlformats.org/drawingml/2006/main" noGrp="1"/>
          </p:cNvSpPr>
          <p:nvPr/>
        </p:nvSpPr>
        <p:spPr>
          <a:xfrm xmlns:a="http://schemas.openxmlformats.org/drawingml/2006/main">
            <a:off x="762000" y="6200775"/>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0">
                <a:solidFill>
                  <a:srgbClr val="536A77"/>
                </a:solidFill>
                <a:latin typeface="Arial"/>
                <a:ea typeface="Arial"/>
                <a:cs typeface="Arial"/>
              </a:defRPr>
            </a:defPPr>
          </a:lstStyle>
          <a:p xmlns:a="http://schemas.openxmlformats.org/drawingml/2006/main">
            <a:pPr>
              <a:buNone/>
              <a:defRPr sz="1425" b="0">
                <a:solidFill>
                  <a:srgbClr val="536A77"/>
                </a:solidFill>
                <a:latin typeface="Arial"/>
                <a:ea typeface="Arial"/>
                <a:cs typeface="Arial"/>
              </a:defRPr>
            </a:pPr>
            <a:r>
              <a:rPr sz="1425" b="0">
                <a:solidFill>
                  <a:srgbClr val="536A77"/>
                </a:solidFill>
                <a:latin typeface="Arial"/>
                <a:ea typeface="Arial"/>
                <a:cs typeface="Arial"/>
              </a:rPr>
              <a:t>Center button lights. A letter on the display is your program’s output.</a:t>
            </a:r>
          </a:p>
        </p:txBody>
      </p:sp>
    </p:spTree>
    <p:extLst>
      <p:ext uri="{BB962C8B-B14F-4D97-AF65-F5344CB8AC3E}">
        <p14:creationId xmlns:p14="http://schemas.microsoft.com/office/powerpoint/2010/main" val="1165358614"/>
      </p:ext>
    </p:extLst>
  </p:cSld>
</p:sld>
</file>

<file path=ppt/slides/slide3.xml><?xml version="1.0" encoding="utf-8"?>
<p:sld xmlns:p="http://schemas.openxmlformats.org/presentationml/2006/main">
  <p:cSld>
    <p:bg>
      <p:bgPr>
        <a:solidFill xmlns:a="http://schemas.openxmlformats.org/drawingml/2006/main">
          <a:srgbClr val="173044"/>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E69F1565-E1CE-480D-8872-9DC4209A985B}"/>
              </a:ext>
            </a:extLst>
          </p:cNvPr>
          <p:cNvSpPr>
            <a:spLocks xmlns:a="http://schemas.openxmlformats.org/drawingml/2006/main" noGrp="1"/>
          </p:cNvSpPr>
          <p:nvPr/>
        </p:nvSpPr>
        <p:spPr>
          <a:xfrm xmlns:a="http://schemas.openxmlformats.org/drawingml/2006/main">
            <a:off x="685800" y="4572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600" b="1">
                <a:solidFill>
                  <a:srgbClr val="FFFFFF"/>
                </a:solidFill>
                <a:latin typeface="Arial"/>
                <a:ea typeface="Arial"/>
                <a:cs typeface="Arial"/>
              </a:defRPr>
            </a:defPPr>
          </a:lstStyle>
          <a:p xmlns:a="http://schemas.openxmlformats.org/drawingml/2006/main">
            <a:pPr>
              <a:buNone/>
              <a:defRPr sz="3600" b="1">
                <a:solidFill>
                  <a:srgbClr val="FFFFFF"/>
                </a:solidFill>
                <a:latin typeface="Arial"/>
                <a:ea typeface="Arial"/>
                <a:cs typeface="Arial"/>
              </a:defRPr>
            </a:pPr>
            <a:r>
              <a:rPr sz="3600" b="1">
                <a:solidFill>
                  <a:srgbClr val="FFFFFF"/>
                </a:solidFill>
                <a:latin typeface="Arial"/>
                <a:ea typeface="Arial"/>
                <a:cs typeface="Arial"/>
              </a:rPr>
              <a:t>Sensor input and if conditions</a:t>
            </a:r>
          </a:p>
        </p:txBody>
      </p:sp>
      <p:sp>
        <p:nvSpPr>
          <p:cNvPr id="2" name="">
            <a:extLst xmlns:a="http://schemas.openxmlformats.org/drawingml/2006/main">
              <a:ext uri="{FF2B5EF4-FFF2-40B4-BE49-F238E27FC236}">
                <a16:creationId xmlns:a16="http://schemas.microsoft.com/office/drawing/2014/main" id="{4F97C047-744E-46CA-BD02-F72534973E76}"/>
              </a:ext>
            </a:extLst>
          </p:cNvPr>
          <p:cNvSpPr>
            <a:spLocks xmlns:a="http://schemas.openxmlformats.org/drawingml/2006/main" noGrp="1"/>
          </p:cNvSpPr>
          <p:nvPr/>
        </p:nvSpPr>
        <p:spPr>
          <a:xfrm xmlns:a="http://schemas.openxmlformats.org/drawingml/2006/main">
            <a:off x="781050" y="1666875"/>
            <a:ext cx="10572750" cy="2505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FFFFFF"/>
                </a:solidFill>
                <a:latin typeface="Consolas"/>
                <a:ea typeface="Consolas"/>
                <a:cs typeface="Consolas"/>
              </a:defRPr>
            </a:defPPr>
          </a:lstStyle>
          <a:p xmlns:a="http://schemas.openxmlformats.org/drawingml/2006/main">
            <a:pPr>
              <a:buNone/>
              <a:defRPr sz="2325" b="0">
                <a:solidFill>
                  <a:srgbClr val="FFFFFF"/>
                </a:solidFill>
                <a:latin typeface="Consolas"/>
                <a:ea typeface="Consolas"/>
                <a:cs typeface="Consolas"/>
              </a:defRPr>
            </a:pPr>
            <a:r>
              <a:rPr sz="2325" b="0">
                <a:solidFill>
                  <a:srgbClr val="FFFFFF"/>
                </a:solidFill>
                <a:latin typeface="Consolas"/>
                <a:ea typeface="Consolas"/>
                <a:cs typeface="Consolas"/>
              </a:rPr>
              <a:t>stop_mm = 150</a:t>
            </a:r>
          </a:p>
          <a:p xmlns:a="http://schemas.openxmlformats.org/drawingml/2006/main">
            <a:pPr>
              <a:buNone/>
              <a:defRPr sz="2325" b="0">
                <a:solidFill>
                  <a:srgbClr val="FFFFFF"/>
                </a:solidFill>
                <a:latin typeface="Consolas"/>
                <a:ea typeface="Consolas"/>
                <a:cs typeface="Consolas"/>
              </a:defRPr>
            </a:pPr>
            <a:r>
              <a:rPr sz="2325" b="0">
                <a:solidFill>
                  <a:srgbClr val="FFFFFF"/>
                </a:solidFill>
                <a:latin typeface="Consolas"/>
                <a:ea typeface="Consolas"/>
                <a:cs typeface="Consolas"/>
              </a:rPr>
              <a:t>gap = distance_sensor.distance(port.C)</a:t>
            </a:r>
          </a:p>
          <a:p xmlns:a="http://schemas.openxmlformats.org/drawingml/2006/main">
            <a:pPr>
              <a:buNone/>
              <a:defRPr sz="2325" b="0">
                <a:solidFill>
                  <a:srgbClr val="FFFFFF"/>
                </a:solidFill>
                <a:latin typeface="Consolas"/>
                <a:ea typeface="Consolas"/>
                <a:cs typeface="Consolas"/>
              </a:defRPr>
            </a:pPr>
            <a:r>
              <a:rPr sz="2325" b="0">
                <a:solidFill>
                  <a:srgbClr val="FFFFFF"/>
                </a:solidFill>
                <a:latin typeface="Consolas"/>
                <a:ea typeface="Consolas"/>
                <a:cs typeface="Consolas"/>
              </a:rPr>
              <a:t>if 0 &lt;= gap &lt;= stop_mm:</a:t>
            </a:r>
          </a:p>
          <a:p xmlns:a="http://schemas.openxmlformats.org/drawingml/2006/main">
            <a:pPr>
              <a:buNone/>
              <a:defRPr sz="2325" b="0">
                <a:solidFill>
                  <a:srgbClr val="FFFFFF"/>
                </a:solidFill>
                <a:latin typeface="Consolas"/>
                <a:ea typeface="Consolas"/>
                <a:cs typeface="Consolas"/>
              </a:defRPr>
            </a:pPr>
            <a:r>
              <a:rPr sz="2325" b="0">
                <a:solidFill>
                  <a:srgbClr val="FFFFFF"/>
                </a:solidFill>
                <a:latin typeface="Consolas"/>
                <a:ea typeface="Consolas"/>
                <a:cs typeface="Consolas"/>
              </a:rPr>
              <a:t>    await signal("P")</a:t>
            </a:r>
          </a:p>
        </p:txBody>
      </p:sp>
      <p:sp>
        <p:nvSpPr>
          <p:cNvPr id="3" name="">
            <a:extLst xmlns:a="http://schemas.openxmlformats.org/drawingml/2006/main">
              <a:ext uri="{FF2B5EF4-FFF2-40B4-BE49-F238E27FC236}">
                <a16:creationId xmlns:a16="http://schemas.microsoft.com/office/drawing/2014/main" id="{112AD894-EF36-47B0-9AFA-98E7C381969A}"/>
              </a:ext>
            </a:extLst>
          </p:cNvPr>
          <p:cNvSpPr>
            <a:spLocks xmlns:a="http://schemas.openxmlformats.org/drawingml/2006/main" noGrp="1"/>
          </p:cNvSpPr>
          <p:nvPr/>
        </p:nvSpPr>
        <p:spPr>
          <a:xfrm xmlns:a="http://schemas.openxmlformats.org/drawingml/2006/main">
            <a:off x="762000" y="6181725"/>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0">
                <a:solidFill>
                  <a:srgbClr val="B9D4DC"/>
                </a:solidFill>
                <a:latin typeface="Arial"/>
                <a:ea typeface="Arial"/>
                <a:cs typeface="Arial"/>
              </a:defRPr>
            </a:defPPr>
          </a:lstStyle>
          <a:p xmlns:a="http://schemas.openxmlformats.org/drawingml/2006/main">
            <a:pPr>
              <a:buNone/>
              <a:defRPr sz="1425" b="0">
                <a:solidFill>
                  <a:srgbClr val="B9D4DC"/>
                </a:solidFill>
                <a:latin typeface="Arial"/>
                <a:ea typeface="Arial"/>
                <a:cs typeface="Arial"/>
              </a:defRPr>
            </a:pPr>
            <a:r>
              <a:rPr sz="1425" b="0">
                <a:solidFill>
                  <a:srgbClr val="B9D4DC"/>
                </a:solidFill>
                <a:latin typeface="Arial"/>
                <a:ea typeface="Arial"/>
                <a:cs typeface="Arial"/>
              </a:rPr>
              <a:t>Reading fragment from the complete supplied project</a:t>
            </a:r>
          </a:p>
        </p:txBody>
      </p:sp>
      <p:sp>
        <p:nvSpPr>
          <p:cNvPr id="5" name="">
            <a:extLst xmlns:a="http://schemas.openxmlformats.org/drawingml/2006/main">
              <a:ext uri="{FF2B5EF4-FFF2-40B4-BE49-F238E27FC236}">
                <a16:creationId xmlns:a16="http://schemas.microsoft.com/office/drawing/2014/main" id="{8B75A548-9640-49BA-A631-F8299030425E}"/>
              </a:ext>
            </a:extLst>
          </p:cNvPr>
          <p:cNvSpPr>
            <a:spLocks xmlns:a="http://schemas.openxmlformats.org/drawingml/2006/main" noGrp="1"/>
          </p:cNvSpPr>
          <p:nvPr/>
        </p:nvSpPr>
        <p:spPr>
          <a:xfrm xmlns:a="http://schemas.openxmlformats.org/drawingml/2006/main">
            <a:off x="781050" y="4314825"/>
            <a:ext cx="10572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9DDADD"/>
                </a:solidFill>
                <a:latin typeface="Arial"/>
                <a:ea typeface="Arial"/>
                <a:cs typeface="Arial"/>
              </a:defRPr>
            </a:defPPr>
          </a:lstStyle>
          <a:p xmlns:a="http://schemas.openxmlformats.org/drawingml/2006/main">
            <a:pPr>
              <a:buNone/>
              <a:defRPr sz="2100" b="1">
                <a:solidFill>
                  <a:srgbClr val="9DDADD"/>
                </a:solidFill>
                <a:latin typeface="Arial"/>
                <a:ea typeface="Arial"/>
                <a:cs typeface="Arial"/>
              </a:defRPr>
            </a:pPr>
            <a:r>
              <a:rPr sz="2100" b="1">
                <a:solidFill>
                  <a:srgbClr val="9DDADD"/>
                </a:solidFill>
                <a:latin typeface="Arial"/>
                <a:ea typeface="Arial"/>
                <a:cs typeface="Arial"/>
              </a:rPr>
              <a:t>Our prediction</a:t>
            </a:r>
          </a:p>
        </p:txBody>
      </p:sp>
      <p:sp>
        <p:nvSpPr>
          <p:cNvPr id="6" name="">
            <a:extLst xmlns:a="http://schemas.openxmlformats.org/drawingml/2006/main">
              <a:ext uri="{FF2B5EF4-FFF2-40B4-BE49-F238E27FC236}">
                <a16:creationId xmlns:a16="http://schemas.microsoft.com/office/drawing/2014/main" id="{2E5960B2-8A22-4A96-A068-AEF5E00A4EBA}"/>
              </a:ext>
            </a:extLst>
          </p:cNvPr>
          <p:cNvSpPr>
            <a:spLocks xmlns:a="http://schemas.openxmlformats.org/drawingml/2006/main" noGrp="1"/>
          </p:cNvSpPr>
          <p:nvPr/>
        </p:nvSpPr>
        <p:spPr>
          <a:xfrm xmlns:a="http://schemas.openxmlformats.org/drawingml/2006/main">
            <a:off x="781050" y="4772025"/>
            <a:ext cx="1057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FFFFFF"/>
                </a:solidFill>
                <a:latin typeface="Arial"/>
                <a:ea typeface="Arial"/>
                <a:cs typeface="Arial"/>
              </a:defRPr>
            </a:defPPr>
          </a:lstStyle>
          <a:p xmlns:a="http://schemas.openxmlformats.org/drawingml/2006/main">
            <a:pPr>
              <a:buNone/>
              <a:defRPr sz="2025" b="0">
                <a:solidFill>
                  <a:srgbClr val="FFFFFF"/>
                </a:solidFill>
                <a:latin typeface="Arial"/>
                <a:ea typeface="Arial"/>
                <a:cs typeface="Arial"/>
              </a:defRPr>
            </a:pPr>
            <a:r>
              <a:rPr sz="2025" b="0">
                <a:solidFill>
                  <a:srgbClr val="FFFFFF"/>
                </a:solidFill>
                <a:latin typeface="Arial"/>
                <a:ea typeface="Arial"/>
                <a:cs typeface="Arial"/>
              </a:rPr>
              <a:t>At 220, 150 and 90 mm, is the robot near a 150 mm limit?</a:t>
            </a:r>
          </a:p>
        </p:txBody>
      </p:sp>
      <p:sp>
        <p:nvSpPr>
          <p:cNvPr id="7" name="">
            <a:extLst xmlns:a="http://schemas.openxmlformats.org/drawingml/2006/main">
              <a:ext uri="{FF2B5EF4-FFF2-40B4-BE49-F238E27FC236}">
                <a16:creationId xmlns:a16="http://schemas.microsoft.com/office/drawing/2014/main" id="{5E8EEAD8-F498-4C5C-A5D1-07731A060672}"/>
              </a:ext>
            </a:extLst>
          </p:cNvPr>
          <p:cNvSpPr>
            <a:spLocks xmlns:a="http://schemas.openxmlformats.org/drawingml/2006/main" noGrp="1"/>
          </p:cNvSpPr>
          <p:nvPr/>
        </p:nvSpPr>
        <p:spPr>
          <a:xfrm xmlns:a="http://schemas.openxmlformats.org/drawingml/2006/main">
            <a:off x="781050" y="5400675"/>
            <a:ext cx="1057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FFFFFF"/>
                </a:solidFill>
                <a:latin typeface="Arial"/>
                <a:ea typeface="Arial"/>
                <a:cs typeface="Arial"/>
              </a:defRPr>
            </a:defPPr>
          </a:lstStyle>
          <a:p xmlns:a="http://schemas.openxmlformats.org/drawingml/2006/main">
            <a:pPr>
              <a:buNone/>
              <a:defRPr sz="2025" b="0">
                <a:solidFill>
                  <a:srgbClr val="FFFFFF"/>
                </a:solidFill>
                <a:latin typeface="Arial"/>
                <a:ea typeface="Arial"/>
                <a:cs typeface="Arial"/>
              </a:defRPr>
            </a:pPr>
            <a:r>
              <a:rPr sz="2025" b="0">
                <a:solidFill>
                  <a:srgbClr val="FFFFFF"/>
                </a:solidFill>
                <a:latin typeface="Arial"/>
                <a:ea typeface="Arial"/>
                <a:cs typeface="Arial"/>
              </a:rPr>
              <a:t>What should happen with an invalid reading of -1?</a:t>
            </a:r>
          </a:p>
        </p:txBody>
      </p:sp>
    </p:spTree>
    <p:extLst>
      <p:ext uri="{BB962C8B-B14F-4D97-AF65-F5344CB8AC3E}">
        <p14:creationId xmlns:p14="http://schemas.microsoft.com/office/powerpoint/2010/main" val="34106228"/>
      </p:ext>
    </p:extLst>
  </p:cSld>
</p:sld>
</file>

<file path=ppt/slides/slide4.xml><?xml version="1.0" encoding="utf-8"?>
<p:sld xmlns:p="http://schemas.openxmlformats.org/presentationml/2006/main">
  <p:cSld>
    <p:bg>
      <p:bgPr>
        <a:solidFill xmlns:a="http://schemas.openxmlformats.org/drawingml/2006/main">
          <a:srgbClr val="FBFAF6"/>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53BB3472-0EBA-4E28-9C44-BB9B8BC92F90}"/>
              </a:ext>
            </a:extLst>
          </p:cNvPr>
          <p:cNvSpPr>
            <a:spLocks xmlns:a="http://schemas.openxmlformats.org/drawingml/2006/main" noGrp="1"/>
          </p:cNvSpPr>
          <p:nvPr/>
        </p:nvSpPr>
        <p:spPr>
          <a:xfrm xmlns:a="http://schemas.openxmlformats.org/drawingml/2006/main">
            <a:off x="685800" y="4572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600" b="1">
                <a:solidFill>
                  <a:srgbClr val="173044"/>
                </a:solidFill>
                <a:latin typeface="Arial"/>
                <a:ea typeface="Arial"/>
                <a:cs typeface="Arial"/>
              </a:defRPr>
            </a:defPPr>
          </a:lstStyle>
          <a:p xmlns:a="http://schemas.openxmlformats.org/drawingml/2006/main">
            <a:pPr>
              <a:buNone/>
              <a:defRPr sz="3600" b="1">
                <a:solidFill>
                  <a:srgbClr val="173044"/>
                </a:solidFill>
                <a:latin typeface="Arial"/>
                <a:ea typeface="Arial"/>
                <a:cs typeface="Arial"/>
              </a:defRPr>
            </a:pPr>
            <a:r>
              <a:rPr sz="3600" b="1">
                <a:solidFill>
                  <a:srgbClr val="173044"/>
                </a:solidFill>
                <a:latin typeface="Arial"/>
                <a:ea typeface="Arial"/>
                <a:cs typeface="Arial"/>
              </a:rPr>
              <a:t>Our robot and build jobs</a:t>
            </a:r>
          </a:p>
        </p:txBody>
      </p:sp>
      <p:sp>
        <p:nvSpPr>
          <p:cNvPr id="2" name="">
            <a:extLst xmlns:a="http://schemas.openxmlformats.org/drawingml/2006/main">
              <a:ext uri="{FF2B5EF4-FFF2-40B4-BE49-F238E27FC236}">
                <a16:creationId xmlns:a16="http://schemas.microsoft.com/office/drawing/2014/main" id="{40F35B5A-F36E-4C16-B804-0A03714E82B7}"/>
              </a:ext>
            </a:extLst>
          </p:cNvPr>
          <p:cNvSpPr>
            <a:spLocks xmlns:a="http://schemas.openxmlformats.org/drawingml/2006/main" noGrp="1"/>
          </p:cNvSpPr>
          <p:nvPr/>
        </p:nvSpPr>
        <p:spPr>
          <a:xfrm xmlns:a="http://schemas.openxmlformats.org/drawingml/2006/main">
            <a:off x="762000" y="1847850"/>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173044"/>
                </a:solidFill>
                <a:latin typeface="Arial"/>
                <a:ea typeface="Arial"/>
                <a:cs typeface="Arial"/>
              </a:defRPr>
            </a:defPPr>
          </a:lstStyle>
          <a:p xmlns:a="http://schemas.openxmlformats.org/drawingml/2006/main">
            <a:pPr>
              <a:buNone/>
              <a:defRPr sz="2175" b="0">
                <a:solidFill>
                  <a:srgbClr val="173044"/>
                </a:solidFill>
                <a:latin typeface="Arial"/>
                <a:ea typeface="Arial"/>
                <a:cs typeface="Arial"/>
              </a:defRPr>
            </a:pPr>
            <a:r>
              <a:rPr sz="2175" b="0">
                <a:solidFill>
                  <a:srgbClr val="173044"/>
                </a:solidFill>
                <a:latin typeface="Arial"/>
                <a:ea typeface="Arial"/>
                <a:cs typeface="Arial"/>
              </a:rPr>
              <a:t>Driver edits and starts after “clear.”</a:t>
            </a:r>
          </a:p>
        </p:txBody>
      </p:sp>
      <p:sp>
        <p:nvSpPr>
          <p:cNvPr id="3" name="">
            <a:extLst xmlns:a="http://schemas.openxmlformats.org/drawingml/2006/main">
              <a:ext uri="{FF2B5EF4-FFF2-40B4-BE49-F238E27FC236}">
                <a16:creationId xmlns:a16="http://schemas.microsoft.com/office/drawing/2014/main" id="{5D75AEBF-71B6-479C-AEE1-7F4AA6646EC0}"/>
              </a:ext>
            </a:extLst>
          </p:cNvPr>
          <p:cNvSpPr>
            <a:spLocks xmlns:a="http://schemas.openxmlformats.org/drawingml/2006/main" noGrp="1"/>
          </p:cNvSpPr>
          <p:nvPr/>
        </p:nvSpPr>
        <p:spPr>
          <a:xfrm xmlns:a="http://schemas.openxmlformats.org/drawingml/2006/main">
            <a:off x="762000" y="2781300"/>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173044"/>
                </a:solidFill>
                <a:latin typeface="Arial"/>
                <a:ea typeface="Arial"/>
                <a:cs typeface="Arial"/>
              </a:defRPr>
            </a:defPPr>
          </a:lstStyle>
          <a:p xmlns:a="http://schemas.openxmlformats.org/drawingml/2006/main">
            <a:pPr>
              <a:buNone/>
              <a:defRPr sz="2175" b="0">
                <a:solidFill>
                  <a:srgbClr val="173044"/>
                </a:solidFill>
                <a:latin typeface="Arial"/>
                <a:ea typeface="Arial"/>
                <a:cs typeface="Arial"/>
              </a:defRPr>
            </a:pPr>
            <a:r>
              <a:rPr sz="2175" b="0">
                <a:solidFill>
                  <a:srgbClr val="173044"/>
                </a:solidFill>
                <a:latin typeface="Arial"/>
                <a:ea typeface="Arial"/>
                <a:cs typeface="Arial"/>
              </a:rPr>
              <a:t>Navigator predicts and resets the stopped robot.</a:t>
            </a:r>
          </a:p>
        </p:txBody>
      </p:sp>
      <p:sp>
        <p:nvSpPr>
          <p:cNvPr id="4" name="">
            <a:extLst xmlns:a="http://schemas.openxmlformats.org/drawingml/2006/main">
              <a:ext uri="{FF2B5EF4-FFF2-40B4-BE49-F238E27FC236}">
                <a16:creationId xmlns:a16="http://schemas.microsoft.com/office/drawing/2014/main" id="{77960D06-87F0-45C7-9898-D68283B1E21E}"/>
              </a:ext>
            </a:extLst>
          </p:cNvPr>
          <p:cNvSpPr>
            <a:spLocks xmlns:a="http://schemas.openxmlformats.org/drawingml/2006/main" noGrp="1"/>
          </p:cNvSpPr>
          <p:nvPr/>
        </p:nvSpPr>
        <p:spPr>
          <a:xfrm xmlns:a="http://schemas.openxmlformats.org/drawingml/2006/main">
            <a:off x="762000" y="3714750"/>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173044"/>
                </a:solidFill>
                <a:latin typeface="Arial"/>
                <a:ea typeface="Arial"/>
                <a:cs typeface="Arial"/>
              </a:defRPr>
            </a:defPPr>
          </a:lstStyle>
          <a:p xmlns:a="http://schemas.openxmlformats.org/drawingml/2006/main">
            <a:pPr>
              <a:buNone/>
              <a:defRPr sz="2175" b="0">
                <a:solidFill>
                  <a:srgbClr val="173044"/>
                </a:solidFill>
                <a:latin typeface="Arial"/>
                <a:ea typeface="Arial"/>
                <a:cs typeface="Arial"/>
              </a:defRPr>
            </a:pPr>
            <a:r>
              <a:rPr sz="2175" b="0">
                <a:solidFill>
                  <a:srgbClr val="173044"/>
                </a:solidFill>
                <a:latin typeface="Arial"/>
                <a:ea typeface="Arial"/>
                <a:cs typeface="Arial"/>
              </a:rPr>
              <a:t>Observer watches, measures and records.</a:t>
            </a:r>
          </a:p>
        </p:txBody>
      </p:sp>
      <p:sp>
        <p:nvSpPr>
          <p:cNvPr id="5" name="">
            <a:extLst xmlns:a="http://schemas.openxmlformats.org/drawingml/2006/main">
              <a:ext uri="{FF2B5EF4-FFF2-40B4-BE49-F238E27FC236}">
                <a16:creationId xmlns:a16="http://schemas.microsoft.com/office/drawing/2014/main" id="{9EDE6FBA-1BC3-4873-8FD2-EFA36C3FF43A}"/>
              </a:ext>
            </a:extLst>
          </p:cNvPr>
          <p:cNvSpPr>
            <a:spLocks xmlns:a="http://schemas.openxmlformats.org/drawingml/2006/main" noGrp="1"/>
          </p:cNvSpPr>
          <p:nvPr/>
        </p:nvSpPr>
        <p:spPr>
          <a:xfrm xmlns:a="http://schemas.openxmlformats.org/drawingml/2006/main">
            <a:off x="762000" y="4648200"/>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173044"/>
                </a:solidFill>
                <a:latin typeface="Arial"/>
                <a:ea typeface="Arial"/>
                <a:cs typeface="Arial"/>
              </a:defRPr>
            </a:defPPr>
          </a:lstStyle>
          <a:p xmlns:a="http://schemas.openxmlformats.org/drawingml/2006/main">
            <a:pPr>
              <a:buNone/>
              <a:defRPr sz="2175" b="0">
                <a:solidFill>
                  <a:srgbClr val="173044"/>
                </a:solidFill>
                <a:latin typeface="Arial"/>
                <a:ea typeface="Arial"/>
                <a:cs typeface="Arial"/>
              </a:defRPr>
            </a:pPr>
            <a:r>
              <a:rPr sz="2175" b="0">
                <a:solidFill>
                  <a:srgbClr val="173044"/>
                </a:solidFill>
                <a:latin typeface="Arial"/>
                <a:ea typeface="Arial"/>
                <a:cs typeface="Arial"/>
              </a:rPr>
              <a:t>Other team builds. Everyone rotates jobs.</a:t>
            </a:r>
          </a:p>
        </p:txBody>
      </p:sp>
      <p:sp>
        <p:nvSpPr>
          <p:cNvPr id="7" name="">
            <a:extLst xmlns:a="http://schemas.openxmlformats.org/drawingml/2006/main">
              <a:ext uri="{FF2B5EF4-FFF2-40B4-BE49-F238E27FC236}">
                <a16:creationId xmlns:a16="http://schemas.microsoft.com/office/drawing/2014/main" id="{443DFBCE-01FB-41B2-94FB-7EF8C1AA4AAA}"/>
              </a:ext>
            </a:extLst>
          </p:cNvPr>
          <p:cNvSpPr>
            <a:spLocks xmlns:a="http://schemas.openxmlformats.org/drawingml/2006/main" noGrp="1"/>
          </p:cNvSpPr>
          <p:nvPr/>
        </p:nvSpPr>
        <p:spPr>
          <a:xfrm xmlns:a="http://schemas.openxmlformats.org/drawingml/2006/main">
            <a:off x="762000" y="6181725"/>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0">
                <a:solidFill>
                  <a:srgbClr val="536A77"/>
                </a:solidFill>
                <a:latin typeface="Arial"/>
                <a:ea typeface="Arial"/>
                <a:cs typeface="Arial"/>
              </a:defRPr>
            </a:defPPr>
          </a:lstStyle>
          <a:p xmlns:a="http://schemas.openxmlformats.org/drawingml/2006/main">
            <a:pPr>
              <a:buNone/>
              <a:defRPr sz="1425" b="0">
                <a:solidFill>
                  <a:srgbClr val="536A77"/>
                </a:solidFill>
                <a:latin typeface="Arial"/>
                <a:ea typeface="Arial"/>
                <a:cs typeface="Arial"/>
              </a:defRPr>
            </a:pPr>
            <a:r>
              <a:rPr sz="1425" b="0">
                <a:solidFill>
                  <a:srgbClr val="536A77"/>
                </a:solidFill>
                <a:latin typeface="Arial"/>
                <a:ea typeface="Arial"/>
                <a:cs typeface="Arial"/>
              </a:rPr>
              <a:t>Robot turns: rotate every 4 minutes. Retests: every 2 minutes.</a:t>
            </a:r>
          </a:p>
        </p:txBody>
      </p:sp>
    </p:spTree>
    <p:extLst>
      <p:ext uri="{BB962C8B-B14F-4D97-AF65-F5344CB8AC3E}">
        <p14:creationId xmlns:p14="http://schemas.microsoft.com/office/powerpoint/2010/main" val="1746689724"/>
      </p:ext>
    </p:extLst>
  </p:cSld>
</p:sld>
</file>

<file path=ppt/slides/slide5.xml><?xml version="1.0" encoding="utf-8"?>
<p:sld xmlns:p="http://schemas.openxmlformats.org/presentationml/2006/main">
  <p:cSld>
    <p:bg>
      <p:bgPr>
        <a:solidFill xmlns:a="http://schemas.openxmlformats.org/drawingml/2006/main">
          <a:srgbClr val="FBFAF6"/>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5507C822-D12D-47BF-A390-2C65382714C9}"/>
              </a:ext>
            </a:extLst>
          </p:cNvPr>
          <p:cNvSpPr>
            <a:spLocks xmlns:a="http://schemas.openxmlformats.org/drawingml/2006/main" noGrp="1"/>
          </p:cNvSpPr>
          <p:nvPr/>
        </p:nvSpPr>
        <p:spPr>
          <a:xfrm xmlns:a="http://schemas.openxmlformats.org/drawingml/2006/main">
            <a:off x="685800" y="4572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600" b="1">
                <a:solidFill>
                  <a:srgbClr val="173044"/>
                </a:solidFill>
                <a:latin typeface="Arial"/>
                <a:ea typeface="Arial"/>
                <a:cs typeface="Arial"/>
              </a:defRPr>
            </a:pPr>
            <a:r>
              <a:rPr sz="3600" b="1">
                <a:solidFill>
                  <a:srgbClr val="173044"/>
                </a:solidFill>
                <a:latin typeface="Arial"/>
                <a:ea typeface="Arial"/>
                <a:cs typeface="Arial"/>
              </a:rPr>
              <a:t>Evidence from our test</a:t>
            </a:r>
          </a:p>
        </p:txBody>
      </p:sp>
      <p:sp>
        <p:nvSpPr>
          <p:cNvPr id="2" name="">
            <a:extLst xmlns:a="http://schemas.openxmlformats.org/drawingml/2006/main">
              <a:ext uri="{FF2B5EF4-FFF2-40B4-BE49-F238E27FC236}">
                <a16:creationId xmlns:a16="http://schemas.microsoft.com/office/drawing/2014/main" id="{D47B27EA-ED14-46D8-9A62-A607692E668A}"/>
              </a:ext>
            </a:extLst>
          </p:cNvPr>
          <p:cNvSpPr>
            <a:spLocks xmlns:a="http://schemas.openxmlformats.org/drawingml/2006/main" noGrp="1"/>
          </p:cNvSpPr>
          <p:nvPr/>
        </p:nvSpPr>
        <p:spPr>
          <a:xfrm xmlns:a="http://schemas.openxmlformats.org/drawingml/2006/main">
            <a:off x="762000" y="1952625"/>
            <a:ext cx="1047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0">
                <a:solidFill>
                  <a:srgbClr val="173044"/>
                </a:solidFill>
                <a:latin typeface="Arial"/>
                <a:ea typeface="Arial"/>
                <a:cs typeface="Arial"/>
              </a:defRPr>
            </a:pPr>
            <a:r>
              <a:rPr sz="2400" b="0">
                <a:solidFill>
                  <a:srgbClr val="173044"/>
                </a:solidFill>
                <a:latin typeface="Arial"/>
                <a:ea typeface="Arial"/>
                <a:cs typeface="Arial"/>
              </a:rPr>
              <a:t>We changed ____________________.</a:t>
            </a:r>
          </a:p>
        </p:txBody>
      </p:sp>
      <p:sp>
        <p:nvSpPr>
          <p:cNvPr id="3" name="">
            <a:extLst xmlns:a="http://schemas.openxmlformats.org/drawingml/2006/main">
              <a:ext uri="{FF2B5EF4-FFF2-40B4-BE49-F238E27FC236}">
                <a16:creationId xmlns:a16="http://schemas.microsoft.com/office/drawing/2014/main" id="{CCD37367-08BA-4220-BFB0-DBDDBCAA56BE}"/>
              </a:ext>
            </a:extLst>
          </p:cNvPr>
          <p:cNvSpPr>
            <a:spLocks xmlns:a="http://schemas.openxmlformats.org/drawingml/2006/main" noGrp="1"/>
          </p:cNvSpPr>
          <p:nvPr/>
        </p:nvSpPr>
        <p:spPr>
          <a:xfrm xmlns:a="http://schemas.openxmlformats.org/drawingml/2006/main">
            <a:off x="762000" y="2847975"/>
            <a:ext cx="1047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0">
                <a:solidFill>
                  <a:srgbClr val="173044"/>
                </a:solidFill>
                <a:latin typeface="Arial"/>
                <a:ea typeface="Arial"/>
                <a:cs typeface="Arial"/>
              </a:defRPr>
            </a:pPr>
            <a:r>
              <a:rPr sz="2400" b="0">
                <a:solidFill>
                  <a:srgbClr val="173044"/>
                </a:solidFill>
                <a:latin typeface="Arial"/>
                <a:ea typeface="Arial"/>
                <a:cs typeface="Arial"/>
              </a:rPr>
              <a:t>We predicted ____________________.</a:t>
            </a:r>
          </a:p>
        </p:txBody>
      </p:sp>
      <p:sp>
        <p:nvSpPr>
          <p:cNvPr id="4" name="">
            <a:extLst xmlns:a="http://schemas.openxmlformats.org/drawingml/2006/main">
              <a:ext uri="{FF2B5EF4-FFF2-40B4-BE49-F238E27FC236}">
                <a16:creationId xmlns:a16="http://schemas.microsoft.com/office/drawing/2014/main" id="{C5177CFE-6843-4DB0-85B6-E12E44AA330B}"/>
              </a:ext>
            </a:extLst>
          </p:cNvPr>
          <p:cNvSpPr>
            <a:spLocks xmlns:a="http://schemas.openxmlformats.org/drawingml/2006/main" noGrp="1"/>
          </p:cNvSpPr>
          <p:nvPr/>
        </p:nvSpPr>
        <p:spPr>
          <a:xfrm xmlns:a="http://schemas.openxmlformats.org/drawingml/2006/main">
            <a:off x="762000" y="3743325"/>
            <a:ext cx="1047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0">
                <a:solidFill>
                  <a:srgbClr val="173044"/>
                </a:solidFill>
                <a:latin typeface="Arial"/>
                <a:ea typeface="Arial"/>
                <a:cs typeface="Arial"/>
              </a:defRPr>
            </a:pPr>
            <a:r>
              <a:rPr sz="2400" b="0">
                <a:solidFill>
                  <a:srgbClr val="173044"/>
                </a:solidFill>
                <a:latin typeface="Arial"/>
                <a:ea typeface="Arial"/>
                <a:cs typeface="Arial"/>
              </a:rPr>
              <a:t>We observed ____________________.</a:t>
            </a:r>
          </a:p>
        </p:txBody>
      </p:sp>
      <p:sp>
        <p:nvSpPr>
          <p:cNvPr id="5" name="">
            <a:extLst xmlns:a="http://schemas.openxmlformats.org/drawingml/2006/main">
              <a:ext uri="{FF2B5EF4-FFF2-40B4-BE49-F238E27FC236}">
                <a16:creationId xmlns:a16="http://schemas.microsoft.com/office/drawing/2014/main" id="{84FC8B78-7470-4431-9779-C207E2BD4F8A}"/>
              </a:ext>
            </a:extLst>
          </p:cNvPr>
          <p:cNvSpPr>
            <a:spLocks xmlns:a="http://schemas.openxmlformats.org/drawingml/2006/main" noGrp="1"/>
          </p:cNvSpPr>
          <p:nvPr/>
        </p:nvSpPr>
        <p:spPr>
          <a:xfrm xmlns:a="http://schemas.openxmlformats.org/drawingml/2006/main">
            <a:off x="762000" y="4638675"/>
            <a:ext cx="1047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0">
                <a:solidFill>
                  <a:srgbClr val="173044"/>
                </a:solidFill>
                <a:latin typeface="Arial"/>
                <a:ea typeface="Arial"/>
                <a:cs typeface="Arial"/>
              </a:defRPr>
            </a:pPr>
            <a:r>
              <a:rPr sz="2400" b="0">
                <a:solidFill>
                  <a:srgbClr val="173044"/>
                </a:solidFill>
                <a:latin typeface="Arial"/>
                <a:ea typeface="Arial"/>
                <a:cs typeface="Arial"/>
              </a:rPr>
              <a:t>Our next test would ____________________.</a:t>
            </a:r>
          </a:p>
        </p:txBody>
      </p:sp>
    </p:spTree>
    <p:extLst>
      <p:ext uri="{BB962C8B-B14F-4D97-AF65-F5344CB8AC3E}">
        <p14:creationId xmlns:p14="http://schemas.microsoft.com/office/powerpoint/2010/main" val="1238231337"/>
      </p:ext>
    </p:extLst>
  </p:cSld>
</p:sld>
</file>

<file path=ppt/slides/slide6.xml><?xml version="1.0" encoding="utf-8"?>
<p:sld xmlns:p="http://schemas.openxmlformats.org/presentationml/2006/main">
  <p:cSld>
    <p:bg>
      <p:bgPr>
        <a:solidFill xmlns:a="http://schemas.openxmlformats.org/drawingml/2006/main">
          <a:srgbClr val="FBFAF6"/>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09034DCB-E692-44E7-9400-8931C2CD6485}"/>
              </a:ext>
            </a:extLst>
          </p:cNvPr>
          <p:cNvSpPr>
            <a:spLocks xmlns:a="http://schemas.openxmlformats.org/drawingml/2006/main" noGrp="1"/>
          </p:cNvSpPr>
          <p:nvPr/>
        </p:nvSpPr>
        <p:spPr>
          <a:xfrm xmlns:a="http://schemas.openxmlformats.org/drawingml/2006/main">
            <a:off x="685800" y="4572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600" b="1">
                <a:solidFill>
                  <a:srgbClr val="173044"/>
                </a:solidFill>
                <a:latin typeface="Arial"/>
                <a:ea typeface="Arial"/>
                <a:cs typeface="Arial"/>
              </a:defRPr>
            </a:defPPr>
          </a:lstStyle>
          <a:p xmlns:a="http://schemas.openxmlformats.org/drawingml/2006/main">
            <a:pPr>
              <a:buNone/>
              <a:defRPr sz="3600" b="1">
                <a:solidFill>
                  <a:srgbClr val="173044"/>
                </a:solidFill>
                <a:latin typeface="Arial"/>
                <a:ea typeface="Arial"/>
                <a:cs typeface="Arial"/>
              </a:defRPr>
            </a:pPr>
            <a:r>
              <a:rPr sz="3600" b="1">
                <a:solidFill>
                  <a:srgbClr val="173044"/>
                </a:solidFill>
                <a:latin typeface="Arial"/>
                <a:ea typeface="Arial"/>
                <a:cs typeface="Arial"/>
              </a:rPr>
              <a:t>What we learned and noticed</a:t>
            </a:r>
          </a:p>
        </p:txBody>
      </p:sp>
      <p:sp>
        <p:nvSpPr>
          <p:cNvPr id="2" name="">
            <a:extLst xmlns:a="http://schemas.openxmlformats.org/drawingml/2006/main">
              <a:ext uri="{FF2B5EF4-FFF2-40B4-BE49-F238E27FC236}">
                <a16:creationId xmlns:a16="http://schemas.microsoft.com/office/drawing/2014/main" id="{7E528F47-1C89-4CE3-AD9D-9309D0242EFC}"/>
              </a:ext>
            </a:extLst>
          </p:cNvPr>
          <p:cNvSpPr>
            <a:spLocks xmlns:a="http://schemas.openxmlformats.org/drawingml/2006/main" noGrp="1"/>
          </p:cNvSpPr>
          <p:nvPr/>
        </p:nvSpPr>
        <p:spPr>
          <a:xfrm xmlns:a="http://schemas.openxmlformats.org/drawingml/2006/main">
            <a:off x="762000" y="1743075"/>
            <a:ext cx="1057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73044"/>
                </a:solidFill>
                <a:latin typeface="Arial"/>
                <a:ea typeface="Arial"/>
                <a:cs typeface="Arial"/>
              </a:defRPr>
            </a:defPPr>
          </a:lstStyle>
          <a:p xmlns:a="http://schemas.openxmlformats.org/drawingml/2006/main">
            <a:pPr>
              <a:buNone/>
              <a:defRPr sz="2550" b="0">
                <a:solidFill>
                  <a:srgbClr val="173044"/>
                </a:solidFill>
                <a:latin typeface="Arial"/>
                <a:ea typeface="Arial"/>
                <a:cs typeface="Arial"/>
              </a:defRPr>
            </a:pPr>
            <a:r>
              <a:rPr sz="2550" b="0">
                <a:solidFill>
                  <a:srgbClr val="173044"/>
                </a:solidFill>
                <a:latin typeface="Arial"/>
                <a:ea typeface="Arial"/>
                <a:cs typeface="Arial"/>
              </a:rPr>
              <a:t>What did you learn about sensors and decisions?</a:t>
            </a:r>
          </a:p>
        </p:txBody>
      </p:sp>
      <p:sp>
        <p:nvSpPr>
          <p:cNvPr id="3" name="">
            <a:extLst xmlns:a="http://schemas.openxmlformats.org/drawingml/2006/main">
              <a:ext uri="{FF2B5EF4-FFF2-40B4-BE49-F238E27FC236}">
                <a16:creationId xmlns:a16="http://schemas.microsoft.com/office/drawing/2014/main" id="{99B877E2-95F0-4036-9CB9-A37DF2B2431A}"/>
              </a:ext>
            </a:extLst>
          </p:cNvPr>
          <p:cNvSpPr>
            <a:spLocks xmlns:a="http://schemas.openxmlformats.org/drawingml/2006/main" noGrp="1"/>
          </p:cNvSpPr>
          <p:nvPr/>
        </p:nvSpPr>
        <p:spPr>
          <a:xfrm xmlns:a="http://schemas.openxmlformats.org/drawingml/2006/main">
            <a:off x="762000" y="2886075"/>
            <a:ext cx="1057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73044"/>
                </a:solidFill>
                <a:latin typeface="Arial"/>
                <a:ea typeface="Arial"/>
                <a:cs typeface="Arial"/>
              </a:defRPr>
            </a:defPPr>
          </a:lstStyle>
          <a:p xmlns:a="http://schemas.openxmlformats.org/drawingml/2006/main">
            <a:pPr>
              <a:buNone/>
              <a:defRPr sz="2550" b="0">
                <a:solidFill>
                  <a:srgbClr val="173044"/>
                </a:solidFill>
                <a:latin typeface="Arial"/>
                <a:ea typeface="Arial"/>
                <a:cs typeface="Arial"/>
              </a:defRPr>
            </a:pPr>
            <a:r>
              <a:rPr sz="2550" b="0">
                <a:solidFill>
                  <a:srgbClr val="173044"/>
                </a:solidFill>
                <a:latin typeface="Arial"/>
                <a:ea typeface="Arial"/>
                <a:cs typeface="Arial"/>
              </a:rPr>
              <a:t>What did you observe as the robot neared the wall?</a:t>
            </a:r>
          </a:p>
        </p:txBody>
      </p:sp>
      <p:sp>
        <p:nvSpPr>
          <p:cNvPr id="4" name="">
            <a:extLst xmlns:a="http://schemas.openxmlformats.org/drawingml/2006/main">
              <a:ext uri="{FF2B5EF4-FFF2-40B4-BE49-F238E27FC236}">
                <a16:creationId xmlns:a16="http://schemas.microsoft.com/office/drawing/2014/main" id="{58D797FE-0764-40B8-93E1-6F03C9D38A97}"/>
              </a:ext>
            </a:extLst>
          </p:cNvPr>
          <p:cNvSpPr>
            <a:spLocks xmlns:a="http://schemas.openxmlformats.org/drawingml/2006/main" noGrp="1"/>
          </p:cNvSpPr>
          <p:nvPr/>
        </p:nvSpPr>
        <p:spPr>
          <a:xfrm xmlns:a="http://schemas.openxmlformats.org/drawingml/2006/main">
            <a:off x="762000" y="4029075"/>
            <a:ext cx="1057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73044"/>
                </a:solidFill>
                <a:latin typeface="Arial"/>
                <a:ea typeface="Arial"/>
                <a:cs typeface="Arial"/>
              </a:defRPr>
            </a:defPPr>
          </a:lstStyle>
          <a:p xmlns:a="http://schemas.openxmlformats.org/drawingml/2006/main">
            <a:pPr>
              <a:buNone/>
              <a:defRPr sz="2550" b="0">
                <a:solidFill>
                  <a:srgbClr val="173044"/>
                </a:solidFill>
                <a:latin typeface="Arial"/>
                <a:ea typeface="Arial"/>
                <a:cs typeface="Arial"/>
              </a:defRPr>
            </a:pPr>
            <a:r>
              <a:rPr sz="2550" b="0">
                <a:solidFill>
                  <a:srgbClr val="173044"/>
                </a:solidFill>
                <a:latin typeface="Arial"/>
                <a:ea typeface="Arial"/>
                <a:cs typeface="Arial"/>
              </a:rPr>
              <a:t>What would you change in the garage or next test?</a:t>
            </a:r>
          </a:p>
        </p:txBody>
      </p:sp>
      <p:sp>
        <p:nvSpPr>
          <p:cNvPr id="6" name="">
            <a:extLst xmlns:a="http://schemas.openxmlformats.org/drawingml/2006/main">
              <a:ext uri="{FF2B5EF4-FFF2-40B4-BE49-F238E27FC236}">
                <a16:creationId xmlns:a16="http://schemas.microsoft.com/office/drawing/2014/main" id="{596987FC-9B02-480A-B187-0A40F5006888}"/>
              </a:ext>
            </a:extLst>
          </p:cNvPr>
          <p:cNvSpPr>
            <a:spLocks xmlns:a="http://schemas.openxmlformats.org/drawingml/2006/main" noGrp="1"/>
          </p:cNvSpPr>
          <p:nvPr/>
        </p:nvSpPr>
        <p:spPr>
          <a:xfrm xmlns:a="http://schemas.openxmlformats.org/drawingml/2006/main">
            <a:off x="762000" y="5715000"/>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006E75"/>
                </a:solidFill>
                <a:latin typeface="Arial"/>
                <a:ea typeface="Arial"/>
                <a:cs typeface="Arial"/>
              </a:defRPr>
            </a:defPPr>
          </a:lstStyle>
          <a:p xmlns:a="http://schemas.openxmlformats.org/drawingml/2006/main">
            <a:pPr>
              <a:buNone/>
              <a:defRPr sz="2025" b="0">
                <a:solidFill>
                  <a:srgbClr val="006E75"/>
                </a:solidFill>
                <a:latin typeface="Arial"/>
                <a:ea typeface="Arial"/>
                <a:cs typeface="Arial"/>
              </a:defRPr>
            </a:pPr>
            <a:r>
              <a:rPr sz="2025" b="0">
                <a:solidFill>
                  <a:srgbClr val="006E75"/>
                </a:solidFill>
                <a:latin typeface="Arial"/>
                <a:ea typeface="Arial"/>
                <a:cs typeface="Arial"/>
              </a:rPr>
              <a:t>Save your team project. Store your build. Reset the robot and parts.</a:t>
            </a:r>
          </a:p>
        </p:txBody>
      </p:sp>
    </p:spTree>
    <p:extLst>
      <p:ext uri="{BB962C8B-B14F-4D97-AF65-F5344CB8AC3E}">
        <p14:creationId xmlns:p14="http://schemas.microsoft.com/office/powerpoint/2010/main" val="2449977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2026-10-25T23:31:28.7430000Z</dcterms:created>
  <dcterms:modified xsi:type="dcterms:W3CDTF">2026-10-25T23:31:28.7430000Z</dcterms:modified>
</coreProperties>
</file>