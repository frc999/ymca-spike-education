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26745aa5c7407f" /><Relationship Type="http://schemas.openxmlformats.org/officeDocument/2006/relationships/extended-properties" Target="/docProps/app.xml" Id="Rcef77e2061ce4b5a" /><Relationship Type="http://schemas.openxmlformats.org/officeDocument/2006/relationships/officeDocument" Target="/ppt/presentation.xml" Id="R2db453311d88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7a74f3ec943a2"/>
  </p:sldMasterIdLst>
  <p:notesMasterIdLst>
    <p:notesMasterId xmlns:r="http://schemas.openxmlformats.org/officeDocument/2006/relationships" r:id="Rbafc13f8a2f14bb7"/>
  </p:notesMasterIdLst>
  <p:sldIdLst>
    <p:sldId xmlns:r="http://schemas.openxmlformats.org/officeDocument/2006/relationships" id="256" r:id="R63327f8926ec4895"/>
    <p:sldId xmlns:r="http://schemas.openxmlformats.org/officeDocument/2006/relationships" id="257" r:id="R5479b2195ac647e3"/>
    <p:sldId xmlns:r="http://schemas.openxmlformats.org/officeDocument/2006/relationships" id="258" r:id="R8f76a981b2fe4b30"/>
    <p:sldId xmlns:r="http://schemas.openxmlformats.org/officeDocument/2006/relationships" id="259" r:id="Rfeff8ee400ae4525"/>
    <p:sldId xmlns:r="http://schemas.openxmlformats.org/officeDocument/2006/relationships" id="260" r:id="R627d060f29594b4b"/>
    <p:sldId xmlns:r="http://schemas.openxmlformats.org/officeDocument/2006/relationships" id="261" r:id="Rc5b571720cdb4e66"/>
    <p:sldId xmlns:r="http://schemas.openxmlformats.org/officeDocument/2006/relationships" id="262" r:id="R7e049fec113f4f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a50dfea284415" /><Relationship Type="http://schemas.openxmlformats.org/officeDocument/2006/relationships/slideMaster" Target="/ppt/slideMasters/slideMaster1.xml" Id="R6917a74f3ec943a2" /><Relationship Type="http://schemas.openxmlformats.org/officeDocument/2006/relationships/notesMaster" Target="/ppt/notesMasters/notesMaster1.xml" Id="Rbafc13f8a2f14bb7" /><Relationship Type="http://schemas.openxmlformats.org/officeDocument/2006/relationships/presProps" Target="/ppt/presProps.xml" Id="Rb9505a45c4784652" /><Relationship Type="http://schemas.openxmlformats.org/officeDocument/2006/relationships/tableStyles" Target="/ppt/tableStyles.xml" Id="R33cc339fd0244b61" /><Relationship Type="http://schemas.openxmlformats.org/officeDocument/2006/relationships/slide" Target="/ppt/slides/slide1.xml" Id="R63327f8926ec4895" /><Relationship Type="http://schemas.openxmlformats.org/officeDocument/2006/relationships/slide" Target="/ppt/slides/slide2.xml" Id="R5479b2195ac647e3" /><Relationship Type="http://schemas.openxmlformats.org/officeDocument/2006/relationships/slide" Target="/ppt/slides/slide3.xml" Id="R8f76a981b2fe4b30" /><Relationship Type="http://schemas.openxmlformats.org/officeDocument/2006/relationships/slide" Target="/ppt/slides/slide4.xml" Id="Rfeff8ee400ae4525" /><Relationship Type="http://schemas.openxmlformats.org/officeDocument/2006/relationships/slide" Target="/ppt/slides/slide5.xml" Id="R627d060f29594b4b" /><Relationship Type="http://schemas.openxmlformats.org/officeDocument/2006/relationships/slide" Target="/ppt/slides/slide6.xml" Id="Rc5b571720cdb4e66" /><Relationship Type="http://schemas.openxmlformats.org/officeDocument/2006/relationships/slide" Target="/ppt/slides/slide7.xml" Id="R7e049fec113f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2fdd44a734f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100ee087254f17" /><Relationship Type="http://schemas.openxmlformats.org/officeDocument/2006/relationships/notesMaster" Target="/ppt/notesMasters/notesMaster1.xml" Id="Rd2dc391ee700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cc92ceef8f4497" /><Relationship Type="http://schemas.openxmlformats.org/officeDocument/2006/relationships/notesMaster" Target="/ppt/notesMasters/notesMaster1.xml" Id="Red14fb597a9a4b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2191abd9044ddf" /><Relationship Type="http://schemas.openxmlformats.org/officeDocument/2006/relationships/notesMaster" Target="/ppt/notesMasters/notesMaster1.xml" Id="R60b5de06b80e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909a9608f4060" /><Relationship Type="http://schemas.openxmlformats.org/officeDocument/2006/relationships/notesMaster" Target="/ppt/notesMasters/notesMaster1.xml" Id="R6bfbe4611fe04b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5b58428d4446e3" /><Relationship Type="http://schemas.openxmlformats.org/officeDocument/2006/relationships/notesMaster" Target="/ppt/notesMasters/notesMaster1.xml" Id="Rc69ea6e8244a4e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9f616d8284906" /><Relationship Type="http://schemas.openxmlformats.org/officeDocument/2006/relationships/notesMaster" Target="/ppt/notesMasters/notesMaster1.xml" Id="Rdaabc0430b0748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ccb36614741e5" /><Relationship Type="http://schemas.openxmlformats.org/officeDocument/2006/relationships/notesMaster" Target="/ppt/notesMasters/notesMaster1.xml" Id="R4048a58893c840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0–5 minutes: welcome and retrieval. How can a robot decide when it is close enough without someone shouting stop?</a:t>
            </a:r>
          </a:p>
          <a:p xmlns:a="http://schemas.openxmlformats.org/drawingml/2006/main">
            <a:r>
              <a:t>Learning goal: Each student predicts a threshold decision and distinguishes a valid distance reading from an invalid reading.</a:t>
            </a:r>
          </a:p>
          <a:p xmlns:a="http://schemas.openxmlformats.org/drawingml/2006/main">
            <a:r>
              <a:t>Minimum success: The robot approaches a broad cardboard wall in small steps and stops around 150 mm away. The pair explains the threshold, invalid-reading stop, and movement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5–10 minutes, or 7–12 in week 8. Show a live distance reading while the robot stays still. Python readings use millimeters. Trace the condition 0 &lt;= gap &lt;= stop_mm. An invalid negative value must stop the activity for a check.</a:t>
            </a:r>
          </a:p>
          <a:p xmlns:a="http://schemas.openxmlformats.org/drawingml/2006/main">
            <a:r>
              <a:t>Preparation: Mount the distance sensor before class. Open W04_parking.py. At 100, 150, and 250 mm, check readings against the ruler. Start about 300 mm from a broad, upright wall. Keep hands out of the lane.</a:t>
            </a:r>
          </a:p>
          <a:p xmlns:a="http://schemas.openxmlformats.org/drawingml/2006/main">
            <a:r>
              <a:t>The core challenge uses an assembled base and the supplied complete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fragment. It belongs in the supplied project, not in an empty file. The student function is named student_recipe. Show a live distance reading while the robot stays still. Python readings use millimeters. Trace the condition 0 &lt;= gap &lt;= stop_mm. An invalid negative value must stop the activity for a check.</a:t>
            </a:r>
          </a:p>
          <a:p xmlns:a="http://schemas.openxmlformats.org/drawingml/2006/main">
            <a:r>
              <a:t>Expected reasoning: 220 continues. 150 and 90 are near. -1 is invalid and must not be treated as a real near distance. At 170 with a threshold of 150, continue if a step remains.</a:t>
            </a:r>
          </a:p>
          <a:p xmlns:a="http://schemas.openxmlformats.org/drawingml/2006/main">
            <a:r>
              <a:t>Technical references: https://spike.legoeducation.com/prime/modal/help/lls-help-python ; https://tuftsceeo.github.io/SPIKEPythonDocs/SPIKE3.html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10–15 minutes in the standard lesson. At a 150 mm threshold, classify 220, 150, 90, and -1. Which readings mean near? Which means check the sensor?</a:t>
            </a:r>
          </a:p>
          <a:p xmlns:a="http://schemas.openxmlformats.org/drawingml/2006/main">
            <a:r>
              <a:t>Do not reveal the answer immediately. Ask students to point to a line or a measured value. Expected reasoning: 220 continues. 150 and 90 are near. -1 is invalid and must not be treated as a real near distance. At 170 with a threshold of 150, continue if a step remains.</a:t>
            </a:r>
          </a:p>
          <a:p xmlns:a="http://schemas.openxmlformats.org/drawingml/2006/main">
            <a:r>
              <a:t>Support: Provide the decision rule in words and highlight the threshold number. A stationary sensor demonstration can meet the decision objective if movement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 and planning rotations. 1. With wheels still, measure the wall distance using a ruler. Compare two sensor readings with the measured gap. Explain millimeters versus centimeters.</a:t>
            </a:r>
          </a:p>
          <a:p xmlns:a="http://schemas.openxmlformats.org/drawingml/2006/main">
            <a:r>
              <a:t>2. Set stop_mm = 150. Start roughly 300 mm away and run. The supplied helper checks the sensor before each short 30-wheel-degree movement and limits the run to 12 steps.</a:t>
            </a:r>
          </a:p>
          <a:p xmlns:a="http://schemas.openxmlformats.org/drawingml/2006/main">
            <a:r>
              <a:t>3. Measure the stopped distance and record the reason printed by the program: near, invalid, or limit. A limit message does not mean successful parking.</a:t>
            </a:r>
          </a:p>
          <a:p xmlns:a="http://schemas.openxmlformats.org/drawingml/2006/main">
            <a:r>
              <a:t>4. Swap roles. Try a 200 mm threshold from the same start. Predict whether the robot will stop sooner or later. Keep the wall broad and square to the sensor.</a:t>
            </a:r>
          </a:p>
          <a:p xmlns:a="http://schemas.openxmlformats.org/drawingml/2006/main">
            <a:r>
              <a:t>5. On the final turn, repeat one chosen setting. Explain why this classroom prototype is not a real vehicle safety system.</a:t>
            </a:r>
          </a:p>
          <a:p xmlns:a="http://schemas.openxmlformats.org/drawingml/2006/main">
            <a:r>
              <a:t>Off-robot task: Sort reading cards into continue, park, or sensor check. Plan expected behavior for a wall placed too far away. Use a ruler to convert 15 cm to 150 mm.</a:t>
            </a:r>
          </a:p>
          <a:p xmlns:a="http://schemas.openxmlformats.org/drawingml/2006/main">
            <a:r>
              <a:t>Week 8 schedule: 12–24 rehearsals, 24–28 setup, 28–44 demos. Otherwise 15–27 first pair, 27–39 second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39–49 minutes for improvement in standard lessons. Log threshold, start gap, stopped gap, and stop reason for two trials. Individual exit uses a new reading of 170 mm with a 150 mm threshold.</a:t>
            </a:r>
          </a:p>
          <a:p xmlns:a="http://schemas.openxmlformats.org/drawingml/2006/main">
            <a:r>
              <a:t>Troubleshooting: Invalid reading: check the C port and wall angle. Reaches step limit: move start closer or inspect readings. Stops too close: slow down and inspect step size. No collision is required to test the sensor.</a:t>
            </a:r>
          </a:p>
          <a:p xmlns:a="http://schemas.openxmlformats.org/drawingml/2006/main">
            <a:r>
              <a:t>Optional extension: Change one wall property, such as angle, and compare valid readings. Explain why poor readings require a fallback. Do not remove the step limit.</a:t>
            </a:r>
          </a:p>
          <a:p xmlns:a="http://schemas.openxmlformats.org/drawingml/2006/main">
            <a:r>
              <a:t>If Python becomes a barrier, preserve the concept using this fallback: Set near false. Repeat up to 12 checks: if distance is within a valid near range, set near true; otherwise, if still allowed, move straight a small increment. Use app distance units shown on the block, commonly cm: 15 cm equals 150 mm. Mentor verifies invalid-reading behavior and uses manual stop if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49–54 minutes: individual explanation. Reserve 54–60 for saving and reset. 220 continues. 150 and 90 are near. -1 is invalid and must not be treated as a real near distance. At 170 with a threshold of 150, continue if a step remains.</a:t>
            </a:r>
          </a:p>
          <a:p xmlns:a="http://schemas.openxmlformats.org/drawingml/2006/main">
            <a:r>
              <a:t>Sensors let an autonomous robot react to its surroundings.</a:t>
            </a:r>
          </a:p>
          <a:p xmlns:a="http://schemas.openxmlformats.org/drawingml/2006/main">
            <a:r>
              <a:t>Keep invitations to future activities optional and parent-mediated. Do not equate club attendance with FRC membership.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6fee8ca624a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123e0371174f01" /><Relationship Type="http://schemas.openxmlformats.org/officeDocument/2006/relationships/slideLayout" Target="/ppt/slideLayouts/slideLayout1.xml" Id="Rc663ef671990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3ef671990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cd20ca44a422a" /><Relationship Type="http://schemas.openxmlformats.org/officeDocument/2006/relationships/notesSlide" Target="/ppt/notesSlides/notesSlide1.xml" Id="R9bef52b3b9094a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9ccd44ae7401e" /><Relationship Type="http://schemas.openxmlformats.org/officeDocument/2006/relationships/notesSlide" Target="/ppt/notesSlides/notesSlide2.xml" Id="Rba63e82fdd984b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e41811ced44c8" /><Relationship Type="http://schemas.openxmlformats.org/officeDocument/2006/relationships/notesSlide" Target="/ppt/notesSlides/notesSlide3.xml" Id="Rdfb9993d63fb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69364e6de4039" /><Relationship Type="http://schemas.openxmlformats.org/officeDocument/2006/relationships/notesSlide" Target="/ppt/notesSlides/notesSlide4.xml" Id="R4f327bf1493240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e410fb4394380" /><Relationship Type="http://schemas.openxmlformats.org/officeDocument/2006/relationships/notesSlide" Target="/ppt/notesSlides/notesSlide5.xml" Id="R37becb6855a547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779afc924357" /><Relationship Type="http://schemas.openxmlformats.org/officeDocument/2006/relationships/notesSlide" Target="/ppt/notesSlides/notesSlide6.xml" Id="Rc8f84ff5857f44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3916b4e8c490f" /><Relationship Type="http://schemas.openxmlformats.org/officeDocument/2006/relationships/notesSlide" Target="/ppt/notesSlides/notesSlide7.xml" Id="Rff8d5e9d8e0540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63FF5-A0E6-49BE-9B44-37F1B6BC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57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Parking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904D1-CE73-44AA-AC53-6F21B5D3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9DDAD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DDADD"/>
                </a:solidFill>
                <a:latin typeface="Arial"/>
                <a:ea typeface="Arial"/>
                <a:cs typeface="Arial"/>
              </a:rPr>
              <a:t>A distance reading changes a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590B7-B7CA-4CC3-9C02-21733F02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D4DC"/>
                </a:solidFill>
                <a:latin typeface="Arial"/>
                <a:ea typeface="Arial"/>
                <a:cs typeface="Arial"/>
              </a:rPr>
              <a:t>Week 4 · MechaRAMS at the YMCA</a:t>
            </a:r>
          </a:p>
        </p:txBody>
      </p:sp>
    </p:spTree>
    <p:extLst>
      <p:ext uri="{BB962C8B-B14F-4D97-AF65-F5344CB8AC3E}">
        <p14:creationId xmlns:p14="http://schemas.microsoft.com/office/powerpoint/2010/main" val="2101924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B7621-B019-496E-9043-5574897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Today’s robot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5AC89-33AC-4C20-8946-CEF15A1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broad cardboard wall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0E665-4006-4C7A-AFEC-43988DA4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measured distance threshold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7EC69-2E7D-4BB5-8CFA-ADC90D6C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record of why the robot stopped</a:t>
            </a:r>
          </a:p>
        </p:txBody>
      </p:sp>
    </p:spTree>
    <p:extLst>
      <p:ext uri="{BB962C8B-B14F-4D97-AF65-F5344CB8AC3E}">
        <p14:creationId xmlns:p14="http://schemas.microsoft.com/office/powerpoint/2010/main" val="1165358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F1565-E1CE-480D-8872-9DC4209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Sensor input and if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C047-744E-46CA-BD02-F725349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stop_mm = 150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gap = distance_sensor.distance(port.C)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0 &lt;= gap &lt;= stop_mm: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await signal("P")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AD894-EF36-47B0-9AFA-98E7C381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D4DC"/>
                </a:solidFill>
                <a:latin typeface="Arial"/>
                <a:ea typeface="Arial"/>
                <a:cs typeface="Arial"/>
              </a:rPr>
              <a:t>Reading fragment from a complete supplied Python project</a:t>
            </a:r>
          </a:p>
        </p:txBody>
      </p:sp>
    </p:spTree>
    <p:extLst>
      <p:ext uri="{BB962C8B-B14F-4D97-AF65-F5344CB8AC3E}">
        <p14:creationId xmlns:p14="http://schemas.microsoft.com/office/powerpoint/2010/main" val="34106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3038-B87D-435E-8505-FB08232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A prediction before the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4D3C8-8BAE-49D5-8F9C-FD4EE3B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Threshold: 150 mm. What happens at 220, 150, and 90?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1F7BE-05C8-45C2-AF81-26AD978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How should the program handle -1?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661A4-C577-45E3-9932-579D943E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Both partners explain a prediction before anyone presses Run.</a:t>
            </a:r>
          </a:p>
        </p:txBody>
      </p:sp>
    </p:spTree>
    <p:extLst>
      <p:ext uri="{BB962C8B-B14F-4D97-AF65-F5344CB8AC3E}">
        <p14:creationId xmlns:p14="http://schemas.microsoft.com/office/powerpoint/2010/main" val="882418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B3472-0EBA-4E28-9C44-BB9B8BC9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Your work with a partner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35B5A-F36E-4C16-B804-0A03714E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Driver: edit and start after the lane check.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5AEBF-71B6-479C-AEE1-7F4AA664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Navigator: predict, check, and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60D06-87F0-45C7-9898-D68283B1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Swap roles halfway through your robot 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E6FBA-1BC3-4873-8FD2-EFA36C3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Away from the robot: complete the worksheet task.</a:t>
            </a:r>
          </a:p>
        </p:txBody>
      </p:sp>
    </p:spTree>
    <p:extLst>
      <p:ext uri="{BB962C8B-B14F-4D97-AF65-F5344CB8AC3E}">
        <p14:creationId xmlns:p14="http://schemas.microsoft.com/office/powerpoint/2010/main" val="1746689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7C822-D12D-47BF-A390-2C65382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Evidence from our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27EA-ED14-46D8-9A62-A607692E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changed ____________________.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37367-08BA-4220-BFB0-DBDDBCAA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predicted ____________________.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77CFE-6843-4DB0-85B6-E12E44AA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observed ____________________.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C8B78-7470-4431-9779-C207E2BD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Our next test would 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1238231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4DCB-E692-44E7-9400-8931C2CD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What you can explain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28F47-1C89-4CE3-AD9D-9309D02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What does the sensor supply, and what does the program decide?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877E2-95F0-4036-9CB9-A37DF2B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6E7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6E75"/>
                </a:solidFill>
                <a:latin typeface="Arial"/>
                <a:ea typeface="Arial"/>
                <a:cs typeface="Arial"/>
              </a:rPr>
              <a:t>Save your project. Reset the robot and parts for the next pair.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97FE-0764-40B8-93E1-6F03C9D3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Sensors let an autonomous robot react to its surroundings.</a:t>
            </a:r>
          </a:p>
        </p:txBody>
      </p:sp>
    </p:spTree>
    <p:extLst>
      <p:ext uri="{BB962C8B-B14F-4D97-AF65-F5344CB8AC3E}">
        <p14:creationId xmlns:p14="http://schemas.microsoft.com/office/powerpoint/2010/main" val="24499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2026-10-02T02:43:47.3020000Z</dcterms:created>
  <dcterms:modified xsi:type="dcterms:W3CDTF">2026-10-02T02:43:47.3020000Z</dcterms:modified>
</coreProperties>
</file>