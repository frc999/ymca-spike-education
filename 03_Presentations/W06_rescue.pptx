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9eceb97f264faa" /><Relationship Type="http://schemas.openxmlformats.org/officeDocument/2006/relationships/extended-properties" Target="/docProps/app.xml" Id="R740cf0a987724069" /><Relationship Type="http://schemas.openxmlformats.org/officeDocument/2006/relationships/officeDocument" Target="/ppt/presentation.xml" Id="R6925511bb8d94fa1" /></Relationships>
</file>

<file path=ppt/presentation.xml><?xml version="1.0" encoding="utf-8"?>
<p:presentation xmlns:p="http://schemas.openxmlformats.org/presentationml/2006/main">
  <p:sldMasterIdLst>
    <p:sldMasterId xmlns:r="http://schemas.openxmlformats.org/officeDocument/2006/relationships" id="2147483648" r:id="R137880280cbc49a3"/>
  </p:sldMasterIdLst>
  <p:notesMasterIdLst>
    <p:notesMasterId xmlns:r="http://schemas.openxmlformats.org/officeDocument/2006/relationships" r:id="R37da2ed6a9a1467f"/>
  </p:notesMasterIdLst>
  <p:sldIdLst>
    <p:sldId xmlns:r="http://schemas.openxmlformats.org/officeDocument/2006/relationships" id="256" r:id="R181218e2d14247b2"/>
    <p:sldId xmlns:r="http://schemas.openxmlformats.org/officeDocument/2006/relationships" id="257" r:id="R25f1c297ed0649b4"/>
    <p:sldId xmlns:r="http://schemas.openxmlformats.org/officeDocument/2006/relationships" id="258" r:id="Rfe77cc6b12864539"/>
    <p:sldId xmlns:r="http://schemas.openxmlformats.org/officeDocument/2006/relationships" id="259" r:id="R6af7b182002b46f3"/>
    <p:sldId xmlns:r="http://schemas.openxmlformats.org/officeDocument/2006/relationships" id="260" r:id="R40665f2359cd494c"/>
    <p:sldId xmlns:r="http://schemas.openxmlformats.org/officeDocument/2006/relationships" id="261" r:id="R437e9321f8c64bdf"/>
    <p:sldId xmlns:r="http://schemas.openxmlformats.org/officeDocument/2006/relationships" id="262" r:id="R5863571a38d245e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88a7c4e1549484d" /><Relationship Type="http://schemas.openxmlformats.org/officeDocument/2006/relationships/slideMaster" Target="/ppt/slideMasters/slideMaster1.xml" Id="R137880280cbc49a3" /><Relationship Type="http://schemas.openxmlformats.org/officeDocument/2006/relationships/notesMaster" Target="/ppt/notesMasters/notesMaster1.xml" Id="R37da2ed6a9a1467f" /><Relationship Type="http://schemas.openxmlformats.org/officeDocument/2006/relationships/presProps" Target="/ppt/presProps.xml" Id="Rbd1c485ac60344ee" /><Relationship Type="http://schemas.openxmlformats.org/officeDocument/2006/relationships/tableStyles" Target="/ppt/tableStyles.xml" Id="Rb8f37ccc49214043" /><Relationship Type="http://schemas.openxmlformats.org/officeDocument/2006/relationships/slide" Target="/ppt/slides/slide1.xml" Id="R181218e2d14247b2" /><Relationship Type="http://schemas.openxmlformats.org/officeDocument/2006/relationships/slide" Target="/ppt/slides/slide2.xml" Id="R25f1c297ed0649b4" /><Relationship Type="http://schemas.openxmlformats.org/officeDocument/2006/relationships/slide" Target="/ppt/slides/slide3.xml" Id="Rfe77cc6b12864539" /><Relationship Type="http://schemas.openxmlformats.org/officeDocument/2006/relationships/slide" Target="/ppt/slides/slide4.xml" Id="R6af7b182002b46f3" /><Relationship Type="http://schemas.openxmlformats.org/officeDocument/2006/relationships/slide" Target="/ppt/slides/slide5.xml" Id="R40665f2359cd494c" /><Relationship Type="http://schemas.openxmlformats.org/officeDocument/2006/relationships/slide" Target="/ppt/slides/slide6.xml" Id="R437e9321f8c64bdf" /><Relationship Type="http://schemas.openxmlformats.org/officeDocument/2006/relationships/slide" Target="/ppt/slides/slide7.xml" Id="R5863571a38d245e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aa2a0a00ff40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885d71f1e84e94" /><Relationship Type="http://schemas.openxmlformats.org/officeDocument/2006/relationships/notesMaster" Target="/ppt/notesMasters/notesMaster1.xml" Id="R6733e9d625634671" /></Relationships>
</file>

<file path=ppt/notesSlides/_rels/notesSlide2.xml.rels>&#65279;<?xml version="1.0" encoding="utf-8"?><Relationships xmlns="http://schemas.openxmlformats.org/package/2006/relationships"><Relationship Type="http://schemas.openxmlformats.org/officeDocument/2006/relationships/slide" Target="/ppt/slides/slide2.xml" Id="Re65b1dc96feb4567" /><Relationship Type="http://schemas.openxmlformats.org/officeDocument/2006/relationships/notesMaster" Target="/ppt/notesMasters/notesMaster1.xml" Id="R7edd8f2cd9ee4dd9" /></Relationships>
</file>

<file path=ppt/notesSlides/_rels/notesSlide3.xml.rels>&#65279;<?xml version="1.0" encoding="utf-8"?><Relationships xmlns="http://schemas.openxmlformats.org/package/2006/relationships"><Relationship Type="http://schemas.openxmlformats.org/officeDocument/2006/relationships/slide" Target="/ppt/slides/slide3.xml" Id="R42a01cc9ef59461f" /><Relationship Type="http://schemas.openxmlformats.org/officeDocument/2006/relationships/notesMaster" Target="/ppt/notesMasters/notesMaster1.xml" Id="Re2c5e48ec40a42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0fa20f1604e4d3f" /><Relationship Type="http://schemas.openxmlformats.org/officeDocument/2006/relationships/notesMaster" Target="/ppt/notesMasters/notesMaster1.xml" Id="R6ba1b9a7745d4b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5dadbb3d814b17" /><Relationship Type="http://schemas.openxmlformats.org/officeDocument/2006/relationships/notesMaster" Target="/ppt/notesMasters/notesMaster1.xml" Id="Rde6ddd523b4f44f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da3834a65864ea4" /><Relationship Type="http://schemas.openxmlformats.org/officeDocument/2006/relationships/notesMaster" Target="/ppt/notesMasters/notesMaster1.xml" Id="R2a89fd6eff32403a" /></Relationships>
</file>

<file path=ppt/notesSlides/_rels/notesSlide7.xml.rels>&#65279;<?xml version="1.0" encoding="utf-8"?><Relationships xmlns="http://schemas.openxmlformats.org/package/2006/relationships"><Relationship Type="http://schemas.openxmlformats.org/officeDocument/2006/relationships/slide" Target="/ppt/slides/slide7.xml" Id="R205b2ab835c14be1" /><Relationship Type="http://schemas.openxmlformats.org/officeDocument/2006/relationships/notesMaster" Target="/ppt/notesMasters/notesMaster1.xml" Id="R68d3ad3e148747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 minutes: welcome and retrieval. A community center needs a robot to move a dropped supply box. What shape will keep the box from escaping sideways?</a:t>
            </a:r>
          </a:p>
          <a:p xmlns:a="http://schemas.openxmlformats.org/drawingml/2006/main">
            <a:r>
              <a:t>Learning goal: Each student contributes a design idea and compares two attachment trials while using an existing Python function.</a:t>
            </a:r>
          </a:p>
          <a:p xmlns:a="http://schemas.openxmlformats.org/drawingml/2006/main">
            <a:r>
              <a:t>Minimum success: A removable passive plow guides one lightweight cube toward a target without blocking wheels or the sensor. The pair documents one design change and explains deliver().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5–10 minutes, or 7–12 in week 8. Show a flat bumper and ask what might improve it. Point to async def deliver and await deliver(). Explain that a function gives a useful group of steps a name. The provided function reuses marker detection.</a:t>
            </a:r>
          </a:p>
          <a:p xmlns:a="http://schemas.openxmlformats.org/drawingml/2006/main">
            <a:r>
              <a:t>Preparation: Reserve equal spare parts for each pair. Test a passive plow mount. Place the stop strip 25 cm ahead of the color sensor at the starting pose. After a dry run, mark the cube delivery zone ahead of the stopped plow. Open W06_rescue.py.</a:t>
            </a:r>
          </a:p>
          <a:p xmlns:a="http://schemas.openxmlformats.org/drawingml/2006/main">
            <a:r>
              <a:t>The core challenge uses an assembled base and the supplied complete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discussion fragment. It belongs in the supplied project, not in an empty file. The student function is named student_recipe. Show a flat bumper and ask what might improve it. Point to async def deliver and await deliver(). Explain that a function gives a useful group of steps a name. The provided function reuses marker detection.</a:t>
            </a:r>
          </a:p>
          <a:p xmlns:a="http://schemas.openxmlformats.org/drawingml/2006/main">
            <a:r>
              <a:t>Expected reasoning: Side guides can reduce lateral escape but may increase friction or interfere with sensing. Calling deliver starts its named sequence. The function itself must be defined before the call can execute.</a:t>
            </a:r>
          </a:p>
          <a:p xmlns:a="http://schemas.openxmlformats.org/drawingml/2006/main">
            <a:r>
              <a:t>Technical references: https://spike.legoeducation.com/prime/modal/help/lls-help-python ; https://tuftsceeo.github.io/SPIKEPythonDocs/SPIKE3.html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10–15 minutes in the standard lesson. Why might two short side guides keep a cube in front better than one flat beam? How could too much contact slow the robot?</a:t>
            </a:r>
          </a:p>
          <a:p xmlns:a="http://schemas.openxmlformats.org/drawingml/2006/main">
            <a:r>
              <a:t>Do not reveal the answer immediately. Ask students to point to a line or a measured value. Expected reasoning: Side guides can reduce lateral escape but may increase friction or interfere with sensing. Calling deliver starts its named sequence. The function itself must be defined before the call can execute.</a:t>
            </a:r>
          </a:p>
          <a:p xmlns:a="http://schemas.openxmlformats.org/drawingml/2006/main">
            <a:r>
              <a:t>Support: Provide a simple flat plow starter and ask students to change guide width. A paper mockup can support the design explanation if building takes too long.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Robot and planning rotations. 1. Sketch two possible plows. Agree on one to build. Constraints: use allocated spare parts, attach to the existing chassis, no powered gripper, and keep the sensor’s view clear.</a:t>
            </a:r>
          </a:p>
          <a:p xmlns:a="http://schemas.openxmlformats.org/drawingml/2006/main">
            <a:r>
              <a:t>2. Build a small removable attachment while the other pair tests. Mentor checks wheel clearance and lightly checks that it will not fall into the drive path.</a:t>
            </a:r>
          </a:p>
          <a:p xmlns:a="http://schemas.openxmlformats.org/drawingml/2006/main">
            <a:r>
              <a:t>3. At the robot turn, attach the plow and place the cube just in front. Use the previously calibrated threshold. Run deliver and record whether the cube stays controlled and reaches the target area.</a:t>
            </a:r>
          </a:p>
          <a:p xmlns:a="http://schemas.openxmlformats.org/drawingml/2006/main">
            <a:r>
              <a:t>4. Swap driver. Change one mechanical feature, such as guide spacing, and repeat. Keep cube, program, and start pose the same so the comparison is useful.</a:t>
            </a:r>
          </a:p>
          <a:p xmlns:a="http://schemas.openxmlformats.org/drawingml/2006/main">
            <a:r>
              <a:t>5. In the final turn, test the better version. Remove and store each pair’s attachment in its labeled tray. Explain the function name and one design tradeoff.</a:t>
            </a:r>
          </a:p>
          <a:p xmlns:a="http://schemas.openxmlformats.org/drawingml/2006/main">
            <a:r>
              <a:t>Off-robot task: Sketch and assemble the pair’s removable plow from its own allocated parts. After testing, label the revised feature and compare the two outcomes. Use a paper cube to reason about width.</a:t>
            </a:r>
          </a:p>
          <a:p xmlns:a="http://schemas.openxmlformats.org/drawingml/2006/main">
            <a:r>
              <a:t>Week 8 schedule: 12–24 rehearsals, 24–28 setup, 28–44 demos. Otherwise 15–27 first pair, 27–39 second 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39–49 minutes for improvement in standard lessons. A labeled design sketch, two trial results, and one sentence connecting a design change to the observed outcome. Score control, not speed.</a:t>
            </a:r>
          </a:p>
          <a:p xmlns:a="http://schemas.openxmlformats.org/drawingml/2006/main">
            <a:r>
              <a:t>Troubleshooting: Cube slips: adjust side guide width. Robot stalls: lighten the attachment and remove dragging parts. Sensor misses: relocate plow pieces that block the sensor. Reset the cube consistently.</a:t>
            </a:r>
          </a:p>
          <a:p xmlns:a="http://schemas.openxmlformats.org/drawingml/2006/main">
            <a:r>
              <a:t>Optional extension: Compare a flat bumper with side guides using three runs each if time permits. Compute successful deliveries out of attempts. Extra motors are outside the core activity.</a:t>
            </a:r>
          </a:p>
          <a:p xmlns:a="http://schemas.openxmlformats.org/drawingml/2006/main">
            <a:r>
              <a:t>If Python becomes a barrier, preserve the concept using this fallback: Create a My Block called deliver, with a start signal and the bounded marker routine from week 5. Call deliver from the start stack. If My Blocks is unfamiliar, group and label the stack, then explain the repeated task in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49–54 minutes: individual explanation. Reserve 54–60 for saving and reset. Side guides can reduce lateral escape but may increase friction or interfere with sensing. Calling deliver starts its named sequence. The function itself must be defined before the call can execute.</a:t>
            </a:r>
          </a:p>
          <a:p xmlns:a="http://schemas.openxmlformats.org/drawingml/2006/main">
            <a:r>
              <a:t>FRC teams improve mechanisms and software together through testing.</a:t>
            </a:r>
          </a:p>
          <a:p xmlns:a="http://schemas.openxmlformats.org/drawingml/2006/main">
            <a:r>
              <a:t>Keep invitations to future activities optional and parent-mediated. Do not equate club attendance with FRC membership.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03d2eaf4934a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600a5c31064de8" /><Relationship Type="http://schemas.openxmlformats.org/officeDocument/2006/relationships/slideLayout" Target="/ppt/slideLayouts/slideLayout1.xml" Id="R4e695a1ec229439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695a1ec229439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0d187382a224217" /><Relationship Type="http://schemas.openxmlformats.org/officeDocument/2006/relationships/notesSlide" Target="/ppt/notesSlides/notesSlide1.xml" Id="Rae2dc98309854cf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ffe0ffb1fdc4b16" /><Relationship Type="http://schemas.openxmlformats.org/officeDocument/2006/relationships/notesSlide" Target="/ppt/notesSlides/notesSlide2.xml" Id="Rb1d2d397594843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3679db391794eb3" /><Relationship Type="http://schemas.openxmlformats.org/officeDocument/2006/relationships/notesSlide" Target="/ppt/notesSlides/notesSlide3.xml" Id="R5e4d9f658a2a409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e1ec165496e4de6" /><Relationship Type="http://schemas.openxmlformats.org/officeDocument/2006/relationships/notesSlide" Target="/ppt/notesSlides/notesSlide4.xml" Id="R71a65218f9974d3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ce6805329dd4302" /><Relationship Type="http://schemas.openxmlformats.org/officeDocument/2006/relationships/notesSlide" Target="/ppt/notesSlides/notesSlide5.xml" Id="Ra4bd535dc94c4b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289ad1429e6424a" /><Relationship Type="http://schemas.openxmlformats.org/officeDocument/2006/relationships/notesSlide" Target="/ppt/notesSlides/notesSlide6.xml" Id="R289f7ad9f4ff4b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1912367b6244540" /><Relationship Type="http://schemas.openxmlformats.org/officeDocument/2006/relationships/notesSlide" Target="/ppt/notesSlides/notesSlide7.xml" Id="Rccf3193015a04b01"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54F95BE0-2FA6-4CA5-907B-C6CA4622034D}"/>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100" b="1">
                <a:solidFill>
                  <a:srgbClr val="FFFFFF"/>
                </a:solidFill>
                <a:latin typeface="Arial"/>
                <a:ea typeface="Arial"/>
                <a:cs typeface="Arial"/>
              </a:defRPr>
            </a:pPr>
            <a:r>
              <a:rPr sz="5100" b="1">
                <a:solidFill>
                  <a:srgbClr val="FFFFFF"/>
                </a:solidFill>
                <a:latin typeface="Arial"/>
                <a:ea typeface="Arial"/>
                <a:cs typeface="Arial"/>
              </a:rPr>
              <a:t>A rescue attachment</a:t>
            </a:r>
          </a:p>
        </p:txBody>
      </p:sp>
      <p:sp>
        <p:nvSpPr>
          <p:cNvPr id="2" name="">
            <a:extLst xmlns:a="http://schemas.openxmlformats.org/drawingml/2006/main">
              <a:ext uri="{FF2B5EF4-FFF2-40B4-BE49-F238E27FC236}">
                <a16:creationId xmlns:a16="http://schemas.microsoft.com/office/drawing/2014/main" id="{01ED5457-97CF-4F7A-B43A-3A2FB48218C5}"/>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9DDADD"/>
                </a:solidFill>
                <a:latin typeface="Arial"/>
                <a:ea typeface="Arial"/>
                <a:cs typeface="Arial"/>
              </a:defRPr>
            </a:pPr>
            <a:r>
              <a:rPr sz="2475" b="0">
                <a:solidFill>
                  <a:srgbClr val="9DDADD"/>
                </a:solidFill>
                <a:latin typeface="Arial"/>
                <a:ea typeface="Arial"/>
                <a:cs typeface="Arial"/>
              </a:rPr>
              <a:t>A small mechanical change improves delivery</a:t>
            </a:r>
          </a:p>
        </p:txBody>
      </p:sp>
      <p:sp>
        <p:nvSpPr>
          <p:cNvPr id="3" name="">
            <a:extLst xmlns:a="http://schemas.openxmlformats.org/drawingml/2006/main">
              <a:ext uri="{FF2B5EF4-FFF2-40B4-BE49-F238E27FC236}">
                <a16:creationId xmlns:a16="http://schemas.microsoft.com/office/drawing/2014/main" id="{CE7F5060-1983-41CC-A392-27C539E460A8}"/>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9D4DC"/>
                </a:solidFill>
                <a:latin typeface="Arial"/>
                <a:ea typeface="Arial"/>
                <a:cs typeface="Arial"/>
              </a:defRPr>
            </a:pPr>
            <a:r>
              <a:rPr sz="1425" b="0">
                <a:solidFill>
                  <a:srgbClr val="B9D4DC"/>
                </a:solidFill>
                <a:latin typeface="Arial"/>
                <a:ea typeface="Arial"/>
                <a:cs typeface="Arial"/>
              </a:rPr>
              <a:t>Week 6 · MechaRAMS at the YMCA</a:t>
            </a:r>
          </a:p>
        </p:txBody>
      </p:sp>
    </p:spTree>
    <p:extLst>
      <p:ext uri="{BB962C8B-B14F-4D97-AF65-F5344CB8AC3E}">
        <p14:creationId xmlns:p14="http://schemas.microsoft.com/office/powerpoint/2010/main" val="2073686416"/>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25AD8FA-3A0C-48AC-BDAF-DCF4F252257C}"/>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62CECDD6-80CD-463F-B469-520DE6F4B89B}"/>
              </a:ext>
            </a:extLst>
          </p:cNvPr>
          <p:cNvSpPr>
            <a:spLocks xmlns:a="http://schemas.openxmlformats.org/drawingml/2006/main" noGrp="1"/>
          </p:cNvSpPr>
          <p:nvPr/>
        </p:nvSpPr>
        <p:spPr>
          <a:xfrm xmlns:a="http://schemas.openxmlformats.org/drawingml/2006/main">
            <a:off x="762000" y="19526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044"/>
                </a:solidFill>
                <a:latin typeface="Arial"/>
                <a:ea typeface="Arial"/>
                <a:cs typeface="Arial"/>
              </a:defRPr>
            </a:pPr>
            <a:r>
              <a:rPr sz="2550" b="0">
                <a:solidFill>
                  <a:srgbClr val="173044"/>
                </a:solidFill>
                <a:latin typeface="Arial"/>
                <a:ea typeface="Arial"/>
                <a:cs typeface="Arial"/>
              </a:rPr>
              <a:t>A sketch and a removable plow</a:t>
            </a:r>
          </a:p>
        </p:txBody>
      </p:sp>
      <p:sp>
        <p:nvSpPr>
          <p:cNvPr id="3" name="">
            <a:extLst xmlns:a="http://schemas.openxmlformats.org/drawingml/2006/main">
              <a:ext uri="{FF2B5EF4-FFF2-40B4-BE49-F238E27FC236}">
                <a16:creationId xmlns:a16="http://schemas.microsoft.com/office/drawing/2014/main" id="{6552638C-517D-41B2-B8F2-5CD9663B3574}"/>
              </a:ext>
            </a:extLst>
          </p:cNvPr>
          <p:cNvSpPr>
            <a:spLocks xmlns:a="http://schemas.openxmlformats.org/drawingml/2006/main" noGrp="1"/>
          </p:cNvSpPr>
          <p:nvPr/>
        </p:nvSpPr>
        <p:spPr>
          <a:xfrm xmlns:a="http://schemas.openxmlformats.org/drawingml/2006/main">
            <a:off x="762000" y="30575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044"/>
                </a:solidFill>
                <a:latin typeface="Arial"/>
                <a:ea typeface="Arial"/>
                <a:cs typeface="Arial"/>
              </a:defRPr>
            </a:pPr>
            <a:r>
              <a:rPr sz="2550" b="0">
                <a:solidFill>
                  <a:srgbClr val="173044"/>
                </a:solidFill>
                <a:latin typeface="Arial"/>
                <a:ea typeface="Arial"/>
                <a:cs typeface="Arial"/>
              </a:rPr>
              <a:t>Two tests with one design change</a:t>
            </a:r>
          </a:p>
        </p:txBody>
      </p:sp>
      <p:sp>
        <p:nvSpPr>
          <p:cNvPr id="4" name="">
            <a:extLst xmlns:a="http://schemas.openxmlformats.org/drawingml/2006/main">
              <a:ext uri="{FF2B5EF4-FFF2-40B4-BE49-F238E27FC236}">
                <a16:creationId xmlns:a16="http://schemas.microsoft.com/office/drawing/2014/main" id="{A46F6ABA-906D-48B8-BB11-DCF03C74BA70}"/>
              </a:ext>
            </a:extLst>
          </p:cNvPr>
          <p:cNvSpPr>
            <a:spLocks xmlns:a="http://schemas.openxmlformats.org/drawingml/2006/main" noGrp="1"/>
          </p:cNvSpPr>
          <p:nvPr/>
        </p:nvSpPr>
        <p:spPr>
          <a:xfrm xmlns:a="http://schemas.openxmlformats.org/drawingml/2006/main">
            <a:off x="762000" y="41624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044"/>
                </a:solidFill>
                <a:latin typeface="Arial"/>
                <a:ea typeface="Arial"/>
                <a:cs typeface="Arial"/>
              </a:defRPr>
            </a:pPr>
            <a:r>
              <a:rPr sz="2550" b="0">
                <a:solidFill>
                  <a:srgbClr val="173044"/>
                </a:solidFill>
                <a:latin typeface="Arial"/>
                <a:ea typeface="Arial"/>
                <a:cs typeface="Arial"/>
              </a:rPr>
              <a:t>An explanation of your deliver function</a:t>
            </a:r>
          </a:p>
        </p:txBody>
      </p:sp>
    </p:spTree>
    <p:extLst>
      <p:ext uri="{BB962C8B-B14F-4D97-AF65-F5344CB8AC3E}">
        <p14:creationId xmlns:p14="http://schemas.microsoft.com/office/powerpoint/2010/main" val="1663698001"/>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AA470663-8FE4-4292-BDA4-9A0CE0979491}"/>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Engineering design and reusable functions</a:t>
            </a:r>
          </a:p>
        </p:txBody>
      </p:sp>
      <p:sp>
        <p:nvSpPr>
          <p:cNvPr id="2" name="">
            <a:extLst xmlns:a="http://schemas.openxmlformats.org/drawingml/2006/main">
              <a:ext uri="{FF2B5EF4-FFF2-40B4-BE49-F238E27FC236}">
                <a16:creationId xmlns:a16="http://schemas.microsoft.com/office/drawing/2014/main" id="{4C11CDDA-A339-47DD-952C-35985BBFFAFC}"/>
              </a:ext>
            </a:extLst>
          </p:cNvPr>
          <p:cNvSpPr>
            <a:spLocks xmlns:a="http://schemas.openxmlformats.org/drawingml/2006/main" noGrp="1"/>
          </p:cNvSpPr>
          <p:nvPr/>
        </p:nvSpPr>
        <p:spPr>
          <a:xfrm xmlns:a="http://schemas.openxmlformats.org/drawingml/2006/main">
            <a:off x="781050" y="1952625"/>
            <a:ext cx="10572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Consolas"/>
                <a:ea typeface="Consolas"/>
                <a:cs typeface="Consolas"/>
              </a:defRPr>
            </a:pPr>
            <a:r>
              <a:rPr sz="2175" b="0">
                <a:solidFill>
                  <a:srgbClr val="FFFFFF"/>
                </a:solidFill>
                <a:latin typeface="Consolas"/>
                <a:ea typeface="Consolas"/>
                <a:cs typeface="Consolas"/>
              </a:rPr>
              <a:t>async def deliver():</a:t>
            </a:r>
          </a:p>
          <a:p xmlns:a="http://schemas.openxmlformats.org/drawingml/2006/main">
            <a:pPr>
              <a:defRPr sz="2175" b="0">
                <a:solidFill>
                  <a:srgbClr val="FFFFFF"/>
                </a:solidFill>
                <a:latin typeface="Consolas"/>
                <a:ea typeface="Consolas"/>
                <a:cs typeface="Consolas"/>
              </a:defRPr>
            </a:pPr>
            <a:r>
              <a:rPr sz="2175" b="0">
                <a:solidFill>
                  <a:srgbClr val="FFFFFF"/>
                </a:solidFill>
                <a:latin typeface="Consolas"/>
                <a:ea typeface="Consolas"/>
                <a:cs typeface="Consolas"/>
              </a:rPr>
              <a:t>    await signal("R")</a:t>
            </a:r>
          </a:p>
          <a:p xmlns:a="http://schemas.openxmlformats.org/drawingml/2006/main">
            <a:pPr>
              <a:defRPr sz="2175" b="0">
                <a:solidFill>
                  <a:srgbClr val="FFFFFF"/>
                </a:solidFill>
                <a:latin typeface="Consolas"/>
                <a:ea typeface="Consolas"/>
                <a:cs typeface="Consolas"/>
              </a:defRPr>
            </a:pPr>
            <a:r>
              <a:rPr sz="2175" b="0">
                <a:solidFill>
                  <a:srgbClr val="FFFFFF"/>
                </a:solidFill>
                <a:latin typeface="Consolas"/>
                <a:ea typeface="Consolas"/>
                <a:cs typeface="Consolas"/>
              </a:rPr>
              <a:t>    result = await seek_marker(threshold)</a:t>
            </a:r>
          </a:p>
          <a:p xmlns:a="http://schemas.openxmlformats.org/drawingml/2006/main">
            <a:pPr>
              <a:defRPr sz="2175" b="0">
                <a:solidFill>
                  <a:srgbClr val="FFFFFF"/>
                </a:solidFill>
                <a:latin typeface="Consolas"/>
                <a:ea typeface="Consolas"/>
                <a:cs typeface="Consolas"/>
              </a:defRPr>
            </a:pPr>
            <a:r>
              <a:rPr sz="2175" b="0">
                <a:solidFill>
                  <a:srgbClr val="FFFFFF"/>
                </a:solidFill>
                <a:latin typeface="Consolas"/>
                <a:ea typeface="Consolas"/>
                <a:cs typeface="Consolas"/>
              </a:rPr>
              <a:t>    print(result)</a:t>
            </a:r>
          </a:p>
          <a:p xmlns:a="http://schemas.openxmlformats.org/drawingml/2006/main">
            <a:r>
              <a:t/>
            </a:r>
          </a:p>
          <a:p xmlns:a="http://schemas.openxmlformats.org/drawingml/2006/main">
            <a:pPr>
              <a:defRPr sz="2175" b="0">
                <a:solidFill>
                  <a:srgbClr val="FFFFFF"/>
                </a:solidFill>
                <a:latin typeface="Consolas"/>
                <a:ea typeface="Consolas"/>
                <a:cs typeface="Consolas"/>
              </a:defRPr>
            </a:pPr>
            <a:r>
              <a:rPr sz="2175" b="0">
                <a:solidFill>
                  <a:srgbClr val="FFFFFF"/>
                </a:solidFill>
                <a:latin typeface="Consolas"/>
                <a:ea typeface="Consolas"/>
                <a:cs typeface="Consolas"/>
              </a:rPr>
              <a:t># inside student_recipe</a:t>
            </a:r>
          </a:p>
          <a:p xmlns:a="http://schemas.openxmlformats.org/drawingml/2006/main">
            <a:pPr>
              <a:defRPr sz="2175" b="0">
                <a:solidFill>
                  <a:srgbClr val="FFFFFF"/>
                </a:solidFill>
                <a:latin typeface="Consolas"/>
                <a:ea typeface="Consolas"/>
                <a:cs typeface="Consolas"/>
              </a:defRPr>
            </a:pPr>
            <a:r>
              <a:rPr sz="2175" b="0">
                <a:solidFill>
                  <a:srgbClr val="FFFFFF"/>
                </a:solidFill>
                <a:latin typeface="Consolas"/>
                <a:ea typeface="Consolas"/>
                <a:cs typeface="Consolas"/>
              </a:rPr>
              <a:t>await deliver()</a:t>
            </a:r>
          </a:p>
        </p:txBody>
      </p:sp>
      <p:sp>
        <p:nvSpPr>
          <p:cNvPr id="3" name="">
            <a:extLst xmlns:a="http://schemas.openxmlformats.org/drawingml/2006/main">
              <a:ext uri="{FF2B5EF4-FFF2-40B4-BE49-F238E27FC236}">
                <a16:creationId xmlns:a16="http://schemas.microsoft.com/office/drawing/2014/main" id="{1CB9C5F8-457F-4312-A913-D15FDB27C1FB}"/>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9D4DC"/>
                </a:solidFill>
                <a:latin typeface="Arial"/>
                <a:ea typeface="Arial"/>
                <a:cs typeface="Arial"/>
              </a:defRPr>
            </a:pPr>
            <a:r>
              <a:rPr sz="1425" b="0">
                <a:solidFill>
                  <a:srgbClr val="B9D4DC"/>
                </a:solidFill>
                <a:latin typeface="Arial"/>
                <a:ea typeface="Arial"/>
                <a:cs typeface="Arial"/>
              </a:rPr>
              <a:t>Reading fragment from a complete supplied Python project</a:t>
            </a:r>
          </a:p>
        </p:txBody>
      </p:sp>
    </p:spTree>
    <p:extLst>
      <p:ext uri="{BB962C8B-B14F-4D97-AF65-F5344CB8AC3E}">
        <p14:creationId xmlns:p14="http://schemas.microsoft.com/office/powerpoint/2010/main" val="1368588177"/>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300559-68E9-47FD-AF2F-660933EF523E}"/>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A prediction before the run</a:t>
            </a:r>
          </a:p>
        </p:txBody>
      </p:sp>
      <p:sp>
        <p:nvSpPr>
          <p:cNvPr id="2" name="">
            <a:extLst xmlns:a="http://schemas.openxmlformats.org/drawingml/2006/main">
              <a:ext uri="{FF2B5EF4-FFF2-40B4-BE49-F238E27FC236}">
                <a16:creationId xmlns:a16="http://schemas.microsoft.com/office/drawing/2014/main" id="{18814720-3716-4F15-9AC1-A3A4B3DF14F4}"/>
              </a:ext>
            </a:extLst>
          </p:cNvPr>
          <p:cNvSpPr>
            <a:spLocks xmlns:a="http://schemas.openxmlformats.org/drawingml/2006/main" noGrp="1"/>
          </p:cNvSpPr>
          <p:nvPr/>
        </p:nvSpPr>
        <p:spPr>
          <a:xfrm xmlns:a="http://schemas.openxmlformats.org/drawingml/2006/main">
            <a:off x="762000" y="1952625"/>
            <a:ext cx="10477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044"/>
                </a:solidFill>
                <a:latin typeface="Arial"/>
                <a:ea typeface="Arial"/>
                <a:cs typeface="Arial"/>
              </a:defRPr>
            </a:pPr>
            <a:r>
              <a:rPr sz="2625" b="0">
                <a:solidFill>
                  <a:srgbClr val="173044"/>
                </a:solidFill>
                <a:latin typeface="Arial"/>
                <a:ea typeface="Arial"/>
                <a:cs typeface="Arial"/>
              </a:rPr>
              <a:t>How could side guides change the cube’s path?</a:t>
            </a:r>
          </a:p>
        </p:txBody>
      </p:sp>
      <p:sp>
        <p:nvSpPr>
          <p:cNvPr id="3" name="">
            <a:extLst xmlns:a="http://schemas.openxmlformats.org/drawingml/2006/main">
              <a:ext uri="{FF2B5EF4-FFF2-40B4-BE49-F238E27FC236}">
                <a16:creationId xmlns:a16="http://schemas.microsoft.com/office/drawing/2014/main" id="{22C11249-E1CE-4310-92DD-1D133F979EC8}"/>
              </a:ext>
            </a:extLst>
          </p:cNvPr>
          <p:cNvSpPr>
            <a:spLocks xmlns:a="http://schemas.openxmlformats.org/drawingml/2006/main" noGrp="1"/>
          </p:cNvSpPr>
          <p:nvPr/>
        </p:nvSpPr>
        <p:spPr>
          <a:xfrm xmlns:a="http://schemas.openxmlformats.org/drawingml/2006/main">
            <a:off x="762000" y="3476625"/>
            <a:ext cx="10477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044"/>
                </a:solidFill>
                <a:latin typeface="Arial"/>
                <a:ea typeface="Arial"/>
                <a:cs typeface="Arial"/>
              </a:defRPr>
            </a:pPr>
            <a:r>
              <a:rPr sz="2625" b="0">
                <a:solidFill>
                  <a:srgbClr val="173044"/>
                </a:solidFill>
                <a:latin typeface="Arial"/>
                <a:ea typeface="Arial"/>
                <a:cs typeface="Arial"/>
              </a:rPr>
              <a:t>What will you keep unchanged to compare designs?</a:t>
            </a:r>
          </a:p>
        </p:txBody>
      </p:sp>
      <p:sp>
        <p:nvSpPr>
          <p:cNvPr id="4" name="">
            <a:extLst xmlns:a="http://schemas.openxmlformats.org/drawingml/2006/main">
              <a:ext uri="{FF2B5EF4-FFF2-40B4-BE49-F238E27FC236}">
                <a16:creationId xmlns:a16="http://schemas.microsoft.com/office/drawing/2014/main" id="{F57ABFDD-FFAB-4CE6-BABF-B97A7FDFA49E}"/>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36A77"/>
                </a:solidFill>
                <a:latin typeface="Arial"/>
                <a:ea typeface="Arial"/>
                <a:cs typeface="Arial"/>
              </a:defRPr>
            </a:pPr>
            <a:r>
              <a:rPr sz="1425" b="0">
                <a:solidFill>
                  <a:srgbClr val="536A77"/>
                </a:solidFill>
                <a:latin typeface="Arial"/>
                <a:ea typeface="Arial"/>
                <a:cs typeface="Arial"/>
              </a:rPr>
              <a:t>Both partners explain a prediction before anyone presses Run.</a:t>
            </a:r>
          </a:p>
        </p:txBody>
      </p:sp>
    </p:spTree>
    <p:extLst>
      <p:ext uri="{BB962C8B-B14F-4D97-AF65-F5344CB8AC3E}">
        <p14:creationId xmlns:p14="http://schemas.microsoft.com/office/powerpoint/2010/main" val="1944636289"/>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876C169-33F8-46C5-BD6E-0C440DED621A}"/>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Your work with a partner</a:t>
            </a:r>
          </a:p>
        </p:txBody>
      </p:sp>
      <p:sp>
        <p:nvSpPr>
          <p:cNvPr id="2" name="">
            <a:extLst xmlns:a="http://schemas.openxmlformats.org/drawingml/2006/main">
              <a:ext uri="{FF2B5EF4-FFF2-40B4-BE49-F238E27FC236}">
                <a16:creationId xmlns:a16="http://schemas.microsoft.com/office/drawing/2014/main" id="{1A30BB3D-9E8D-4964-BF11-3CAB6EBA2F1E}"/>
              </a:ext>
            </a:extLst>
          </p:cNvPr>
          <p:cNvSpPr>
            <a:spLocks xmlns:a="http://schemas.openxmlformats.org/drawingml/2006/main" noGrp="1"/>
          </p:cNvSpPr>
          <p:nvPr/>
        </p:nvSpPr>
        <p:spPr>
          <a:xfrm xmlns:a="http://schemas.openxmlformats.org/drawingml/2006/main">
            <a:off x="762000" y="19526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044"/>
                </a:solidFill>
                <a:latin typeface="Arial"/>
                <a:ea typeface="Arial"/>
                <a:cs typeface="Arial"/>
              </a:defRPr>
            </a:pPr>
            <a:r>
              <a:rPr sz="2175" b="0">
                <a:solidFill>
                  <a:srgbClr val="173044"/>
                </a:solidFill>
                <a:latin typeface="Arial"/>
                <a:ea typeface="Arial"/>
                <a:cs typeface="Arial"/>
              </a:rPr>
              <a:t>Driver: edit and start after the lane check.</a:t>
            </a:r>
          </a:p>
        </p:txBody>
      </p:sp>
      <p:sp>
        <p:nvSpPr>
          <p:cNvPr id="3" name="">
            <a:extLst xmlns:a="http://schemas.openxmlformats.org/drawingml/2006/main">
              <a:ext uri="{FF2B5EF4-FFF2-40B4-BE49-F238E27FC236}">
                <a16:creationId xmlns:a16="http://schemas.microsoft.com/office/drawing/2014/main" id="{65A25EA0-118C-47B5-86BC-9DFABE1DA6BB}"/>
              </a:ext>
            </a:extLst>
          </p:cNvPr>
          <p:cNvSpPr>
            <a:spLocks xmlns:a="http://schemas.openxmlformats.org/drawingml/2006/main" noGrp="1"/>
          </p:cNvSpPr>
          <p:nvPr/>
        </p:nvSpPr>
        <p:spPr>
          <a:xfrm xmlns:a="http://schemas.openxmlformats.org/drawingml/2006/main">
            <a:off x="762000" y="28860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044"/>
                </a:solidFill>
                <a:latin typeface="Arial"/>
                <a:ea typeface="Arial"/>
                <a:cs typeface="Arial"/>
              </a:defRPr>
            </a:pPr>
            <a:r>
              <a:rPr sz="2175" b="0">
                <a:solidFill>
                  <a:srgbClr val="173044"/>
                </a:solidFill>
                <a:latin typeface="Arial"/>
                <a:ea typeface="Arial"/>
                <a:cs typeface="Arial"/>
              </a:rPr>
              <a:t>Navigator: predict, check, and record.</a:t>
            </a:r>
          </a:p>
        </p:txBody>
      </p:sp>
      <p:sp>
        <p:nvSpPr>
          <p:cNvPr id="4" name="">
            <a:extLst xmlns:a="http://schemas.openxmlformats.org/drawingml/2006/main">
              <a:ext uri="{FF2B5EF4-FFF2-40B4-BE49-F238E27FC236}">
                <a16:creationId xmlns:a16="http://schemas.microsoft.com/office/drawing/2014/main" id="{6953F6F1-EEF4-4374-91EE-3545ED75289A}"/>
              </a:ext>
            </a:extLst>
          </p:cNvPr>
          <p:cNvSpPr>
            <a:spLocks xmlns:a="http://schemas.openxmlformats.org/drawingml/2006/main" noGrp="1"/>
          </p:cNvSpPr>
          <p:nvPr/>
        </p:nvSpPr>
        <p:spPr>
          <a:xfrm xmlns:a="http://schemas.openxmlformats.org/drawingml/2006/main">
            <a:off x="762000" y="38195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044"/>
                </a:solidFill>
                <a:latin typeface="Arial"/>
                <a:ea typeface="Arial"/>
                <a:cs typeface="Arial"/>
              </a:defRPr>
            </a:pPr>
            <a:r>
              <a:rPr sz="2175" b="0">
                <a:solidFill>
                  <a:srgbClr val="173044"/>
                </a:solidFill>
                <a:latin typeface="Arial"/>
                <a:ea typeface="Arial"/>
                <a:cs typeface="Arial"/>
              </a:rPr>
              <a:t>Swap roles halfway through your robot turn.</a:t>
            </a:r>
          </a:p>
        </p:txBody>
      </p:sp>
      <p:sp>
        <p:nvSpPr>
          <p:cNvPr id="5" name="">
            <a:extLst xmlns:a="http://schemas.openxmlformats.org/drawingml/2006/main">
              <a:ext uri="{FF2B5EF4-FFF2-40B4-BE49-F238E27FC236}">
                <a16:creationId xmlns:a16="http://schemas.microsoft.com/office/drawing/2014/main" id="{723CD40B-C385-416C-B3E6-2974A59D30B4}"/>
              </a:ext>
            </a:extLst>
          </p:cNvPr>
          <p:cNvSpPr>
            <a:spLocks xmlns:a="http://schemas.openxmlformats.org/drawingml/2006/main" noGrp="1"/>
          </p:cNvSpPr>
          <p:nvPr/>
        </p:nvSpPr>
        <p:spPr>
          <a:xfrm xmlns:a="http://schemas.openxmlformats.org/drawingml/2006/main">
            <a:off x="762000" y="47529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044"/>
                </a:solidFill>
                <a:latin typeface="Arial"/>
                <a:ea typeface="Arial"/>
                <a:cs typeface="Arial"/>
              </a:defRPr>
            </a:pPr>
            <a:r>
              <a:rPr sz="2175" b="0">
                <a:solidFill>
                  <a:srgbClr val="173044"/>
                </a:solidFill>
                <a:latin typeface="Arial"/>
                <a:ea typeface="Arial"/>
                <a:cs typeface="Arial"/>
              </a:rPr>
              <a:t>Away from the robot: complete the worksheet task.</a:t>
            </a:r>
          </a:p>
        </p:txBody>
      </p:sp>
    </p:spTree>
    <p:extLst>
      <p:ext uri="{BB962C8B-B14F-4D97-AF65-F5344CB8AC3E}">
        <p14:creationId xmlns:p14="http://schemas.microsoft.com/office/powerpoint/2010/main" val="784604953"/>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6FF8FEA-E3B1-417C-8399-AAC4455DF99F}"/>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899ED481-D77F-46AB-BAD9-58129CB100FE}"/>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1A94D31F-9AC8-49B5-B43C-B2BC754BC4FD}"/>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0ACD0CB4-22A4-4D7B-9601-97179DEC1027}"/>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07917CDE-CF46-4791-B284-EFC91C76E7A3}"/>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2098187071"/>
      </p:ext>
    </p:extLst>
  </p:cSld>
</p:sld>
</file>

<file path=ppt/slides/slide7.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23B7339-7519-4185-8764-F8B330519E8C}"/>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73044"/>
                </a:solidFill>
                <a:latin typeface="Arial"/>
                <a:ea typeface="Arial"/>
                <a:cs typeface="Arial"/>
              </a:defRPr>
            </a:pPr>
            <a:r>
              <a:rPr sz="3600" b="1">
                <a:solidFill>
                  <a:srgbClr val="173044"/>
                </a:solidFill>
                <a:latin typeface="Arial"/>
                <a:ea typeface="Arial"/>
                <a:cs typeface="Arial"/>
              </a:rPr>
              <a:t>What you can explain now</a:t>
            </a:r>
          </a:p>
        </p:txBody>
      </p:sp>
      <p:sp>
        <p:nvSpPr>
          <p:cNvPr id="2" name="">
            <a:extLst xmlns:a="http://schemas.openxmlformats.org/drawingml/2006/main">
              <a:ext uri="{FF2B5EF4-FFF2-40B4-BE49-F238E27FC236}">
                <a16:creationId xmlns:a16="http://schemas.microsoft.com/office/drawing/2014/main" id="{63736B2D-661E-4C91-8522-FB9A718E45A9}"/>
              </a:ext>
            </a:extLst>
          </p:cNvPr>
          <p:cNvSpPr>
            <a:spLocks xmlns:a="http://schemas.openxmlformats.org/drawingml/2006/main" noGrp="1"/>
          </p:cNvSpPr>
          <p:nvPr/>
        </p:nvSpPr>
        <p:spPr>
          <a:xfrm xmlns:a="http://schemas.openxmlformats.org/drawingml/2006/main">
            <a:off x="762000" y="1857375"/>
            <a:ext cx="10477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173044"/>
                </a:solidFill>
                <a:latin typeface="Arial"/>
                <a:ea typeface="Arial"/>
                <a:cs typeface="Arial"/>
              </a:defRPr>
            </a:pPr>
            <a:r>
              <a:rPr sz="2775" b="0">
                <a:solidFill>
                  <a:srgbClr val="173044"/>
                </a:solidFill>
                <a:latin typeface="Arial"/>
                <a:ea typeface="Arial"/>
                <a:cs typeface="Arial"/>
              </a:rPr>
              <a:t>What did your attachment change? What does your deliver function do?</a:t>
            </a:r>
          </a:p>
        </p:txBody>
      </p:sp>
      <p:sp>
        <p:nvSpPr>
          <p:cNvPr id="3" name="">
            <a:extLst xmlns:a="http://schemas.openxmlformats.org/drawingml/2006/main">
              <a:ext uri="{FF2B5EF4-FFF2-40B4-BE49-F238E27FC236}">
                <a16:creationId xmlns:a16="http://schemas.microsoft.com/office/drawing/2014/main" id="{BCAFE208-062D-4692-AA42-D6DDF5914BC7}"/>
              </a:ext>
            </a:extLst>
          </p:cNvPr>
          <p:cNvSpPr>
            <a:spLocks xmlns:a="http://schemas.openxmlformats.org/drawingml/2006/main" noGrp="1"/>
          </p:cNvSpPr>
          <p:nvPr/>
        </p:nvSpPr>
        <p:spPr>
          <a:xfrm xmlns:a="http://schemas.openxmlformats.org/drawingml/2006/main">
            <a:off x="762000" y="46291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006E75"/>
                </a:solidFill>
                <a:latin typeface="Arial"/>
                <a:ea typeface="Arial"/>
                <a:cs typeface="Arial"/>
              </a:defRPr>
            </a:pPr>
            <a:r>
              <a:rPr sz="2175" b="0">
                <a:solidFill>
                  <a:srgbClr val="006E75"/>
                </a:solidFill>
                <a:latin typeface="Arial"/>
                <a:ea typeface="Arial"/>
                <a:cs typeface="Arial"/>
              </a:rPr>
              <a:t>Save your project. Reset the robot and parts for the next pair.</a:t>
            </a:r>
          </a:p>
        </p:txBody>
      </p:sp>
      <p:sp>
        <p:nvSpPr>
          <p:cNvPr id="4" name="">
            <a:extLst xmlns:a="http://schemas.openxmlformats.org/drawingml/2006/main">
              <a:ext uri="{FF2B5EF4-FFF2-40B4-BE49-F238E27FC236}">
                <a16:creationId xmlns:a16="http://schemas.microsoft.com/office/drawing/2014/main" id="{DE74216E-7982-4B84-B434-888A2A16764D}"/>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36A77"/>
                </a:solidFill>
                <a:latin typeface="Arial"/>
                <a:ea typeface="Arial"/>
                <a:cs typeface="Arial"/>
              </a:defRPr>
            </a:pPr>
            <a:r>
              <a:rPr sz="1425" b="0">
                <a:solidFill>
                  <a:srgbClr val="536A77"/>
                </a:solidFill>
                <a:latin typeface="Arial"/>
                <a:ea typeface="Arial"/>
                <a:cs typeface="Arial"/>
              </a:rPr>
              <a:t>FRC teams improve mechanisms and software together through testing.</a:t>
            </a:r>
          </a:p>
        </p:txBody>
      </p:sp>
    </p:spTree>
    <p:extLst>
      <p:ext uri="{BB962C8B-B14F-4D97-AF65-F5344CB8AC3E}">
        <p14:creationId xmlns:p14="http://schemas.microsoft.com/office/powerpoint/2010/main" val="19122604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2026-10-02T02:49:40.2460000Z</dcterms:created>
  <dcterms:modified xsi:type="dcterms:W3CDTF">2026-10-02T02:49:40.2460000Z</dcterms:modified>
</coreProperties>
</file>