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0d2a5b346841d5" /><Relationship Type="http://schemas.openxmlformats.org/officeDocument/2006/relationships/extended-properties" Target="/docProps/app.xml" Id="R3b91220c1f4b4abc" /><Relationship Type="http://schemas.openxmlformats.org/officeDocument/2006/relationships/officeDocument" Target="/ppt/presentation.xml" Id="R931f3c744fea40b3" /></Relationships>
</file>

<file path=ppt/presentation.xml><?xml version="1.0" encoding="utf-8"?>
<p:presentation xmlns:p="http://schemas.openxmlformats.org/presentationml/2006/main">
  <p:sldMasterIdLst>
    <p:sldMasterId xmlns:r="http://schemas.openxmlformats.org/officeDocument/2006/relationships" id="2147483648" r:id="R956e662d62f44656"/>
  </p:sldMasterIdLst>
  <p:notesMasterIdLst>
    <p:notesMasterId xmlns:r="http://schemas.openxmlformats.org/officeDocument/2006/relationships" r:id="R2fe4b178f3b44748"/>
  </p:notesMasterIdLst>
  <p:sldIdLst>
    <p:sldId xmlns:r="http://schemas.openxmlformats.org/officeDocument/2006/relationships" id="256" r:id="R43ed4f6208d84eb1"/>
    <p:sldId xmlns:r="http://schemas.openxmlformats.org/officeDocument/2006/relationships" id="257" r:id="R8f392fbf8f9d4463"/>
    <p:sldId xmlns:r="http://schemas.openxmlformats.org/officeDocument/2006/relationships" id="258" r:id="Rbd1fa8cfc4f94ded"/>
    <p:sldId xmlns:r="http://schemas.openxmlformats.org/officeDocument/2006/relationships" id="259" r:id="R81ad9d8feef74f8c"/>
    <p:sldId xmlns:r="http://schemas.openxmlformats.org/officeDocument/2006/relationships" id="260" r:id="Ra5176564840f4a21"/>
    <p:sldId xmlns:r="http://schemas.openxmlformats.org/officeDocument/2006/relationships" id="261" r:id="R59f3fabff4c243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4e1b700052449d" /><Relationship Type="http://schemas.openxmlformats.org/officeDocument/2006/relationships/slideMaster" Target="/ppt/slideMasters/slideMaster1.xml" Id="R956e662d62f44656" /><Relationship Type="http://schemas.openxmlformats.org/officeDocument/2006/relationships/notesMaster" Target="/ppt/notesMasters/notesMaster1.xml" Id="R2fe4b178f3b44748" /><Relationship Type="http://schemas.openxmlformats.org/officeDocument/2006/relationships/presProps" Target="/ppt/presProps.xml" Id="R55d88dfa22984edc" /><Relationship Type="http://schemas.openxmlformats.org/officeDocument/2006/relationships/tableStyles" Target="/ppt/tableStyles.xml" Id="R0d0d0038e28d43f6" /><Relationship Type="http://schemas.openxmlformats.org/officeDocument/2006/relationships/slide" Target="/ppt/slides/slide1.xml" Id="R43ed4f6208d84eb1" /><Relationship Type="http://schemas.openxmlformats.org/officeDocument/2006/relationships/slide" Target="/ppt/slides/slide2.xml" Id="R8f392fbf8f9d4463" /><Relationship Type="http://schemas.openxmlformats.org/officeDocument/2006/relationships/slide" Target="/ppt/slides/slide3.xml" Id="Rbd1fa8cfc4f94ded" /><Relationship Type="http://schemas.openxmlformats.org/officeDocument/2006/relationships/slide" Target="/ppt/slides/slide4.xml" Id="R81ad9d8feef74f8c" /><Relationship Type="http://schemas.openxmlformats.org/officeDocument/2006/relationships/slide" Target="/ppt/slides/slide5.xml" Id="Ra5176564840f4a21" /><Relationship Type="http://schemas.openxmlformats.org/officeDocument/2006/relationships/slide" Target="/ppt/slides/slide6.xml" Id="R59f3fabff4c243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4f563a4c4b46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61654726304a48" /><Relationship Type="http://schemas.openxmlformats.org/officeDocument/2006/relationships/notesMaster" Target="/ppt/notesMasters/notesMaster1.xml" Id="R1b6920f8982f49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75caefc9d24880" /><Relationship Type="http://schemas.openxmlformats.org/officeDocument/2006/relationships/notesMaster" Target="/ppt/notesMasters/notesMaster1.xml" Id="R56d9f172d86c4f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07328db3cc4e91" /><Relationship Type="http://schemas.openxmlformats.org/officeDocument/2006/relationships/notesMaster" Target="/ppt/notesMasters/notesMaster1.xml" Id="Rf7db38e4731343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b0dc32ee44d9c" /><Relationship Type="http://schemas.openxmlformats.org/officeDocument/2006/relationships/notesMaster" Target="/ppt/notesMasters/notesMaster1.xml" Id="R05e9f9ece93547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e344aedef1483a" /><Relationship Type="http://schemas.openxmlformats.org/officeDocument/2006/relationships/notesMaster" Target="/ppt/notesMasters/notesMaster1.xml" Id="R2cc75550f6fd44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c6675ebc934549" /><Relationship Type="http://schemas.openxmlformats.org/officeDocument/2006/relationships/notesMaster" Target="/ppt/notesMasters/notesMaster1.xml" Id="Re6d4297aa6a541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a:t>
            </a:r>
          </a:p>
          <a:p xmlns:a="http://schemas.openxmlformats.org/drawingml/2006/main">
            <a:r>
              <a:t/>
            </a:r>
          </a:p>
          <a:p xmlns:a="http://schemas.openxmlformats.org/drawingml/2006/main">
            <a:r>
              <a:t>Week 6 A rescue attachment</a:t>
            </a:r>
          </a:p>
          <a:p xmlns:a="http://schemas.openxmlformats.org/drawingml/2006/main">
            <a:r>
              <a:t/>
            </a:r>
          </a:p>
          <a:p xmlns:a="http://schemas.openxmlformats.org/drawingml/2006/main">
            <a:r>
              <a:t>Speaker notes for the six-slide class presentation. Use the slides as brief prompts and leave time for children to build, operate and explain. This is a robotics session with a small prepared Python recipe.</a:t>
            </a:r>
          </a:p>
          <a:p xmlns:a="http://schemas.openxmlformats.org/drawingml/2006/main">
            <a:r>
              <a:t/>
            </a:r>
          </a:p>
          <a:p xmlns:a="http://schemas.openxmlformats.org/drawingml/2006/main">
            <a:r>
              <a:t>Class setup</a:t>
            </a:r>
          </a:p>
          <a:p xmlns:a="http://schemas.openxmlformats.org/drawingml/2006/main">
            <a:r>
              <a:t/>
            </a:r>
          </a:p>
          <a:p xmlns:a="http://schemas.openxmlformats.org/drawingml/2006/main">
            <a:r>
              <a:t>12 children in grades 5–6 form four teams of three: T1/T2 share Kit A and T3/T4 share Kit B. Four student instructors cover two robot stations and two build tables; a fifth or sixth can float. The adult lead oversees the room and YMCA procedures. Bring four available laptops: two remain connected to robots and two show build references. Printed build cards make the build activity work with two laptops too.</a:t>
            </a:r>
          </a:p>
          <a:p xmlns:a="http://schemas.openxmlformats.org/drawingml/2006/main">
            <a:r>
              <a:t/>
            </a:r>
          </a:p>
          <a:p xmlns:a="http://schemas.openxmlformats.org/drawingml/2006/main">
            <a:r>
              <a:t>Learning goal Each child contributes a design idea and compares two attachment trials while using an existing Python function.</a:t>
            </a:r>
          </a:p>
          <a:p xmlns:a="http://schemas.openxmlformats.org/drawingml/2006/main">
            <a:r>
              <a:t/>
            </a:r>
          </a:p>
          <a:p xmlns:a="http://schemas.openxmlformats.org/drawingml/2006/main">
            <a:r>
              <a:t>Minimum success A removable passive plow guides one lightweight cube toward a target without blocking wheels or the sensor. The team documents one design change and explains deliver().</a:t>
            </a:r>
          </a:p>
          <a:p xmlns:a="http://schemas.openxmlformats.org/drawingml/2006/main">
            <a:r>
              <a:t/>
            </a:r>
          </a:p>
          <a:p xmlns:a="http://schemas.openxmlformats.org/drawingml/2006/main">
            <a:r>
              <a:t>Prepare Reserve equal spare parts for each team. Test a passive plow mount. Place the stop strip 25 cm ahead of the color sensor at the starting pose. After a dry run, mark the cube delivery zone ahead of the stopped plow. Open W06_rescue.py. Prepare two mentor examples and four labeled team build packs. Rehearse attachment clearance, a hand test and a quick swap. Show the hub color guide.</a:t>
            </a:r>
          </a:p>
          <a:p xmlns:a="http://schemas.openxmlformats.org/drawingml/2006/main">
            <a:r>
              <a:t/>
            </a:r>
          </a:p>
          <a:p xmlns:a="http://schemas.openxmlformats.org/drawingml/2006/main">
            <a:r>
              <a:t>Materials and files Print and pack from the matching checklist in 01_Instructor/Class_Preparation. Use the team sheet and build card. Keep the original two bases assembled, A left/B right, auxiliary motor unplugged; add C/D only as the lessons require. Hardware rehearsal remains required.</a:t>
            </a:r>
          </a:p>
          <a:p xmlns:a="http://schemas.openxmlformats.org/drawingml/2006/main">
            <a:r>
              <a:t/>
            </a:r>
          </a:p>
          <a:p xmlns:a="http://schemas.openxmlformats.org/drawingml/2006/main">
            <a:r>
              <a:t>Slide 1 A rescue attachment</a:t>
            </a:r>
          </a:p>
          <a:p xmlns:a="http://schemas.openxmlformats.org/drawingml/2006/main">
            <a:r>
              <a:t/>
            </a:r>
          </a:p>
          <a:p xmlns:a="http://schemas.openxmlformats.org/drawingml/2006/main">
            <a:r>
              <a:t>Timing 0–5 minutes</a:t>
            </a:r>
          </a:p>
          <a:p xmlns:a="http://schemas.openxmlformats.org/drawingml/2006/main">
            <a:r>
              <a:t/>
            </a:r>
          </a:p>
          <a:p xmlns:a="http://schemas.openxmlformats.org/drawingml/2006/main">
            <a:r>
              <a:t>Say “Today’s challenge is a supply box rescue. You will predict, test, and use evidence to explain your choice. All three teammates will operate and explain.”</a:t>
            </a:r>
          </a:p>
          <a:p xmlns:a="http://schemas.openxmlformats.org/drawingml/2006/main">
            <a:r>
              <a:t/>
            </a:r>
          </a:p>
          <a:p xmlns:a="http://schemas.openxmlformats.org/drawingml/2006/main">
            <a:r>
              <a:t>Ask before explaining How did you choose a useful dark-marker threshold?</a:t>
            </a:r>
          </a:p>
          <a:p xmlns:a="http://schemas.openxmlformats.org/drawingml/2006/main">
            <a:r>
              <a:t/>
            </a:r>
          </a:p>
          <a:p xmlns:a="http://schemas.openxmlformats.org/drawingml/2006/main">
            <a:r>
              <a:t>Listen for Use measured dark and bright readings, choose a value between them, then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Todays robot challenge</a:t>
            </a:r>
          </a:p>
          <a:p xmlns:a="http://schemas.openxmlformats.org/drawingml/2006/main">
            <a:r>
              <a:t/>
            </a:r>
          </a:p>
          <a:p xmlns:a="http://schemas.openxmlformats.org/drawingml/2006/main">
            <a:r>
              <a:t>Timing 5–10 minutes</a:t>
            </a:r>
          </a:p>
          <a:p xmlns:a="http://schemas.openxmlformats.org/drawingml/2006/main">
            <a:r>
              <a:t/>
            </a:r>
          </a:p>
          <a:p xmlns:a="http://schemas.openxmlformats.org/drawingml/2006/main">
            <a:r>
              <a:t>Purpose Each student contributes a design idea and compares two attachment trials while using an existing Python function.</a:t>
            </a:r>
          </a:p>
          <a:p xmlns:a="http://schemas.openxmlformats.org/drawingml/2006/main">
            <a:r>
              <a:t/>
            </a:r>
          </a:p>
          <a:p xmlns:a="http://schemas.openxmlformats.org/drawingml/2006/main">
            <a:r>
              <a:t>Do and explain Show a flat bumper and ask what might improve it. Point to async def deliver and await deliver(). Explain that a function gives a useful group of steps a name. The provided function reuses marker detection.</a:t>
            </a:r>
          </a:p>
          <a:p xmlns:a="http://schemas.openxmlformats.org/drawingml/2006/main">
            <a:r>
              <a:t/>
            </a:r>
          </a:p>
          <a:p xmlns:a="http://schemas.openxmlformats.org/drawingml/2006/main">
            <a:r>
              <a:t>Suggested words “Our useful result today is this: A removable passive plow guides one lightweight cube toward a target without blocking wheels or the sensor. The team documents one design change and explains deliver(). A test that misses still gives us information if we record it accurately.”</a:t>
            </a:r>
          </a:p>
          <a:p xmlns:a="http://schemas.openxmlformats.org/drawingml/2006/main">
            <a:r>
              <a:t/>
            </a:r>
          </a:p>
          <a:p xmlns:a="http://schemas.openxmlformats.org/drawingml/2006/main">
            <a:r>
              <a:t>Ask “What did the robot do? What evidence could we record? What must stay the same when we compare the next run?” Let a different student answer each question.</a:t>
            </a:r>
          </a:p>
          <a:p xmlns:a="http://schemas.openxmlformats.org/drawingml/2006/main">
            <a:r>
              <a:t/>
            </a:r>
          </a:p>
          <a:p xmlns:a="http://schemas.openxmlformats.org/drawingml/2006/main">
            <a:r>
              <a:t>If the example fails Cube slips: adjust side guide width. Robot stalls: lighten the attachment and remove dragging parts. Sensor misses: relocate plow pieces that block the sensor. Reset the cube consistently. Allow one quick reset, then use the prepared stationary or paper explanation. Student testing time should not become a repair demonstration.</a:t>
            </a:r>
          </a:p>
          <a:p xmlns:a="http://schemas.openxmlformats.org/drawingml/2006/main">
            <a:r>
              <a:t/>
            </a:r>
          </a:p>
          <a:p xmlns:a="http://schemas.openxmlformats.org/drawingml/2006/main">
            <a:r>
              <a:t>Hub check Read the light on the correct button: steady green center means powered on with a compatible OS and at least 20% battery; flashing orange center means charge; flashing red center means stop, power off and cool for 15 minutes. White center needs a compatible OS; flashing purple center means updating. Blue is the connection button: flashing means waiting for Bluetooth, steady means connected. A display letter is a program output, not a battery or connection status. See the full SPIKE Hub Color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Engineering design and reusable functions and prediction</a:t>
            </a:r>
          </a:p>
          <a:p xmlns:a="http://schemas.openxmlformats.org/drawingml/2006/main">
            <a:r>
              <a:t/>
            </a:r>
          </a:p>
          <a:p xmlns:a="http://schemas.openxmlformats.org/drawingml/2006/main">
            <a:r>
              <a:t>Timing 10–14 minutes</a:t>
            </a:r>
          </a:p>
          <a:p xmlns:a="http://schemas.openxmlformats.org/drawingml/2006/main">
            <a:r>
              <a:t/>
            </a:r>
          </a:p>
          <a:p xmlns:a="http://schemas.openxmlformats.org/drawingml/2006/main">
            <a:r>
              <a:t>async def deliver():</a:t>
            </a:r>
          </a:p>
          <a:p xmlns:a="http://schemas.openxmlformats.org/drawingml/2006/main">
            <a:r>
              <a:t>    await signal("R")</a:t>
            </a:r>
          </a:p>
          <a:p xmlns:a="http://schemas.openxmlformats.org/drawingml/2006/main">
            <a:r>
              <a:t>    result = await seek_marker(threshold)</a:t>
            </a:r>
          </a:p>
          <a:p xmlns:a="http://schemas.openxmlformats.org/drawingml/2006/main">
            <a:r>
              <a:t>    print(result)</a:t>
            </a:r>
          </a:p>
          <a:p xmlns:a="http://schemas.openxmlformats.org/drawingml/2006/main">
            <a:r>
              <a:t/>
            </a:r>
          </a:p>
          <a:p xmlns:a="http://schemas.openxmlformats.org/drawingml/2006/main">
            <a:r>
              <a:t># inside student_recipe</a:t>
            </a:r>
          </a:p>
          <a:p xmlns:a="http://schemas.openxmlformats.org/drawingml/2006/main">
            <a:r>
              <a:t>await deliver()</a:t>
            </a:r>
          </a:p>
          <a:p xmlns:a="http://schemas.openxmlformats.org/drawingml/2006/main">
            <a:r>
              <a:t/>
            </a:r>
          </a:p>
          <a:p xmlns:a="http://schemas.openxmlformats.org/drawingml/2006/main">
            <a:r>
              <a:t>Say “A function gives several useful instructions a name. Calling deliver runs the instructions we prepared under that name.”</a:t>
            </a:r>
          </a:p>
          <a:p xmlns:a="http://schemas.openxmlformats.org/drawingml/2006/main">
            <a:r>
              <a:t/>
            </a:r>
          </a:p>
          <a:p xmlns:a="http://schemas.openxmlformats.org/drawingml/2006/main">
            <a:r>
              <a:t>Point The definition begins async def deliver():. Its body shows R, calls seek_marker(threshold), and prints the result. The recipe calls await deliver(). Defining the function does not by itself drive the robot.</a:t>
            </a:r>
          </a:p>
          <a:p xmlns:a="http://schemas.openxmlformats.org/drawingml/2006/main">
            <a:r>
              <a:t/>
            </a:r>
          </a:p>
          <a:p xmlns:a="http://schemas.openxmlformats.org/drawingml/2006/main">
            <a:r>
              <a:t>Check the meaning “Does the word deliver prove the cube arrived?” No. The sensor reports a marker; students separately observe whether the cube stayed controlled and reached its target. This is a passive plow, with no powered grabber.</a:t>
            </a:r>
          </a:p>
          <a:p xmlns:a="http://schemas.openxmlformats.org/drawingml/2006/main">
            <a:r>
              <a:t/>
            </a:r>
          </a:p>
          <a:p xmlns:a="http://schemas.openxmlformats.org/drawingml/2006/main">
            <a:r>
              <a:t>Ask Why might two short side guides keep a cube in front better than one flat beam? How could too much contact slow the robot?</a:t>
            </a:r>
          </a:p>
          <a:p xmlns:a="http://schemas.openxmlformats.org/drawingml/2006/main">
            <a:r>
              <a:t/>
            </a:r>
          </a:p>
          <a:p xmlns:a="http://schemas.openxmlformats.org/drawingml/2006/main">
            <a:r>
              <a:t>Expected reasoning Side guides can reduce lateral escape but may increase friction or interfere with sensing. Calling deliver starts its named sequence. The function itself must be defined before the call can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Our robot and build jobs</a:t>
            </a:r>
          </a:p>
          <a:p xmlns:a="http://schemas.openxmlformats.org/drawingml/2006/main">
            <a:r>
              <a:t/>
            </a:r>
          </a:p>
          <a:p xmlns:a="http://schemas.openxmlformats.org/drawingml/2006/main">
            <a:r>
              <a:t>Timing 14–38 then retests minutes</a:t>
            </a:r>
          </a:p>
          <a:p xmlns:a="http://schemas.openxmlformats.org/drawingml/2006/main">
            <a:r>
              <a:t/>
            </a:r>
          </a:p>
          <a:p xmlns:a="http://schemas.openxmlformats.org/drawingml/2006/main">
            <a:r>
              <a:t>Station map 14–26: T1/T3 use robots and T2/T4 build. 26–38: teams switch stations. 38–44: T1/T3 retest while the other teams finish builds. 44–50: T2/T4 retest. Rotate roles at 18, 22, 30, 34, 40, 42, 46 and 48 minutes. Each team has 18 robot minutes, giving each child about six minutes as driver plus handling, observing and building. Transitions occur within these blocks.</a:t>
            </a:r>
          </a:p>
          <a:p xmlns:a="http://schemas.openxmlformats.org/drawingml/2006/main">
            <a:r>
              <a:t/>
            </a:r>
          </a:p>
          <a:p xmlns:a="http://schemas.openxmlformats.org/drawingml/2006/main">
            <a:r>
              <a:t>Jobs At the robot, the driver edits and starts after “clear.” The navigator reads the step, predicts, positions the stopped robot and payload, fits an approved attachment and checks the lane. The observer watches, measures and records one number, tick or phrase. Rotate all three jobs every four minutes in the first turn and every two minutes in the retest. At the build table, rotate builder, designer/parts manager and tester/reporter on the same timer. Everyone contributes hands-on work.</a:t>
            </a:r>
          </a:p>
          <a:p xmlns:a="http://schemas.openxmlformats.org/drawingml/2006/main">
            <a:r>
              <a:t/>
            </a:r>
          </a:p>
          <a:p xmlns:a="http://schemas.openxmlformats.org/drawingml/2006/main">
            <a:r>
              <a:t>Robot steps 1. Sketch two possible plows. Agree on one to build. Constraints: use allocated spare parts, attach to the existing chassis, no powered gripper, and keep the sensor’s view clear. 2. Build a small removable attachment while the other team tests. Mentor checks wheel clearance and lightly checks that it will not fall into the drive path. 3. At the robot turn, attach the plow and place the cube just in front. Use the previously calibrated threshold. Run deliver and record whether the cube stays controlled and reaches the target area. 4. Swap driver. Change one mechanical feature, such as guide spacing, and repeat. Keep cube, program, and start pose the same so the comparison is useful. 5. In the final turn, test the better version. Remove and store each team’s attachment in its labeled tray. Explain the function name and one design tradeoff.</a:t>
            </a:r>
          </a:p>
          <a:p xmlns:a="http://schemas.openxmlformats.org/drawingml/2006/main">
            <a:r>
              <a:t/>
            </a:r>
          </a:p>
          <a:p xmlns:a="http://schemas.openxmlformats.org/drawingml/2006/main">
            <a:r>
              <a:t>Build A rescue scoop or guide. Build a removable guide that pushes a cube without trapping it under the robot. Make a flat bumper and push the cube by hand with the proxy. Add short side guides or change one guiding edge. Compare the two versions with the same cube and hand-test path. Test: Cube moves ahead; guide clears the floor and does not cover the downward sensor.</a:t>
            </a:r>
          </a:p>
          <a:p xmlns:a="http://schemas.openxmlformats.org/drawingml/2006/main">
            <a:r>
              <a:t/>
            </a:r>
          </a:p>
          <a:p xmlns:a="http://schemas.openxmlformats.org/drawingml/2006/main">
            <a:r>
              <a:t>Connection to robot Each robot station has a mentor sample before the first rotation. Fit approved team guides for retests. Keep motor and sensor mounts unchanged.</a:t>
            </a:r>
          </a:p>
          <a:p xmlns:a="http://schemas.openxmlformats.org/drawingml/2006/main">
            <a:r>
              <a:t/>
            </a:r>
          </a:p>
          <a:p xmlns:a="http://schemas.openxmlformats.org/drawingml/2006/main">
            <a:r>
              <a:t>Coaching Ask for an observation before suggesting a change. Help with one connection or edit, then return control. Typing can be assisted; the child still chooses, predicts and starts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Evidence from our test</a:t>
            </a:r>
          </a:p>
          <a:p xmlns:a="http://schemas.openxmlformats.org/drawingml/2006/main">
            <a:r>
              <a:t/>
            </a:r>
          </a:p>
          <a:p xmlns:a="http://schemas.openxmlformats.org/drawingml/2006/main">
            <a:r>
              <a:t>Timing 38–50 minutes in two six-minute retests.</a:t>
            </a:r>
          </a:p>
          <a:p xmlns:a="http://schemas.openxmlformats.org/drawingml/2006/main">
            <a:r>
              <a:t/>
            </a:r>
          </a:p>
          <a:p xmlns:a="http://schemas.openxmlformats.org/drawingml/2006/main">
            <a:r>
              <a:t>Evidence At the robot: each child makes a prediction and takes a driver turn. Keep one number, tick or short phrase per trial. At the build table: show the model and its hand-test result. A labeled design sketch, two trial results, and one sentence connecting a design change to the observed outcome. Score control, not speed.</a:t>
            </a:r>
          </a:p>
          <a:p xmlns:a="http://schemas.openxmlformats.org/drawingml/2006/main">
            <a:r>
              <a:t/>
            </a:r>
          </a:p>
          <a:p xmlns:a="http://schemas.openxmlformats.org/drawingml/2006/main">
            <a:r>
              <a:t>Ask What changed? What stayed the same? What did the real run show? Record a tick, short phrase or number at the robot. The build table tests the model by hand rather than repeating a worksheet.</a:t>
            </a:r>
          </a:p>
          <a:p xmlns:a="http://schemas.openxmlformats.org/drawingml/2006/main">
            <a:r>
              <a:t/>
            </a:r>
          </a:p>
          <a:p xmlns:a="http://schemas.openxmlformats.org/drawingml/2006/main">
            <a:r>
              <a:t>Troubleshooting Cube slips: adjust side guide width. Robot stalls: lighten the attachment and remove dragging parts. Sensor misses: relocate plow pieces that block the sensor. Reset the cube consistently.</a:t>
            </a:r>
          </a:p>
          <a:p xmlns:a="http://schemas.openxmlformats.org/drawingml/2006/main">
            <a:r>
              <a:t/>
            </a:r>
          </a:p>
          <a:p xmlns:a="http://schemas.openxmlformats.org/drawingml/2006/main">
            <a:r>
              <a:t>Support Provide a simple flat plow starter and ask students to change guide width. A paper mockup can support the design explanation if building takes too long.</a:t>
            </a:r>
          </a:p>
          <a:p xmlns:a="http://schemas.openxmlformats.org/drawingml/2006/main">
            <a:r>
              <a:t/>
            </a:r>
          </a:p>
          <a:p xmlns:a="http://schemas.openxmlformats.org/drawingml/2006/main">
            <a:r>
              <a:t>Extension Compare a flat bumper with side guides using three runs each if time permits. Compute successful deliveries out of attempts. Extra motors are outside the core activity.</a:t>
            </a:r>
          </a:p>
          <a:p xmlns:a="http://schemas.openxmlformats.org/drawingml/2006/main">
            <a:r>
              <a:t/>
            </a:r>
          </a:p>
          <a:p xmlns:a="http://schemas.openxmlformats.org/drawingml/2006/main">
            <a:r>
              <a:t>If needed Create a My Block called deliver, with a start signal and the bounded marker routine from week 5. Call deliver from the start stack. If My Blocks is unfamiliar, group and label the stack, then explain the repeated task in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we learned and noticed</a:t>
            </a:r>
          </a:p>
          <a:p xmlns:a="http://schemas.openxmlformats.org/drawingml/2006/main">
            <a:r>
              <a:t/>
            </a:r>
          </a:p>
          <a:p xmlns:a="http://schemas.openxmlformats.org/drawingml/2006/main">
            <a:r>
              <a:t>Timing 50–54 minutes for reflection; 54–60 for saving, packing and pickup.</a:t>
            </a:r>
          </a:p>
          <a:p xmlns:a="http://schemas.openxmlformats.org/drawingml/2006/main">
            <a:r>
              <a:t/>
            </a:r>
          </a:p>
          <a:p xmlns:a="http://schemas.openxmlformats.org/drawingml/2006/main">
            <a:r>
              <a:t>Ask each child What did you learn while building your guide? What did you observe when it moved the cube? What would you change in the guide or program?</a:t>
            </a:r>
          </a:p>
          <a:p xmlns:a="http://schemas.openxmlformats.org/drawingml/2006/main">
            <a:r>
              <a:t/>
            </a:r>
          </a:p>
          <a:p xmlns:a="http://schemas.openxmlformats.org/drawingml/2006/main">
            <a:r>
              <a:t>Facilitate Run two pod conversations in parallel. Give each of the six children about 20–30 seconds for one chosen prompt. Invite a concrete observation from the robot or build. Accept pointing, a demonstration or a short sentence.</a:t>
            </a:r>
          </a:p>
          <a:p xmlns:a="http://schemas.openxmlformats.org/drawingml/2006/main">
            <a:r>
              <a:t/>
            </a:r>
          </a:p>
          <a:p xmlns:a="http://schemas.openxmlformats.org/drawingml/2006/main">
            <a:r>
              <a:t>Listen for Side guides can reduce lateral escape but may increase friction or interfere with sensing. Calling deliver starts its named sequence. The function itself must be defined before the call can execute.</a:t>
            </a:r>
          </a:p>
          <a:p xmlns:a="http://schemas.openxmlformats.org/drawingml/2006/main">
            <a:r>
              <a:t/>
            </a:r>
          </a:p>
          <a:p xmlns:a="http://schemas.openxmlformats.org/drawingml/2006/main">
            <a:r>
              <a:t>Close Save T1–T4 projects, stop and park both robots, remove only approved temporary attachments, store four labeled builds and count parts. Follow YMCA pickup procedures.</a:t>
            </a:r>
          </a:p>
          <a:p xmlns:a="http://schemas.openxmlformats.org/drawingml/2006/main">
            <a:r>
              <a:t/>
            </a:r>
          </a:p>
          <a:p xmlns:a="http://schemas.openxmlformats.org/drawingml/2006/main">
            <a:r>
              <a:t>Optional connection FRC teams improve mechanisms and software together through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c95e0450eb46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ebae6f25ea42e0" /><Relationship Type="http://schemas.openxmlformats.org/officeDocument/2006/relationships/slideLayout" Target="/ppt/slideLayouts/slideLayout1.xml" Id="R13a706b0b1a848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a706b0b1a848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5f7be896d44a70" /><Relationship Type="http://schemas.openxmlformats.org/officeDocument/2006/relationships/notesSlide" Target="/ppt/notesSlides/notesSlide1.xml" Id="R4b9a3525e66849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2b355f6dc9407f" /><Relationship Type="http://schemas.openxmlformats.org/officeDocument/2006/relationships/notesSlide" Target="/ppt/notesSlides/notesSlide2.xml" Id="Rfa0f49fab4844b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a7da93ff474fca" /><Relationship Type="http://schemas.openxmlformats.org/officeDocument/2006/relationships/notesSlide" Target="/ppt/notesSlides/notesSlide3.xml" Id="R5ae7e0f4b57a42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a413fe49a145de" /><Relationship Type="http://schemas.openxmlformats.org/officeDocument/2006/relationships/notesSlide" Target="/ppt/notesSlides/notesSlide4.xml" Id="R55a8dd980d3e4c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ee5ab934e042f2" /><Relationship Type="http://schemas.openxmlformats.org/officeDocument/2006/relationships/notesSlide" Target="/ppt/notesSlides/notesSlide5.xml" Id="Rad1c76076b1c46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d455073d1340fd" /><Relationship Type="http://schemas.openxmlformats.org/officeDocument/2006/relationships/notesSlide" Target="/ppt/notesSlides/notesSlide6.xml" Id="Re1bcf50e7e4f4d22"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4F95BE0-2FA6-4CA5-907B-C6CA4622034D}"/>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A rescue attachment</a:t>
            </a:r>
          </a:p>
        </p:txBody>
      </p:sp>
      <p:sp>
        <p:nvSpPr>
          <p:cNvPr id="2" name="">
            <a:extLst xmlns:a="http://schemas.openxmlformats.org/drawingml/2006/main">
              <a:ext uri="{FF2B5EF4-FFF2-40B4-BE49-F238E27FC236}">
                <a16:creationId xmlns:a16="http://schemas.microsoft.com/office/drawing/2014/main" id="{01ED5457-97CF-4F7A-B43A-3A2FB48218C5}"/>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9DDADD"/>
                </a:solidFill>
                <a:latin typeface="Arial"/>
                <a:ea typeface="Arial"/>
                <a:cs typeface="Arial"/>
              </a:defRPr>
            </a:pPr>
            <a:r>
              <a:rPr sz="2475" b="0">
                <a:solidFill>
                  <a:srgbClr val="9DDADD"/>
                </a:solidFill>
                <a:latin typeface="Arial"/>
                <a:ea typeface="Arial"/>
                <a:cs typeface="Arial"/>
              </a:rPr>
              <a:t>A small mechanical change improves delivery</a:t>
            </a:r>
          </a:p>
        </p:txBody>
      </p:sp>
      <p:sp>
        <p:nvSpPr>
          <p:cNvPr id="3" name="">
            <a:extLst xmlns:a="http://schemas.openxmlformats.org/drawingml/2006/main">
              <a:ext uri="{FF2B5EF4-FFF2-40B4-BE49-F238E27FC236}">
                <a16:creationId xmlns:a16="http://schemas.microsoft.com/office/drawing/2014/main" id="{CE7F5060-1983-41CC-A392-27C539E460A8}"/>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6 · MechaRAMS at the YMCA</a:t>
            </a:r>
          </a:p>
        </p:txBody>
      </p:sp>
    </p:spTree>
    <p:extLst>
      <p:ext uri="{BB962C8B-B14F-4D97-AF65-F5344CB8AC3E}">
        <p14:creationId xmlns:p14="http://schemas.microsoft.com/office/powerpoint/2010/main" val="2073686416"/>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5AD8FA-3A0C-48AC-BDAF-DCF4F252257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62CECDD6-80CD-463F-B469-520DE6F4B89B}"/>
              </a:ext>
            </a:extLst>
          </p:cNvPr>
          <p:cNvSpPr>
            <a:spLocks xmlns:a="http://schemas.openxmlformats.org/drawingml/2006/main" noGrp="1"/>
          </p:cNvSpPr>
          <p:nvPr/>
        </p:nvSpPr>
        <p:spPr>
          <a:xfrm xmlns:a="http://schemas.openxmlformats.org/drawingml/2006/main">
            <a:off x="762000" y="19526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sketch and a removable plow</a:t>
            </a:r>
          </a:p>
        </p:txBody>
      </p:sp>
      <p:sp>
        <p:nvSpPr>
          <p:cNvPr id="3" name="">
            <a:extLst xmlns:a="http://schemas.openxmlformats.org/drawingml/2006/main">
              <a:ext uri="{FF2B5EF4-FFF2-40B4-BE49-F238E27FC236}">
                <a16:creationId xmlns:a16="http://schemas.microsoft.com/office/drawing/2014/main" id="{6552638C-517D-41B2-B8F2-5CD9663B3574}"/>
              </a:ext>
            </a:extLst>
          </p:cNvPr>
          <p:cNvSpPr>
            <a:spLocks xmlns:a="http://schemas.openxmlformats.org/drawingml/2006/main" noGrp="1"/>
          </p:cNvSpPr>
          <p:nvPr/>
        </p:nvSpPr>
        <p:spPr>
          <a:xfrm xmlns:a="http://schemas.openxmlformats.org/drawingml/2006/main">
            <a:off x="762000" y="30575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Two tests with one design change</a:t>
            </a:r>
          </a:p>
        </p:txBody>
      </p:sp>
      <p:sp>
        <p:nvSpPr>
          <p:cNvPr id="4" name="">
            <a:extLst xmlns:a="http://schemas.openxmlformats.org/drawingml/2006/main">
              <a:ext uri="{FF2B5EF4-FFF2-40B4-BE49-F238E27FC236}">
                <a16:creationId xmlns:a16="http://schemas.microsoft.com/office/drawing/2014/main" id="{A46F6ABA-906D-48B8-BB11-DCF03C74BA70}"/>
              </a:ext>
            </a:extLst>
          </p:cNvPr>
          <p:cNvSpPr>
            <a:spLocks xmlns:a="http://schemas.openxmlformats.org/drawingml/2006/main" noGrp="1"/>
          </p:cNvSpPr>
          <p:nvPr/>
        </p:nvSpPr>
        <p:spPr>
          <a:xfrm xmlns:a="http://schemas.openxmlformats.org/drawingml/2006/main">
            <a:off x="762000" y="41624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An explanation of your deliver function</a:t>
            </a:r>
          </a:p>
        </p:txBody>
      </p:sp>
      <p:sp>
        <p:nvSpPr>
          <p:cNvPr id="6" name="">
            <a:extLst xmlns:a="http://schemas.openxmlformats.org/drawingml/2006/main">
              <a:ext uri="{FF2B5EF4-FFF2-40B4-BE49-F238E27FC236}">
                <a16:creationId xmlns:a16="http://schemas.microsoft.com/office/drawing/2014/main" id="{F1B18954-C62B-4398-920F-9BC621D4C21B}"/>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7" name="">
            <a:extLst xmlns:a="http://schemas.openxmlformats.org/drawingml/2006/main">
              <a:ext uri="{FF2B5EF4-FFF2-40B4-BE49-F238E27FC236}">
                <a16:creationId xmlns:a16="http://schemas.microsoft.com/office/drawing/2014/main" id="{D7D017ED-B6AC-40E9-9D48-50DBF656CFB2}"/>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8" name="">
            <a:extLst xmlns:a="http://schemas.openxmlformats.org/drawingml/2006/main">
              <a:ext uri="{FF2B5EF4-FFF2-40B4-BE49-F238E27FC236}">
                <a16:creationId xmlns:a16="http://schemas.microsoft.com/office/drawing/2014/main" id="{FB046363-3C40-4DFE-AA99-800CC0EAB3A7}"/>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9" name="">
            <a:extLst xmlns:a="http://schemas.openxmlformats.org/drawingml/2006/main">
              <a:ext uri="{FF2B5EF4-FFF2-40B4-BE49-F238E27FC236}">
                <a16:creationId xmlns:a16="http://schemas.microsoft.com/office/drawing/2014/main" id="{090525F0-FFB2-4ACB-AA5F-E63BACBEB132}"/>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1663698001"/>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470663-8FE4-4292-BDA4-9A0CE0979491}"/>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Engineering design and reusable functions</a:t>
            </a:r>
          </a:p>
        </p:txBody>
      </p:sp>
      <p:sp>
        <p:nvSpPr>
          <p:cNvPr id="2" name="">
            <a:extLst xmlns:a="http://schemas.openxmlformats.org/drawingml/2006/main">
              <a:ext uri="{FF2B5EF4-FFF2-40B4-BE49-F238E27FC236}">
                <a16:creationId xmlns:a16="http://schemas.microsoft.com/office/drawing/2014/main" id="{4C11CDDA-A339-47DD-952C-35985BBFFAFC}"/>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Consolas"/>
                <a:ea typeface="Consolas"/>
                <a:cs typeface="Consolas"/>
              </a:defRPr>
            </a:defPPr>
          </a:lstStyle>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async def deliver():</a:t>
            </a:r>
          </a:p>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    await signal("R")</a:t>
            </a:r>
          </a:p>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    result = await seek_marker(threshold)</a:t>
            </a:r>
          </a:p>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    print(result)</a:t>
            </a:r>
          </a:p>
          <a:p xmlns:a="http://schemas.openxmlformats.org/drawingml/2006/main">
            <a:r>
              <a:t/>
            </a:r>
          </a:p>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 inside student_recipe</a:t>
            </a:r>
          </a:p>
          <a:p xmlns:a="http://schemas.openxmlformats.org/drawingml/2006/main">
            <a:pPr>
              <a:buNone/>
              <a:defRPr sz="2175" b="0">
                <a:solidFill>
                  <a:srgbClr val="FFFFFF"/>
                </a:solidFill>
                <a:latin typeface="Consolas"/>
                <a:ea typeface="Consolas"/>
                <a:cs typeface="Consolas"/>
              </a:defRPr>
            </a:pPr>
            <a:r>
              <a:rPr sz="2175" b="0">
                <a:solidFill>
                  <a:srgbClr val="FFFFFF"/>
                </a:solidFill>
                <a:latin typeface="Consolas"/>
                <a:ea typeface="Consolas"/>
                <a:cs typeface="Consolas"/>
              </a:rPr>
              <a:t>await deliver()</a:t>
            </a:r>
          </a:p>
        </p:txBody>
      </p:sp>
      <p:sp>
        <p:nvSpPr>
          <p:cNvPr id="3" name="">
            <a:extLst xmlns:a="http://schemas.openxmlformats.org/drawingml/2006/main">
              <a:ext uri="{FF2B5EF4-FFF2-40B4-BE49-F238E27FC236}">
                <a16:creationId xmlns:a16="http://schemas.microsoft.com/office/drawing/2014/main" id="{1CB9C5F8-457F-4312-A913-D15FDB27C1FB}"/>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Reading fragment from the complete supplied project</a:t>
            </a:r>
          </a:p>
        </p:txBody>
      </p:sp>
      <p:sp>
        <p:nvSpPr>
          <p:cNvPr id="5" name="">
            <a:extLst xmlns:a="http://schemas.openxmlformats.org/drawingml/2006/main">
              <a:ext uri="{FF2B5EF4-FFF2-40B4-BE49-F238E27FC236}">
                <a16:creationId xmlns:a16="http://schemas.microsoft.com/office/drawing/2014/main" id="{196E8043-67EC-4931-A313-5325671C0247}"/>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0A44C449-2432-41E8-9C82-792B2C8C9FE9}"/>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How could side guides change the cube’s path?</a:t>
            </a:r>
          </a:p>
        </p:txBody>
      </p:sp>
      <p:sp>
        <p:nvSpPr>
          <p:cNvPr id="7" name="">
            <a:extLst xmlns:a="http://schemas.openxmlformats.org/drawingml/2006/main">
              <a:ext uri="{FF2B5EF4-FFF2-40B4-BE49-F238E27FC236}">
                <a16:creationId xmlns:a16="http://schemas.microsoft.com/office/drawing/2014/main" id="{466FD904-E089-4856-A5CD-5EBF620FDAFE}"/>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stays unchanged when you compare designs?</a:t>
            </a:r>
          </a:p>
        </p:txBody>
      </p:sp>
    </p:spTree>
    <p:extLst>
      <p:ext uri="{BB962C8B-B14F-4D97-AF65-F5344CB8AC3E}">
        <p14:creationId xmlns:p14="http://schemas.microsoft.com/office/powerpoint/2010/main" val="1368588177"/>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76C169-33F8-46C5-BD6E-0C440DED621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robot and build jobs</a:t>
            </a:r>
          </a:p>
        </p:txBody>
      </p:sp>
      <p:sp>
        <p:nvSpPr>
          <p:cNvPr id="2" name="">
            <a:extLst xmlns:a="http://schemas.openxmlformats.org/drawingml/2006/main">
              <a:ext uri="{FF2B5EF4-FFF2-40B4-BE49-F238E27FC236}">
                <a16:creationId xmlns:a16="http://schemas.microsoft.com/office/drawing/2014/main" id="{1A30BB3D-9E8D-4964-BF11-3CAB6EBA2F1E}"/>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Driver edits and starts after “clear.”</a:t>
            </a:r>
          </a:p>
        </p:txBody>
      </p:sp>
      <p:sp>
        <p:nvSpPr>
          <p:cNvPr id="3" name="">
            <a:extLst xmlns:a="http://schemas.openxmlformats.org/drawingml/2006/main">
              <a:ext uri="{FF2B5EF4-FFF2-40B4-BE49-F238E27FC236}">
                <a16:creationId xmlns:a16="http://schemas.microsoft.com/office/drawing/2014/main" id="{65A25EA0-118C-47B5-86BC-9DFABE1DA6BB}"/>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Navigator predicts and resets the stopped robot.</a:t>
            </a:r>
          </a:p>
        </p:txBody>
      </p:sp>
      <p:sp>
        <p:nvSpPr>
          <p:cNvPr id="4" name="">
            <a:extLst xmlns:a="http://schemas.openxmlformats.org/drawingml/2006/main">
              <a:ext uri="{FF2B5EF4-FFF2-40B4-BE49-F238E27FC236}">
                <a16:creationId xmlns:a16="http://schemas.microsoft.com/office/drawing/2014/main" id="{6953F6F1-EEF4-4374-91EE-3545ED75289A}"/>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Observer watches, measures and records.</a:t>
            </a:r>
          </a:p>
        </p:txBody>
      </p:sp>
      <p:sp>
        <p:nvSpPr>
          <p:cNvPr id="5" name="">
            <a:extLst xmlns:a="http://schemas.openxmlformats.org/drawingml/2006/main">
              <a:ext uri="{FF2B5EF4-FFF2-40B4-BE49-F238E27FC236}">
                <a16:creationId xmlns:a16="http://schemas.microsoft.com/office/drawing/2014/main" id="{723CD40B-C385-416C-B3E6-2974A59D30B4}"/>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Other team builds. Everyone rotates jobs.</a:t>
            </a:r>
          </a:p>
        </p:txBody>
      </p:sp>
      <p:sp>
        <p:nvSpPr>
          <p:cNvPr id="7" name="">
            <a:extLst xmlns:a="http://schemas.openxmlformats.org/drawingml/2006/main">
              <a:ext uri="{FF2B5EF4-FFF2-40B4-BE49-F238E27FC236}">
                <a16:creationId xmlns:a16="http://schemas.microsoft.com/office/drawing/2014/main" id="{14926C08-4675-40E8-B7F4-34285EBB25B8}"/>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Robot turns: rotate every 4 minutes. Retests: every 2 minutes.</a:t>
            </a:r>
          </a:p>
        </p:txBody>
      </p:sp>
    </p:spTree>
    <p:extLst>
      <p:ext uri="{BB962C8B-B14F-4D97-AF65-F5344CB8AC3E}">
        <p14:creationId xmlns:p14="http://schemas.microsoft.com/office/powerpoint/2010/main" val="784604953"/>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FF8FEA-E3B1-417C-8399-AAC4455DF99F}"/>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899ED481-D77F-46AB-BAD9-58129CB100FE}"/>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1A94D31F-9AC8-49B5-B43C-B2BC754BC4FD}"/>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0ACD0CB4-22A4-4D7B-9601-97179DEC1027}"/>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07917CDE-CF46-4791-B284-EFC91C76E7A3}"/>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2098187071"/>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3B7339-7519-4185-8764-F8B330519E8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What we learned and noticed</a:t>
            </a:r>
          </a:p>
        </p:txBody>
      </p:sp>
      <p:sp>
        <p:nvSpPr>
          <p:cNvPr id="2" name="">
            <a:extLst xmlns:a="http://schemas.openxmlformats.org/drawingml/2006/main">
              <a:ext uri="{FF2B5EF4-FFF2-40B4-BE49-F238E27FC236}">
                <a16:creationId xmlns:a16="http://schemas.microsoft.com/office/drawing/2014/main" id="{63736B2D-661E-4C91-8522-FB9A718E45A9}"/>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learn while building your guide?</a:t>
            </a:r>
          </a:p>
        </p:txBody>
      </p:sp>
      <p:sp>
        <p:nvSpPr>
          <p:cNvPr id="3" name="">
            <a:extLst xmlns:a="http://schemas.openxmlformats.org/drawingml/2006/main">
              <a:ext uri="{FF2B5EF4-FFF2-40B4-BE49-F238E27FC236}">
                <a16:creationId xmlns:a16="http://schemas.microsoft.com/office/drawing/2014/main" id="{BCAFE208-062D-4692-AA42-D6DDF5914BC7}"/>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observe when it moved the cube?</a:t>
            </a:r>
          </a:p>
        </p:txBody>
      </p:sp>
      <p:sp>
        <p:nvSpPr>
          <p:cNvPr id="4" name="">
            <a:extLst xmlns:a="http://schemas.openxmlformats.org/drawingml/2006/main">
              <a:ext uri="{FF2B5EF4-FFF2-40B4-BE49-F238E27FC236}">
                <a16:creationId xmlns:a16="http://schemas.microsoft.com/office/drawing/2014/main" id="{DE74216E-7982-4B84-B434-888A2A16764D}"/>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would you change in the guide or program?</a:t>
            </a:r>
          </a:p>
        </p:txBody>
      </p:sp>
      <p:sp>
        <p:nvSpPr>
          <p:cNvPr id="6" name="">
            <a:extLst xmlns:a="http://schemas.openxmlformats.org/drawingml/2006/main">
              <a:ext uri="{FF2B5EF4-FFF2-40B4-BE49-F238E27FC236}">
                <a16:creationId xmlns:a16="http://schemas.microsoft.com/office/drawing/2014/main" id="{528C593D-E007-4415-AF7B-03B66D3A319B}"/>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your team project. Store your build. Reset the robot and parts.</a:t>
            </a:r>
          </a:p>
        </p:txBody>
      </p:sp>
    </p:spTree>
    <p:extLst>
      <p:ext uri="{BB962C8B-B14F-4D97-AF65-F5344CB8AC3E}">
        <p14:creationId xmlns:p14="http://schemas.microsoft.com/office/powerpoint/2010/main" val="1912260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2026-10-25T23:31:59.5920000Z</dcterms:created>
  <dcterms:modified xsi:type="dcterms:W3CDTF">2026-10-25T23:31:59.5920000Z</dcterms:modified>
</coreProperties>
</file>