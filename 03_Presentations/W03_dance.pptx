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17ca16cfc84fdd" /><Relationship Type="http://schemas.openxmlformats.org/officeDocument/2006/relationships/extended-properties" Target="/docProps/app.xml" Id="Rf6663313a5444801" /><Relationship Type="http://schemas.openxmlformats.org/officeDocument/2006/relationships/officeDocument" Target="/ppt/presentation.xml" Id="R8cd96a0184f94f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8ef5c79bbb4138"/>
  </p:sldMasterIdLst>
  <p:notesMasterIdLst>
    <p:notesMasterId xmlns:r="http://schemas.openxmlformats.org/officeDocument/2006/relationships" r:id="Reb464f59f9f641f5"/>
  </p:notesMasterIdLst>
  <p:sldIdLst>
    <p:sldId xmlns:r="http://schemas.openxmlformats.org/officeDocument/2006/relationships" id="256" r:id="R0b74b121e33f4f6f"/>
    <p:sldId xmlns:r="http://schemas.openxmlformats.org/officeDocument/2006/relationships" id="257" r:id="R42fc42b46b094c3a"/>
    <p:sldId xmlns:r="http://schemas.openxmlformats.org/officeDocument/2006/relationships" id="258" r:id="Rea0a6df320724cad"/>
    <p:sldId xmlns:r="http://schemas.openxmlformats.org/officeDocument/2006/relationships" id="259" r:id="R06ca079a54534612"/>
    <p:sldId xmlns:r="http://schemas.openxmlformats.org/officeDocument/2006/relationships" id="260" r:id="Rc8015ffbf065436c"/>
    <p:sldId xmlns:r="http://schemas.openxmlformats.org/officeDocument/2006/relationships" id="261" r:id="Rc41db3502fa3402d"/>
    <p:sldId xmlns:r="http://schemas.openxmlformats.org/officeDocument/2006/relationships" id="262" r:id="R3674ef95d4db42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b2a62d56764d50" /><Relationship Type="http://schemas.openxmlformats.org/officeDocument/2006/relationships/slideMaster" Target="/ppt/slideMasters/slideMaster1.xml" Id="R5e8ef5c79bbb4138" /><Relationship Type="http://schemas.openxmlformats.org/officeDocument/2006/relationships/notesMaster" Target="/ppt/notesMasters/notesMaster1.xml" Id="Reb464f59f9f641f5" /><Relationship Type="http://schemas.openxmlformats.org/officeDocument/2006/relationships/presProps" Target="/ppt/presProps.xml" Id="Re4ce43cc7ade4821" /><Relationship Type="http://schemas.openxmlformats.org/officeDocument/2006/relationships/tableStyles" Target="/ppt/tableStyles.xml" Id="R1ccd3e4b9d954348" /><Relationship Type="http://schemas.openxmlformats.org/officeDocument/2006/relationships/slide" Target="/ppt/slides/slide1.xml" Id="R0b74b121e33f4f6f" /><Relationship Type="http://schemas.openxmlformats.org/officeDocument/2006/relationships/slide" Target="/ppt/slides/slide2.xml" Id="R42fc42b46b094c3a" /><Relationship Type="http://schemas.openxmlformats.org/officeDocument/2006/relationships/slide" Target="/ppt/slides/slide3.xml" Id="Rea0a6df320724cad" /><Relationship Type="http://schemas.openxmlformats.org/officeDocument/2006/relationships/slide" Target="/ppt/slides/slide4.xml" Id="R06ca079a54534612" /><Relationship Type="http://schemas.openxmlformats.org/officeDocument/2006/relationships/slide" Target="/ppt/slides/slide5.xml" Id="Rc8015ffbf065436c" /><Relationship Type="http://schemas.openxmlformats.org/officeDocument/2006/relationships/slide" Target="/ppt/slides/slide6.xml" Id="Rc41db3502fa3402d" /><Relationship Type="http://schemas.openxmlformats.org/officeDocument/2006/relationships/slide" Target="/ppt/slides/slide7.xml" Id="R3674ef95d4db42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35cfe54454b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1768a380094654" /><Relationship Type="http://schemas.openxmlformats.org/officeDocument/2006/relationships/notesMaster" Target="/ppt/notesMasters/notesMaster1.xml" Id="Rc5761910eb634b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7414f142734395" /><Relationship Type="http://schemas.openxmlformats.org/officeDocument/2006/relationships/notesMaster" Target="/ppt/notesMasters/notesMaster1.xml" Id="Rebe48d1f8e5846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e4d6416f6444c1" /><Relationship Type="http://schemas.openxmlformats.org/officeDocument/2006/relationships/notesMaster" Target="/ppt/notesMasters/notesMaster1.xml" Id="R1265475263c743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8fb0b4df73433a" /><Relationship Type="http://schemas.openxmlformats.org/officeDocument/2006/relationships/notesMaster" Target="/ppt/notesMasters/notesMaster1.xml" Id="Rb9ea9109cae74d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e5434f16cd4fe5" /><Relationship Type="http://schemas.openxmlformats.org/officeDocument/2006/relationships/notesMaster" Target="/ppt/notesMasters/notesMaster1.xml" Id="R6b903fed467e44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2c6f5b3dae4049" /><Relationship Type="http://schemas.openxmlformats.org/officeDocument/2006/relationships/notesMaster" Target="/ppt/notesMasters/notesMaster1.xml" Id="R053d176cb30d4c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469aeceb70451e" /><Relationship Type="http://schemas.openxmlformats.org/officeDocument/2006/relationships/notesMaster" Target="/ppt/notesMasters/notesMaster1.xml" Id="R16ed227f778d4e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0–5 minutes: welcome and retrieval. How could we teach a robot a dance without writing the same lines over and over?</a:t>
            </a:r>
          </a:p>
          <a:p xmlns:a="http://schemas.openxmlformats.org/drawingml/2006/main">
            <a:r>
              <a:t>Learning goal: Each student traces a counted loop and explains which actions repeat and how many times.</a:t>
            </a:r>
          </a:p>
          <a:p xmlns:a="http://schemas.openxmlformats.org/drawingml/2006/main">
            <a:r>
              <a:t>Minimum success: A short routine repeats three times, stays within the test area, and the pair accurately predicts the number of movements.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5–10 minutes, or 7–12 in week 8. Compare three copies of two actions with one for loop. Say: “The indented lines belong to the loop.” Trace with a finger three times. Keep the support functions collapsed if the editor allows it.</a:t>
            </a:r>
          </a:p>
          <a:p xmlns:a="http://schemas.openxmlformats.org/drawingml/2006/main">
            <a:r>
              <a:t>Preparation: Open W03_dance.py. Test a small pivot of 90 wheel degrees before class. Use low speed and a clear perimeter. The turn helper is an open-loop pivot, not a command for a 90-degree heading change.</a:t>
            </a:r>
          </a:p>
          <a:p xmlns:a="http://schemas.openxmlformats.org/drawingml/2006/main">
            <a:r>
              <a:t>The core challenge uses an assembled base and the supplied complete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discussion fragment. It belongs in the supplied project, not in an empty file. The student function is named student_recipe. Compare three copies of two actions with one for loop. Say: “The indented lines belong to the loop.” Trace with a finger three times. Keep the support functions collapsed if the editor allows it.</a:t>
            </a:r>
          </a:p>
          <a:p xmlns:a="http://schemas.openxmlformats.org/drawingml/2006/main">
            <a:r>
              <a:t>Expected reasoning: Three drives and three turns. D appears once because it is outside the loop. Moving D inside makes it happen on every pass.</a:t>
            </a:r>
          </a:p>
          <a:p xmlns:a="http://schemas.openxmlformats.org/drawingml/2006/main">
            <a:r>
              <a:t>Technical references: https://spike.legoeducation.com/prime/modal/help/lls-help-python ; https://tuftsceeo.github.io/SPIKEPythonDocs/SPIKE3.html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10–15 minutes in the standard lesson. How many drives? How many turns? Does the final D repeat? Which indentation tells you?</a:t>
            </a:r>
          </a:p>
          <a:p xmlns:a="http://schemas.openxmlformats.org/drawingml/2006/main">
            <a:r>
              <a:t>Do not reveal the answer immediately. Ask students to point to a line or a measured value. Expected reasoning: Three drives and three turns. D appears once because it is outside the loop. Moving D inside makes it happen on every pass.</a:t>
            </a:r>
          </a:p>
          <a:p xmlns:a="http://schemas.openxmlformats.org/drawingml/2006/main">
            <a:r>
              <a:t>Support: Provide the complete loop and allow only the number in range to change. Trace with three counters moved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Robot and planning rotations. 1. Walk the planned routine using paper arrows. Check that each repeat has the same actions. Write the predicted number of drives and turns.</a:t>
            </a:r>
          </a:p>
          <a:p xmlns:a="http://schemas.openxmlformats.org/drawingml/2006/main">
            <a:r>
              <a:t>2. Run the supplied three-repeat routine. Navigator counts completed repeats aloud while remaining outside the lane.</a:t>
            </a:r>
          </a:p>
          <a:p xmlns:a="http://schemas.openxmlformats.org/drawingml/2006/main">
            <a:r>
              <a:t>3. Swap roles. Change only the repeat count to 2. Predict and test. Return to 3 if the smaller routine is too brief to observe.</a:t>
            </a:r>
          </a:p>
          <a:p xmlns:a="http://schemas.openxmlformats.org/drawingml/2006/main">
            <a:r>
              <a:t>4. Design a routine using two or three commands inside the loop. Use 60–120 wheel degrees per movement and 2–3 repeats. Mentor checks the predicted area before running.</a:t>
            </a:r>
          </a:p>
          <a:p xmlns:a="http://schemas.openxmlformats.org/drawingml/2006/main">
            <a:r>
              <a:t>5. Use the final turn to show the routine to the other pair. Explain why a turn value of 90 does not guarantee a square corner.</a:t>
            </a:r>
          </a:p>
          <a:p xmlns:a="http://schemas.openxmlformats.org/drawingml/2006/main">
            <a:r>
              <a:t>Off-robot task: Arrange command cards into a loop and trace each pass. Fix a paper example whose final signal is accidentally indented. Write how the observed behavior would differ.</a:t>
            </a:r>
          </a:p>
          <a:p xmlns:a="http://schemas.openxmlformats.org/drawingml/2006/main">
            <a:r>
              <a:t>Week 8 schedule: 12–24 rehearsals, 24–28 setup, 28–44 demos. Otherwise 15–27 first pair, 27–39 second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39–49 minutes for improvement in standard lessons. Record repeats, actions inside the loop, predicted movement count, and observed count. Mark the loop body with a bracket.</a:t>
            </a:r>
          </a:p>
          <a:p xmlns:a="http://schemas.openxmlformats.org/drawingml/2006/main">
            <a:r>
              <a:t>Troubleshooting: Only one action repeats: check indentation. SyntaxError after range: check the colon. Dance drifts: reduce travel and recheck the start area; do not chase perfect geometry in this session.</a:t>
            </a:r>
          </a:p>
          <a:p xmlns:a="http://schemas.openxmlformats.org/drawingml/2006/main">
            <a:r>
              <a:t>Optional extension: Define a short async dance_move function and call it twice, or calibrate a pivot for an approximate corner. Keep this optional and explain the difference between wheel and heading degrees.</a:t>
            </a:r>
          </a:p>
          <a:p xmlns:a="http://schemas.openxmlformats.org/drawingml/2006/main">
            <a:r>
              <a:t>If Python becomes a barrier, preserve the concept using this fallback: When program starts; repeat 3: move straight 0.25 rotations, pivot using a mentor-tested tank or steering movement; after the repeat, display D. Match action order and repetition rather than numeric speed settings.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49–54 minutes: individual explanation. Reserve 54–60 for saving and reset. Three drives and three turns. D appears once because it is outside the loop. Moving D inside makes it happen on every pass.</a:t>
            </a:r>
          </a:p>
          <a:p xmlns:a="http://schemas.openxmlformats.org/drawingml/2006/main">
            <a:r>
              <a:t>Repeated actions and reusable routines simplify robot programs.</a:t>
            </a:r>
          </a:p>
          <a:p xmlns:a="http://schemas.openxmlformats.org/drawingml/2006/main">
            <a:r>
              <a:t>Keep invitations to future activities optional and parent-mediated. Do not equate club attendance with FRC membership.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1d5167b9f49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afcf15092741fb" /><Relationship Type="http://schemas.openxmlformats.org/officeDocument/2006/relationships/slideLayout" Target="/ppt/slideLayouts/slideLayout1.xml" Id="R7c806e4e623740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806e4e623740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21b3d436b40b0" /><Relationship Type="http://schemas.openxmlformats.org/officeDocument/2006/relationships/notesSlide" Target="/ppt/notesSlides/notesSlide1.xml" Id="Rb0e04a24cda64b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0b713af664060" /><Relationship Type="http://schemas.openxmlformats.org/officeDocument/2006/relationships/notesSlide" Target="/ppt/notesSlides/notesSlide2.xml" Id="R8cafa52b27564f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135dafc9b4cd6" /><Relationship Type="http://schemas.openxmlformats.org/officeDocument/2006/relationships/notesSlide" Target="/ppt/notesSlides/notesSlide3.xml" Id="R5290641a80104f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22c219eff472a" /><Relationship Type="http://schemas.openxmlformats.org/officeDocument/2006/relationships/notesSlide" Target="/ppt/notesSlides/notesSlide4.xml" Id="Raeeb4ad3e8c944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6a32e0782456b" /><Relationship Type="http://schemas.openxmlformats.org/officeDocument/2006/relationships/notesSlide" Target="/ppt/notesSlides/notesSlide5.xml" Id="R7d0558a6086349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3402b9dc94be8" /><Relationship Type="http://schemas.openxmlformats.org/officeDocument/2006/relationships/notesSlide" Target="/ppt/notesSlides/notesSlide6.xml" Id="Rd42e90c3cbe24b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16900874640fb" /><Relationship Type="http://schemas.openxmlformats.org/officeDocument/2006/relationships/notesSlide" Target="/ppt/notesSlides/notesSlide7.xml" Id="Re64f6c586e404b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E5E88-AC16-45C5-8FB2-A2311607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0572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Robot dance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4D27A-F360-4B8D-B1E3-BD4E32EC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38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9DDAD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9DDADD"/>
                </a:solidFill>
                <a:latin typeface="Arial"/>
                <a:ea typeface="Arial"/>
                <a:cs typeface="Arial"/>
              </a:rPr>
              <a:t>A loop repeats a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8DA0F-D650-402A-B929-38118448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D4D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D4DC"/>
                </a:solidFill>
                <a:latin typeface="Arial"/>
                <a:ea typeface="Arial"/>
                <a:cs typeface="Arial"/>
              </a:rPr>
              <a:t>Week 3 · MechaRAMS at the YMCA</a:t>
            </a:r>
          </a:p>
        </p:txBody>
      </p:sp>
    </p:spTree>
    <p:extLst>
      <p:ext uri="{BB962C8B-B14F-4D97-AF65-F5344CB8AC3E}">
        <p14:creationId xmlns:p14="http://schemas.microsoft.com/office/powerpoint/2010/main" val="695754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ADD61-2360-4AEC-B23A-E7F2F2DA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Today’s robot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3C579-774A-485D-B8FA-4F8E48B6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A short two-action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AD67F-C7E8-4440-A66F-6BFBE8C3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A repeat count you can explain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318AB-712B-411F-B7F5-F40631C1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A clear space for the whole dance</a:t>
            </a:r>
          </a:p>
        </p:txBody>
      </p:sp>
    </p:spTree>
    <p:extLst>
      <p:ext uri="{BB962C8B-B14F-4D97-AF65-F5344CB8AC3E}">
        <p14:creationId xmlns:p14="http://schemas.microsoft.com/office/powerpoint/2010/main" val="1515252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7C82F-C755-4011-A3F3-A068539C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Counted loops and indentation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DE7ED-9379-40E2-B1CE-702CC4C6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beat in range(3):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await drive(90)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await turn(90)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await signal("D")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9E2CE-F987-48D5-9D51-EB0BE2EC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D4D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D4DC"/>
                </a:solidFill>
                <a:latin typeface="Arial"/>
                <a:ea typeface="Arial"/>
                <a:cs typeface="Arial"/>
              </a:rPr>
              <a:t>Reading fragment from a complete supplied Python project</a:t>
            </a:r>
          </a:p>
        </p:txBody>
      </p:sp>
    </p:spTree>
    <p:extLst>
      <p:ext uri="{BB962C8B-B14F-4D97-AF65-F5344CB8AC3E}">
        <p14:creationId xmlns:p14="http://schemas.microsoft.com/office/powerpoint/2010/main" val="103939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CD015-2CE1-4CEE-830E-A57425C9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A prediction before the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2DB0A-FC87-45B1-8FCC-0D64B38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How many drives happen in three repeats?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83BBB-5AE5-458F-8F50-1CD5D97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47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Does a signal outside the loop repeat?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E19D8-5A71-4CF5-96D2-2B411051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Both partners explain a prediction before anyone presses Run.</a:t>
            </a:r>
          </a:p>
        </p:txBody>
      </p:sp>
    </p:spTree>
    <p:extLst>
      <p:ext uri="{BB962C8B-B14F-4D97-AF65-F5344CB8AC3E}">
        <p14:creationId xmlns:p14="http://schemas.microsoft.com/office/powerpoint/2010/main" val="2132342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C677B-819C-4B4E-BE4E-72153438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Your work with a partner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60913-205C-4F26-B3E9-E2D8B5A3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Driver: edit and start after the lane check.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F2D01-582F-43AF-A277-3E432B9F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Navigator: predict, check, and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9ECEB-16EF-4C5C-8FB8-D3D047B6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Swap roles halfway through your robot turn.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47740-1D14-4D8A-B0F5-72D696B6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Away from the robot: complete the worksheet task.</a:t>
            </a:r>
          </a:p>
        </p:txBody>
      </p:sp>
    </p:spTree>
    <p:extLst>
      <p:ext uri="{BB962C8B-B14F-4D97-AF65-F5344CB8AC3E}">
        <p14:creationId xmlns:p14="http://schemas.microsoft.com/office/powerpoint/2010/main" val="322551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DC2F4-8B24-4100-8752-039DE2E9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Evidence from our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316D6-E50B-4757-A90E-8BC751E3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We changed ____________________.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4EFFF-FA1F-46E3-A7FD-AC95BC79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We predicted ____________________.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87E93-5285-40D9-BF05-5D4B08CF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We observed ____________________.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D52E0-FBB9-46CB-B1FC-8F6A5A25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Our next test would ____________________.</a:t>
            </a:r>
          </a:p>
        </p:txBody>
      </p:sp>
    </p:spTree>
    <p:extLst>
      <p:ext uri="{BB962C8B-B14F-4D97-AF65-F5344CB8AC3E}">
        <p14:creationId xmlns:p14="http://schemas.microsoft.com/office/powerpoint/2010/main" val="5919064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9BEEA-32FC-4442-801E-E7170637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What you can explain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41672-218F-444C-B5A3-75236832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047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Point to the repeating lines. What changes if range(3) becomes range(2)?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6F210-AD7E-425D-B62B-8AE6DD1E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6E7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6E75"/>
                </a:solidFill>
                <a:latin typeface="Arial"/>
                <a:ea typeface="Arial"/>
                <a:cs typeface="Arial"/>
              </a:rPr>
              <a:t>Save your project. Reset the robot and parts for the next pair.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62426-C408-4FBC-A3EE-9ABB6A94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Repeated actions and reusable routines simplify robot programs.</a:t>
            </a:r>
          </a:p>
        </p:txBody>
      </p:sp>
    </p:spTree>
    <p:extLst>
      <p:ext uri="{BB962C8B-B14F-4D97-AF65-F5344CB8AC3E}">
        <p14:creationId xmlns:p14="http://schemas.microsoft.com/office/powerpoint/2010/main" val="861435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2026-10-02T02:43:40.6240000Z</dcterms:created>
  <dcterms:modified xsi:type="dcterms:W3CDTF">2026-10-02T02:43:40.6240000Z</dcterms:modified>
</coreProperties>
</file>