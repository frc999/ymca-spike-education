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f6bda05dc54625" /><Relationship Type="http://schemas.openxmlformats.org/officeDocument/2006/relationships/extended-properties" Target="/docProps/app.xml" Id="Rb3913f1c4d344960" /><Relationship Type="http://schemas.openxmlformats.org/officeDocument/2006/relationships/officeDocument" Target="/ppt/presentation.xml" Id="Rfce2251e6ef94667" /></Relationships>
</file>

<file path=ppt/presentation.xml><?xml version="1.0" encoding="utf-8"?>
<p:presentation xmlns:p="http://schemas.openxmlformats.org/presentationml/2006/main">
  <p:sldMasterIdLst>
    <p:sldMasterId xmlns:r="http://schemas.openxmlformats.org/officeDocument/2006/relationships" id="2147483648" r:id="R313d0a24989541c0"/>
  </p:sldMasterIdLst>
  <p:notesMasterIdLst>
    <p:notesMasterId xmlns:r="http://schemas.openxmlformats.org/officeDocument/2006/relationships" r:id="Rd6da861d6fae4243"/>
  </p:notesMasterIdLst>
  <p:sldIdLst>
    <p:sldId xmlns:r="http://schemas.openxmlformats.org/officeDocument/2006/relationships" id="256" r:id="Rf8ab884e81334af5"/>
    <p:sldId xmlns:r="http://schemas.openxmlformats.org/officeDocument/2006/relationships" id="257" r:id="R4557a5f640a44306"/>
    <p:sldId xmlns:r="http://schemas.openxmlformats.org/officeDocument/2006/relationships" id="258" r:id="R013d2e3b6d53461a"/>
    <p:sldId xmlns:r="http://schemas.openxmlformats.org/officeDocument/2006/relationships" id="259" r:id="R6fbfd58470cd4dd8"/>
    <p:sldId xmlns:r="http://schemas.openxmlformats.org/officeDocument/2006/relationships" id="260" r:id="Ref999c9589224179"/>
    <p:sldId xmlns:r="http://schemas.openxmlformats.org/officeDocument/2006/relationships" id="261" r:id="R057b3f54a4424a6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39b1a3ec4b4f28" /><Relationship Type="http://schemas.openxmlformats.org/officeDocument/2006/relationships/slideMaster" Target="/ppt/slideMasters/slideMaster1.xml" Id="R313d0a24989541c0" /><Relationship Type="http://schemas.openxmlformats.org/officeDocument/2006/relationships/notesMaster" Target="/ppt/notesMasters/notesMaster1.xml" Id="Rd6da861d6fae4243" /><Relationship Type="http://schemas.openxmlformats.org/officeDocument/2006/relationships/presProps" Target="/ppt/presProps.xml" Id="Rde77a2c0740f4b2c" /><Relationship Type="http://schemas.openxmlformats.org/officeDocument/2006/relationships/tableStyles" Target="/ppt/tableStyles.xml" Id="Ra4adba827c064feb" /><Relationship Type="http://schemas.openxmlformats.org/officeDocument/2006/relationships/slide" Target="/ppt/slides/slide1.xml" Id="Rf8ab884e81334af5" /><Relationship Type="http://schemas.openxmlformats.org/officeDocument/2006/relationships/slide" Target="/ppt/slides/slide2.xml" Id="R4557a5f640a44306" /><Relationship Type="http://schemas.openxmlformats.org/officeDocument/2006/relationships/slide" Target="/ppt/slides/slide3.xml" Id="R013d2e3b6d53461a" /><Relationship Type="http://schemas.openxmlformats.org/officeDocument/2006/relationships/slide" Target="/ppt/slides/slide4.xml" Id="R6fbfd58470cd4dd8" /><Relationship Type="http://schemas.openxmlformats.org/officeDocument/2006/relationships/slide" Target="/ppt/slides/slide5.xml" Id="Ref999c9589224179" /><Relationship Type="http://schemas.openxmlformats.org/officeDocument/2006/relationships/slide" Target="/ppt/slides/slide6.xml" Id="R057b3f54a4424a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bfa94903104bd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3addb04c3564093" /><Relationship Type="http://schemas.openxmlformats.org/officeDocument/2006/relationships/notesMaster" Target="/ppt/notesMasters/notesMaster1.xml" Id="R5f7efd3f9be848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be2f5967fce4ef6" /><Relationship Type="http://schemas.openxmlformats.org/officeDocument/2006/relationships/notesMaster" Target="/ppt/notesMasters/notesMaster1.xml" Id="R48dbaadf28374c8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7fe04ff4aa43e3" /><Relationship Type="http://schemas.openxmlformats.org/officeDocument/2006/relationships/notesMaster" Target="/ppt/notesMasters/notesMaster1.xml" Id="R50d24772ccc34c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c68fbf301e1842c7" /><Relationship Type="http://schemas.openxmlformats.org/officeDocument/2006/relationships/notesMaster" Target="/ppt/notesMasters/notesMaster1.xml" Id="Rdf46dff840484b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f49490997f494d" /><Relationship Type="http://schemas.openxmlformats.org/officeDocument/2006/relationships/notesMaster" Target="/ppt/notesMasters/notesMaster1.xml" Id="R701d2791689a4fb4"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5064aa4a7940d2" /><Relationship Type="http://schemas.openxmlformats.org/officeDocument/2006/relationships/notesMaster" Target="/ppt/notesMasters/notesMaster1.xml" Id="Rd4c4587f8c3945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PREPARATION</a:t>
            </a:r>
          </a:p>
          <a:p xmlns:a="http://schemas.openxmlformats.org/drawingml/2006/main">
            <a:r>
              <a:t/>
            </a:r>
          </a:p>
          <a:p xmlns:a="http://schemas.openxmlformats.org/drawingml/2006/main">
            <a:r>
              <a:t>Week 3 Robot dance studio</a:t>
            </a:r>
          </a:p>
          <a:p xmlns:a="http://schemas.openxmlformats.org/drawingml/2006/main">
            <a:r>
              <a:t/>
            </a:r>
          </a:p>
          <a:p xmlns:a="http://schemas.openxmlformats.org/drawingml/2006/main">
            <a:r>
              <a:t>Speaker notes for the six-slide class presentation. Use the slides as brief prompts and leave time for children to build, operate and explain. This is a robotics session with a small prepared Python recipe.</a:t>
            </a:r>
          </a:p>
          <a:p xmlns:a="http://schemas.openxmlformats.org/drawingml/2006/main">
            <a:r>
              <a:t/>
            </a:r>
          </a:p>
          <a:p xmlns:a="http://schemas.openxmlformats.org/drawingml/2006/main">
            <a:r>
              <a:t>Class setup</a:t>
            </a:r>
          </a:p>
          <a:p xmlns:a="http://schemas.openxmlformats.org/drawingml/2006/main">
            <a:r>
              <a:t/>
            </a:r>
          </a:p>
          <a:p xmlns:a="http://schemas.openxmlformats.org/drawingml/2006/main">
            <a:r>
              <a:t>12 children in grades 5–6 form four teams of three: T1/T2 share Kit A and T3/T4 share Kit B. Four student instructors cover two robot stations and two build tables; a fifth or sixth can float. The adult lead oversees the room and YMCA procedures. Bring four available laptops: two remain connected to robots and two show build references. Printed build cards make the build activity work with two laptops too.</a:t>
            </a:r>
          </a:p>
          <a:p xmlns:a="http://schemas.openxmlformats.org/drawingml/2006/main">
            <a:r>
              <a:t/>
            </a:r>
          </a:p>
          <a:p xmlns:a="http://schemas.openxmlformats.org/drawingml/2006/main">
            <a:r>
              <a:t>Learning goal Each child traces a counted loop and explains which actions repeat and how many times.</a:t>
            </a:r>
          </a:p>
          <a:p xmlns:a="http://schemas.openxmlformats.org/drawingml/2006/main">
            <a:r>
              <a:t/>
            </a:r>
          </a:p>
          <a:p xmlns:a="http://schemas.openxmlformats.org/drawingml/2006/main">
            <a:r>
              <a:t>Minimum success A short routine repeats three times, stays within the test area, and the team accurately predicts the number of movements.</a:t>
            </a:r>
          </a:p>
          <a:p xmlns:a="http://schemas.openxmlformats.org/drawingml/2006/main">
            <a:r>
              <a:t/>
            </a:r>
          </a:p>
          <a:p xmlns:a="http://schemas.openxmlformats.org/drawingml/2006/main">
            <a:r>
              <a:t>Prepare Open W03_dance.py. Test a small pivot of 90 wheel degrees before class. Use low speed and a clear perimeter. The turn helper is an open-loop pivot, not a command for a 90-degree heading change. Prepare two mentor examples and four labeled team build packs. Rehearse attachment clearance, a hand test and a quick swap. Show the hub color guide.</a:t>
            </a:r>
          </a:p>
          <a:p xmlns:a="http://schemas.openxmlformats.org/drawingml/2006/main">
            <a:r>
              <a:t/>
            </a:r>
          </a:p>
          <a:p xmlns:a="http://schemas.openxmlformats.org/drawingml/2006/main">
            <a:r>
              <a:t>Materials and files Print and pack from the matching checklist in 01_Instructor/Class_Preparation. Use the team sheet and build card. Keep the original two bases assembled, A left/B right, auxiliary motor unplugged; add C/D only as the lessons require. Hardware rehearsal remains required.</a:t>
            </a:r>
          </a:p>
          <a:p xmlns:a="http://schemas.openxmlformats.org/drawingml/2006/main">
            <a:r>
              <a:t/>
            </a:r>
          </a:p>
          <a:p xmlns:a="http://schemas.openxmlformats.org/drawingml/2006/main">
            <a:r>
              <a:t>Slide 1 Robot dance studio</a:t>
            </a:r>
          </a:p>
          <a:p xmlns:a="http://schemas.openxmlformats.org/drawingml/2006/main">
            <a:r>
              <a:t/>
            </a:r>
          </a:p>
          <a:p xmlns:a="http://schemas.openxmlformats.org/drawingml/2006/main">
            <a:r>
              <a:t>Timing 0–5 minutes</a:t>
            </a:r>
          </a:p>
          <a:p xmlns:a="http://schemas.openxmlformats.org/drawingml/2006/main">
            <a:r>
              <a:t/>
            </a:r>
          </a:p>
          <a:p xmlns:a="http://schemas.openxmlformats.org/drawingml/2006/main">
            <a:r>
              <a:t>Say “Today’s challenge is a repeating robot dance. You will predict, test, and use evidence to explain your choice. All three teammates will operate and explain.”</a:t>
            </a:r>
          </a:p>
          <a:p xmlns:a="http://schemas.openxmlformats.org/drawingml/2006/main">
            <a:r>
              <a:t/>
            </a:r>
          </a:p>
          <a:p xmlns:a="http://schemas.openxmlformats.org/drawingml/2006/main">
            <a:r>
              <a:t>Ask before explaining What made last week’s distance trials a fair comparison?</a:t>
            </a:r>
          </a:p>
          <a:p xmlns:a="http://schemas.openxmlformats.org/drawingml/2006/main">
            <a:r>
              <a:t/>
            </a:r>
          </a:p>
          <a:p xmlns:a="http://schemas.openxmlformats.org/drawingml/2006/main">
            <a:r>
              <a:t>Listen for Change one value and keep the start, floor, robot and speed the same.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Todays robot challenge</a:t>
            </a:r>
          </a:p>
          <a:p xmlns:a="http://schemas.openxmlformats.org/drawingml/2006/main">
            <a:r>
              <a:t/>
            </a:r>
          </a:p>
          <a:p xmlns:a="http://schemas.openxmlformats.org/drawingml/2006/main">
            <a:r>
              <a:t>Timing 5–10 minutes</a:t>
            </a:r>
          </a:p>
          <a:p xmlns:a="http://schemas.openxmlformats.org/drawingml/2006/main">
            <a:r>
              <a:t/>
            </a:r>
          </a:p>
          <a:p xmlns:a="http://schemas.openxmlformats.org/drawingml/2006/main">
            <a:r>
              <a:t>Purpose Each student traces a counted loop and explains which actions repeat and how many times.</a:t>
            </a:r>
          </a:p>
          <a:p xmlns:a="http://schemas.openxmlformats.org/drawingml/2006/main">
            <a:r>
              <a:t/>
            </a:r>
          </a:p>
          <a:p xmlns:a="http://schemas.openxmlformats.org/drawingml/2006/main">
            <a:r>
              <a:t>Do and explain Compare three copies of two actions with one for loop. Say: “The indented lines belong to the loop.” Trace with a finger three times. Keep the support functions collapsed if the editor allows it.</a:t>
            </a:r>
          </a:p>
          <a:p xmlns:a="http://schemas.openxmlformats.org/drawingml/2006/main">
            <a:r>
              <a:t/>
            </a:r>
          </a:p>
          <a:p xmlns:a="http://schemas.openxmlformats.org/drawingml/2006/main">
            <a:r>
              <a:t>Suggested words “Our useful result today is this: A short routine repeats three times, stays within the test area, and the team accurately predicts the number of movements. A test that misses still gives us information if we record it accurately.”</a:t>
            </a:r>
          </a:p>
          <a:p xmlns:a="http://schemas.openxmlformats.org/drawingml/2006/main">
            <a:r>
              <a:t/>
            </a:r>
          </a:p>
          <a:p xmlns:a="http://schemas.openxmlformats.org/drawingml/2006/main">
            <a:r>
              <a:t>Ask “What did the robot do? What evidence could we record? What must stay the same when we compare the next run?” Let a different student answer each question.</a:t>
            </a:r>
          </a:p>
          <a:p xmlns:a="http://schemas.openxmlformats.org/drawingml/2006/main">
            <a:r>
              <a:t/>
            </a:r>
          </a:p>
          <a:p xmlns:a="http://schemas.openxmlformats.org/drawingml/2006/main">
            <a:r>
              <a:t>If the example fails Only one action repeats: check indentation. SyntaxError after range: check the colon. Dance drifts: reduce travel and recheck the start area; do not chase perfect geometry in this session. Allow one quick reset, then use the prepared stationary or paper explanation. Student testing time should not become a repair demonstration.</a:t>
            </a:r>
          </a:p>
          <a:p xmlns:a="http://schemas.openxmlformats.org/drawingml/2006/main">
            <a:r>
              <a:t/>
            </a:r>
          </a:p>
          <a:p xmlns:a="http://schemas.openxmlformats.org/drawingml/2006/main">
            <a:r>
              <a:t>Hub check Read the light on the correct button: steady green center means powered on with a compatible OS and at least 20% battery; flashing orange center means charge; flashing red center means stop, power off and cool for 15 minutes. White center needs a compatible OS; flashing purple center means updating. Blue is the connection button: flashing means waiting for Bluetooth, steady means connected. A display letter is a program output, not a battery or connection status. See the full SPIKE Hub Color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Counted loops and indentation and prediction</a:t>
            </a:r>
          </a:p>
          <a:p xmlns:a="http://schemas.openxmlformats.org/drawingml/2006/main">
            <a:r>
              <a:t/>
            </a:r>
          </a:p>
          <a:p xmlns:a="http://schemas.openxmlformats.org/drawingml/2006/main">
            <a:r>
              <a:t>Timing 10–14 minutes</a:t>
            </a:r>
          </a:p>
          <a:p xmlns:a="http://schemas.openxmlformats.org/drawingml/2006/main">
            <a:r>
              <a:t/>
            </a:r>
          </a:p>
          <a:p xmlns:a="http://schemas.openxmlformats.org/drawingml/2006/main">
            <a:r>
              <a:t>for beat in range(3):</a:t>
            </a:r>
          </a:p>
          <a:p xmlns:a="http://schemas.openxmlformats.org/drawingml/2006/main">
            <a:r>
              <a:t>    await drive(90)</a:t>
            </a:r>
          </a:p>
          <a:p xmlns:a="http://schemas.openxmlformats.org/drawingml/2006/main">
            <a:r>
              <a:t>    await turn(90)</a:t>
            </a:r>
          </a:p>
          <a:p xmlns:a="http://schemas.openxmlformats.org/drawingml/2006/main">
            <a:r>
              <a:t>await signal("D")</a:t>
            </a:r>
          </a:p>
          <a:p xmlns:a="http://schemas.openxmlformats.org/drawingml/2006/main">
            <a:r>
              <a:t/>
            </a:r>
          </a:p>
          <a:p xmlns:a="http://schemas.openxmlformats.org/drawingml/2006/main">
            <a:r>
              <a:t>Say “The line with for tells us how many times to repeat. The indented lines are the actions we repeat. The signal at the left edge happens after the loop.”</a:t>
            </a:r>
          </a:p>
          <a:p xmlns:a="http://schemas.openxmlformats.org/drawingml/2006/main">
            <a:r>
              <a:t/>
            </a:r>
          </a:p>
          <a:p xmlns:a="http://schemas.openxmlformats.org/drawingml/2006/main">
            <a:r>
              <a:t>Point range(3) runs three passes. The colon opens the loop body. Keep drive and turn equally indented; keep the final D outside. Students need not learn the values of beat yet.</a:t>
            </a:r>
          </a:p>
          <a:p xmlns:a="http://schemas.openxmlformats.org/drawingml/2006/main">
            <a:r>
              <a:t/>
            </a:r>
          </a:p>
          <a:p xmlns:a="http://schemas.openxmlformats.org/drawingml/2006/main">
            <a:r>
              <a:t>Ask How many drives? How many turns? Does the final D repeat? Which indentation tells you?</a:t>
            </a:r>
          </a:p>
          <a:p xmlns:a="http://schemas.openxmlformats.org/drawingml/2006/main">
            <a:r>
              <a:t/>
            </a:r>
          </a:p>
          <a:p xmlns:a="http://schemas.openxmlformats.org/drawingml/2006/main">
            <a:r>
              <a:t>Expected reasoning Three drives and three turns. D appears once because it is outside the loop. Moving D inside makes it happen on every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Our robot and build jobs</a:t>
            </a:r>
          </a:p>
          <a:p xmlns:a="http://schemas.openxmlformats.org/drawingml/2006/main">
            <a:r>
              <a:t/>
            </a:r>
          </a:p>
          <a:p xmlns:a="http://schemas.openxmlformats.org/drawingml/2006/main">
            <a:r>
              <a:t>Timing 14–38 then retests minutes</a:t>
            </a:r>
          </a:p>
          <a:p xmlns:a="http://schemas.openxmlformats.org/drawingml/2006/main">
            <a:r>
              <a:t/>
            </a:r>
          </a:p>
          <a:p xmlns:a="http://schemas.openxmlformats.org/drawingml/2006/main">
            <a:r>
              <a:t>Station map 14–26: T1/T3 use robots and T2/T4 build. 26–38: teams switch stations. 38–44: T1/T3 retest while the other teams finish builds. 44–50: T2/T4 retest. Rotate roles at 18, 22, 30, 34, 40, 42, 46 and 48 minutes. Each team has 18 robot minutes, giving each child about six minutes as driver plus handling, observing and building. Transitions occur within these blocks.</a:t>
            </a:r>
          </a:p>
          <a:p xmlns:a="http://schemas.openxmlformats.org/drawingml/2006/main">
            <a:r>
              <a:t/>
            </a:r>
          </a:p>
          <a:p xmlns:a="http://schemas.openxmlformats.org/drawingml/2006/main">
            <a:r>
              <a:t>Jobs At the robot, the driver edits and starts after “clear.” The navigator reads the step, predicts, positions the stopped robot and payload, fits an approved attachment and checks the lane. The observer watches, measures and records one number, tick or phrase. Rotate all three jobs every four minutes in the first turn and every two minutes in the retest. At the build table, rotate builder, designer/parts manager and tester/reporter on the same timer. Everyone contributes hands-on work.</a:t>
            </a:r>
          </a:p>
          <a:p xmlns:a="http://schemas.openxmlformats.org/drawingml/2006/main">
            <a:r>
              <a:t/>
            </a:r>
          </a:p>
          <a:p xmlns:a="http://schemas.openxmlformats.org/drawingml/2006/main">
            <a:r>
              <a:t>Robot steps 1. Walk the planned routine using paper arrows. Check that each repeat has the same actions. Write the predicted number of drives and turns. 2. Run the supplied three-repeat routine. Navigator counts completed repeats aloud while remaining outside the lane. 3. Swap roles. Change only the repeat count to 2. Predict and test. Return to 3 if the smaller routine is too brief to observe. 4. Design a routine using two or three commands inside the loop. Use 60–120 wheel degrees per movement and 2–3 repeats. Mentor checks the predicted area before running. 5. Use the final turn to show the routine to the other team. Explain why a turn value of 90 does not guarantee a square corner.</a:t>
            </a:r>
          </a:p>
          <a:p xmlns:a="http://schemas.openxmlformats.org/drawingml/2006/main">
            <a:r>
              <a:t/>
            </a:r>
          </a:p>
          <a:p xmlns:a="http://schemas.openxmlformats.org/drawingml/2006/main">
            <a:r>
              <a:t>Build A dancing character with moving parts. Build a lightweight character with arms or a feature that can move by hand and still stays attached. Build the character and a stable support. Add a free-moving arm, hinge or axle that stays outside the wheel path. Move it by hand ten times and improve a loose or tipping part. Test: Moving feature works by hand without jamming; support survives gentle handling.</a:t>
            </a:r>
          </a:p>
          <a:p xmlns:a="http://schemas.openxmlformats.org/drawingml/2006/main">
            <a:r>
              <a:t/>
            </a:r>
          </a:p>
          <a:p xmlns:a="http://schemas.openxmlformats.org/drawingml/2006/main">
            <a:r>
              <a:t>Connection to robot The tested character may ride on the stopped base after a mentor clearance check. Its mechanism is passive; the robot program makes the base dance.</a:t>
            </a:r>
          </a:p>
          <a:p xmlns:a="http://schemas.openxmlformats.org/drawingml/2006/main">
            <a:r>
              <a:t/>
            </a:r>
          </a:p>
          <a:p xmlns:a="http://schemas.openxmlformats.org/drawingml/2006/main">
            <a:r>
              <a:t>Coaching Ask for an observation before suggesting a change. Help with one connection or edit, then return control. Typing can be assisted; the child still chooses, predicts and starts the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Evidence from our test</a:t>
            </a:r>
          </a:p>
          <a:p xmlns:a="http://schemas.openxmlformats.org/drawingml/2006/main">
            <a:r>
              <a:t/>
            </a:r>
          </a:p>
          <a:p xmlns:a="http://schemas.openxmlformats.org/drawingml/2006/main">
            <a:r>
              <a:t>Timing 38–50 minutes in two six-minute retests.</a:t>
            </a:r>
          </a:p>
          <a:p xmlns:a="http://schemas.openxmlformats.org/drawingml/2006/main">
            <a:r>
              <a:t/>
            </a:r>
          </a:p>
          <a:p xmlns:a="http://schemas.openxmlformats.org/drawingml/2006/main">
            <a:r>
              <a:t>Evidence At the robot: each child makes a prediction and takes a driver turn. Keep one number, tick or short phrase per trial. At the build table: show the model and its hand-test result. Record repeats, actions inside the loop, predicted movement count, and observed count. Mark the loop body with a bracket.</a:t>
            </a:r>
          </a:p>
          <a:p xmlns:a="http://schemas.openxmlformats.org/drawingml/2006/main">
            <a:r>
              <a:t/>
            </a:r>
          </a:p>
          <a:p xmlns:a="http://schemas.openxmlformats.org/drawingml/2006/main">
            <a:r>
              <a:t>Ask What changed? What stayed the same? What did the real run show? Record a tick, short phrase or number at the robot. The build table tests the model by hand rather than repeating a worksheet.</a:t>
            </a:r>
          </a:p>
          <a:p xmlns:a="http://schemas.openxmlformats.org/drawingml/2006/main">
            <a:r>
              <a:t/>
            </a:r>
          </a:p>
          <a:p xmlns:a="http://schemas.openxmlformats.org/drawingml/2006/main">
            <a:r>
              <a:t>Troubleshooting Only one action repeats: check indentation. SyntaxError after range: check the colon. Dance drifts: reduce travel and recheck the start area; do not chase perfect geometry in this session.</a:t>
            </a:r>
          </a:p>
          <a:p xmlns:a="http://schemas.openxmlformats.org/drawingml/2006/main">
            <a:r>
              <a:t/>
            </a:r>
          </a:p>
          <a:p xmlns:a="http://schemas.openxmlformats.org/drawingml/2006/main">
            <a:r>
              <a:t>Support Provide the complete loop and allow only the number in range to change. Trace with three counters moved one at a time.</a:t>
            </a:r>
          </a:p>
          <a:p xmlns:a="http://schemas.openxmlformats.org/drawingml/2006/main">
            <a:r>
              <a:t/>
            </a:r>
          </a:p>
          <a:p xmlns:a="http://schemas.openxmlformats.org/drawingml/2006/main">
            <a:r>
              <a:t>Extension Define a short async dance_move function and call it twice, or calibrate a pivot for an approximate corner. Keep this optional and explain the difference between wheel and heading degrees.</a:t>
            </a:r>
          </a:p>
          <a:p xmlns:a="http://schemas.openxmlformats.org/drawingml/2006/main">
            <a:r>
              <a:t/>
            </a:r>
          </a:p>
          <a:p xmlns:a="http://schemas.openxmlformats.org/drawingml/2006/main">
            <a:r>
              <a:t>If needed When program starts; repeat 3: move straight 0.25 rotations, pivot using a mentor-tested tank or steering movement; after the repeat, display D. Match action order and repetition rather than numeric speed 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What we learned and noticed</a:t>
            </a:r>
          </a:p>
          <a:p xmlns:a="http://schemas.openxmlformats.org/drawingml/2006/main">
            <a:r>
              <a:t/>
            </a:r>
          </a:p>
          <a:p xmlns:a="http://schemas.openxmlformats.org/drawingml/2006/main">
            <a:r>
              <a:t>Timing 50–54 minutes for reflection; 54–60 for saving, packing and pickup.</a:t>
            </a:r>
          </a:p>
          <a:p xmlns:a="http://schemas.openxmlformats.org/drawingml/2006/main">
            <a:r>
              <a:t/>
            </a:r>
          </a:p>
          <a:p xmlns:a="http://schemas.openxmlformats.org/drawingml/2006/main">
            <a:r>
              <a:t>Ask each child What did you learn about repeating actions? What did you notice during the robot dance? What would you change in the dance or character?</a:t>
            </a:r>
          </a:p>
          <a:p xmlns:a="http://schemas.openxmlformats.org/drawingml/2006/main">
            <a:r>
              <a:t/>
            </a:r>
          </a:p>
          <a:p xmlns:a="http://schemas.openxmlformats.org/drawingml/2006/main">
            <a:r>
              <a:t>Facilitate Run two pod conversations in parallel. Give each of the six children about 20–30 seconds for one chosen prompt. Invite a concrete observation from the robot or build. Accept pointing, a demonstration or a short sentence.</a:t>
            </a:r>
          </a:p>
          <a:p xmlns:a="http://schemas.openxmlformats.org/drawingml/2006/main">
            <a:r>
              <a:t/>
            </a:r>
          </a:p>
          <a:p xmlns:a="http://schemas.openxmlformats.org/drawingml/2006/main">
            <a:r>
              <a:t>Listen for Three drives and three turns. D appears once because it is outside the loop. Moving D inside makes it happen on every pass.</a:t>
            </a:r>
          </a:p>
          <a:p xmlns:a="http://schemas.openxmlformats.org/drawingml/2006/main">
            <a:r>
              <a:t/>
            </a:r>
          </a:p>
          <a:p xmlns:a="http://schemas.openxmlformats.org/drawingml/2006/main">
            <a:r>
              <a:t>Close Save T1–T4 projects, stop and park both robots, remove only approved temporary attachments, store four labeled builds and count parts. Follow YMCA pickup procedures.</a:t>
            </a:r>
          </a:p>
          <a:p xmlns:a="http://schemas.openxmlformats.org/drawingml/2006/main">
            <a:r>
              <a:t/>
            </a:r>
          </a:p>
          <a:p xmlns:a="http://schemas.openxmlformats.org/drawingml/2006/main">
            <a:r>
              <a:t>Optional connection Repeated actions and reusable routines simplify robot programs.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bbb67c279a41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83811193034b42" /><Relationship Type="http://schemas.openxmlformats.org/officeDocument/2006/relationships/slideLayout" Target="/ppt/slideLayouts/slideLayout1.xml" Id="R358ae375915c47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8ae375915c47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9b9fb3f1e024f73" /><Relationship Type="http://schemas.openxmlformats.org/officeDocument/2006/relationships/notesSlide" Target="/ppt/notesSlides/notesSlide1.xml" Id="Rd1549ffcdc90422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1d91fd7a17e48a1" /><Relationship Type="http://schemas.openxmlformats.org/officeDocument/2006/relationships/notesSlide" Target="/ppt/notesSlides/notesSlide2.xml" Id="Rc56d8f1ff67b470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3b39c0369c540e6" /><Relationship Type="http://schemas.openxmlformats.org/officeDocument/2006/relationships/notesSlide" Target="/ppt/notesSlides/notesSlide3.xml" Id="R448765f0e42f4da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5d7e150b2e84a1a" /><Relationship Type="http://schemas.openxmlformats.org/officeDocument/2006/relationships/notesSlide" Target="/ppt/notesSlides/notesSlide4.xml" Id="R675068bb2da34b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c345f31e2c04ac5" /><Relationship Type="http://schemas.openxmlformats.org/officeDocument/2006/relationships/notesSlide" Target="/ppt/notesSlides/notesSlide5.xml" Id="R3739800d8a05471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53a7de0487b4d28" /><Relationship Type="http://schemas.openxmlformats.org/officeDocument/2006/relationships/notesSlide" Target="/ppt/notesSlides/notesSlide6.xml" Id="Rc60da18e4150483b" /></Relationships>
</file>

<file path=ppt/slides/slide1.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2CFE5E88-AC16-45C5-8FB2-A2311607B59A}"/>
              </a:ext>
            </a:extLst>
          </p:cNvPr>
          <p:cNvSpPr>
            <a:spLocks xmlns:a="http://schemas.openxmlformats.org/drawingml/2006/main" noGrp="1"/>
          </p:cNvSpPr>
          <p:nvPr/>
        </p:nvSpPr>
        <p:spPr>
          <a:xfrm xmlns:a="http://schemas.openxmlformats.org/drawingml/2006/main">
            <a:off x="762000" y="1257300"/>
            <a:ext cx="105727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5100" b="1">
                <a:solidFill>
                  <a:srgbClr val="FFFFFF"/>
                </a:solidFill>
                <a:latin typeface="Arial"/>
                <a:ea typeface="Arial"/>
                <a:cs typeface="Arial"/>
              </a:defRPr>
            </a:pPr>
            <a:r>
              <a:rPr sz="5100" b="1">
                <a:solidFill>
                  <a:srgbClr val="FFFFFF"/>
                </a:solidFill>
                <a:latin typeface="Arial"/>
                <a:ea typeface="Arial"/>
                <a:cs typeface="Arial"/>
              </a:rPr>
              <a:t>Robot dance studio</a:t>
            </a:r>
          </a:p>
        </p:txBody>
      </p:sp>
      <p:sp>
        <p:nvSpPr>
          <p:cNvPr id="2" name="">
            <a:extLst xmlns:a="http://schemas.openxmlformats.org/drawingml/2006/main">
              <a:ext uri="{FF2B5EF4-FFF2-40B4-BE49-F238E27FC236}">
                <a16:creationId xmlns:a16="http://schemas.microsoft.com/office/drawing/2014/main" id="{1DD4D27A-F360-4B8D-B1E3-BD4E32EC586F}"/>
              </a:ext>
            </a:extLst>
          </p:cNvPr>
          <p:cNvSpPr>
            <a:spLocks xmlns:a="http://schemas.openxmlformats.org/drawingml/2006/main" noGrp="1"/>
          </p:cNvSpPr>
          <p:nvPr/>
        </p:nvSpPr>
        <p:spPr>
          <a:xfrm xmlns:a="http://schemas.openxmlformats.org/drawingml/2006/main">
            <a:off x="800100" y="4000500"/>
            <a:ext cx="1038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0">
                <a:solidFill>
                  <a:srgbClr val="9DDADD"/>
                </a:solidFill>
                <a:latin typeface="Arial"/>
                <a:ea typeface="Arial"/>
                <a:cs typeface="Arial"/>
              </a:defRPr>
            </a:pPr>
            <a:r>
              <a:rPr sz="2475" b="0">
                <a:solidFill>
                  <a:srgbClr val="9DDADD"/>
                </a:solidFill>
                <a:latin typeface="Arial"/>
                <a:ea typeface="Arial"/>
                <a:cs typeface="Arial"/>
              </a:rPr>
              <a:t>A loop repeats a routine</a:t>
            </a:r>
          </a:p>
        </p:txBody>
      </p:sp>
      <p:sp>
        <p:nvSpPr>
          <p:cNvPr id="3" name="">
            <a:extLst xmlns:a="http://schemas.openxmlformats.org/drawingml/2006/main">
              <a:ext uri="{FF2B5EF4-FFF2-40B4-BE49-F238E27FC236}">
                <a16:creationId xmlns:a16="http://schemas.microsoft.com/office/drawing/2014/main" id="{DE28DA0F-D650-402A-B929-3811844841B7}"/>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Week 3 · MechaRAMS at the YMCA</a:t>
            </a:r>
          </a:p>
        </p:txBody>
      </p:sp>
    </p:spTree>
    <p:extLst>
      <p:ext uri="{BB962C8B-B14F-4D97-AF65-F5344CB8AC3E}">
        <p14:creationId xmlns:p14="http://schemas.microsoft.com/office/powerpoint/2010/main" val="695754472"/>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EAADD61-2360-4AEC-B23A-E7F2F2DA5BAA}"/>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Today’s robot challenge</a:t>
            </a:r>
          </a:p>
        </p:txBody>
      </p:sp>
      <p:sp>
        <p:nvSpPr>
          <p:cNvPr id="2" name="">
            <a:extLst xmlns:a="http://schemas.openxmlformats.org/drawingml/2006/main">
              <a:ext uri="{FF2B5EF4-FFF2-40B4-BE49-F238E27FC236}">
                <a16:creationId xmlns:a16="http://schemas.microsoft.com/office/drawing/2014/main" id="{F923C579-774A-485D-B8FA-4F8E48B6A895}"/>
              </a:ext>
            </a:extLst>
          </p:cNvPr>
          <p:cNvSpPr>
            <a:spLocks xmlns:a="http://schemas.openxmlformats.org/drawingml/2006/main" noGrp="1"/>
          </p:cNvSpPr>
          <p:nvPr/>
        </p:nvSpPr>
        <p:spPr>
          <a:xfrm xmlns:a="http://schemas.openxmlformats.org/drawingml/2006/main">
            <a:off x="762000" y="19526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short two-action routine</a:t>
            </a:r>
          </a:p>
        </p:txBody>
      </p:sp>
      <p:sp>
        <p:nvSpPr>
          <p:cNvPr id="3" name="">
            <a:extLst xmlns:a="http://schemas.openxmlformats.org/drawingml/2006/main">
              <a:ext uri="{FF2B5EF4-FFF2-40B4-BE49-F238E27FC236}">
                <a16:creationId xmlns:a16="http://schemas.microsoft.com/office/drawing/2014/main" id="{A36AD67F-C7E8-4440-A66F-6BFBE8C36C20}"/>
              </a:ext>
            </a:extLst>
          </p:cNvPr>
          <p:cNvSpPr>
            <a:spLocks xmlns:a="http://schemas.openxmlformats.org/drawingml/2006/main" noGrp="1"/>
          </p:cNvSpPr>
          <p:nvPr/>
        </p:nvSpPr>
        <p:spPr>
          <a:xfrm xmlns:a="http://schemas.openxmlformats.org/drawingml/2006/main">
            <a:off x="762000" y="30575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repeat count you can explain</a:t>
            </a:r>
          </a:p>
        </p:txBody>
      </p:sp>
      <p:sp>
        <p:nvSpPr>
          <p:cNvPr id="4" name="">
            <a:extLst xmlns:a="http://schemas.openxmlformats.org/drawingml/2006/main">
              <a:ext uri="{FF2B5EF4-FFF2-40B4-BE49-F238E27FC236}">
                <a16:creationId xmlns:a16="http://schemas.microsoft.com/office/drawing/2014/main" id="{08E318AB-712B-411F-B7F5-F40631C1482A}"/>
              </a:ext>
            </a:extLst>
          </p:cNvPr>
          <p:cNvSpPr>
            <a:spLocks xmlns:a="http://schemas.openxmlformats.org/drawingml/2006/main" noGrp="1"/>
          </p:cNvSpPr>
          <p:nvPr/>
        </p:nvSpPr>
        <p:spPr>
          <a:xfrm xmlns:a="http://schemas.openxmlformats.org/drawingml/2006/main">
            <a:off x="762000" y="4162425"/>
            <a:ext cx="1047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A clear space for the whole dance</a:t>
            </a:r>
          </a:p>
        </p:txBody>
      </p:sp>
      <p:sp>
        <p:nvSpPr>
          <p:cNvPr id="6" name="">
            <a:extLst xmlns:a="http://schemas.openxmlformats.org/drawingml/2006/main">
              <a:ext uri="{FF2B5EF4-FFF2-40B4-BE49-F238E27FC236}">
                <a16:creationId xmlns:a16="http://schemas.microsoft.com/office/drawing/2014/main" id="{07311672-3EA2-44B5-B5C6-94E0D2CC099E}"/>
              </a:ext>
            </a:extLst>
          </p:cNvPr>
          <p:cNvSpPr>
            <a:spLocks xmlns:a="http://schemas.openxmlformats.org/drawingml/2006/main" noGrp="1"/>
          </p:cNvSpPr>
          <p:nvPr/>
        </p:nvSpPr>
        <p:spPr>
          <a:xfrm xmlns:a="http://schemas.openxmlformats.org/drawingml/2006/main">
            <a:off x="762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713A"/>
                </a:solidFill>
                <a:latin typeface="Arial"/>
                <a:ea typeface="Arial"/>
                <a:cs typeface="Arial"/>
              </a:defRPr>
            </a:defPPr>
          </a:lstStyle>
          <a:p xmlns:a="http://schemas.openxmlformats.org/drawingml/2006/main">
            <a:pPr>
              <a:buNone/>
              <a:defRPr sz="1575" b="1">
                <a:solidFill>
                  <a:srgbClr val="17713A"/>
                </a:solidFill>
                <a:latin typeface="Arial"/>
                <a:ea typeface="Arial"/>
                <a:cs typeface="Arial"/>
              </a:defRPr>
            </a:pPr>
            <a:r>
              <a:rPr sz="1575" b="1">
                <a:solidFill>
                  <a:srgbClr val="17713A"/>
                </a:solidFill>
                <a:latin typeface="Arial"/>
                <a:ea typeface="Arial"/>
                <a:cs typeface="Arial"/>
              </a:rPr>
              <a:t>GREEN steady: on</a:t>
            </a:r>
          </a:p>
        </p:txBody>
      </p:sp>
      <p:sp>
        <p:nvSpPr>
          <p:cNvPr id="7" name="">
            <a:extLst xmlns:a="http://schemas.openxmlformats.org/drawingml/2006/main">
              <a:ext uri="{FF2B5EF4-FFF2-40B4-BE49-F238E27FC236}">
                <a16:creationId xmlns:a16="http://schemas.microsoft.com/office/drawing/2014/main" id="{88D17DF4-5856-4B90-BE2E-3022FCB6C1AD}"/>
              </a:ext>
            </a:extLst>
          </p:cNvPr>
          <p:cNvSpPr>
            <a:spLocks xmlns:a="http://schemas.openxmlformats.org/drawingml/2006/main" noGrp="1"/>
          </p:cNvSpPr>
          <p:nvPr/>
        </p:nvSpPr>
        <p:spPr>
          <a:xfrm xmlns:a="http://schemas.openxmlformats.org/drawingml/2006/main">
            <a:off x="43815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915500"/>
                </a:solidFill>
                <a:latin typeface="Arial"/>
                <a:ea typeface="Arial"/>
                <a:cs typeface="Arial"/>
              </a:defRPr>
            </a:defPPr>
          </a:lstStyle>
          <a:p xmlns:a="http://schemas.openxmlformats.org/drawingml/2006/main">
            <a:pPr>
              <a:buNone/>
              <a:defRPr sz="1575" b="1">
                <a:solidFill>
                  <a:srgbClr val="915500"/>
                </a:solidFill>
                <a:latin typeface="Arial"/>
                <a:ea typeface="Arial"/>
                <a:cs typeface="Arial"/>
              </a:defRPr>
            </a:pPr>
            <a:r>
              <a:rPr sz="1575" b="1">
                <a:solidFill>
                  <a:srgbClr val="915500"/>
                </a:solidFill>
                <a:latin typeface="Arial"/>
                <a:ea typeface="Arial"/>
                <a:cs typeface="Arial"/>
              </a:rPr>
              <a:t>ORANGE flashing: charge</a:t>
            </a:r>
          </a:p>
        </p:txBody>
      </p:sp>
      <p:sp>
        <p:nvSpPr>
          <p:cNvPr id="8" name="">
            <a:extLst xmlns:a="http://schemas.openxmlformats.org/drawingml/2006/main">
              <a:ext uri="{FF2B5EF4-FFF2-40B4-BE49-F238E27FC236}">
                <a16:creationId xmlns:a16="http://schemas.microsoft.com/office/drawing/2014/main" id="{356AE833-5E00-4D2A-9493-FC971FBC6CE5}"/>
              </a:ext>
            </a:extLst>
          </p:cNvPr>
          <p:cNvSpPr>
            <a:spLocks xmlns:a="http://schemas.openxmlformats.org/drawingml/2006/main" noGrp="1"/>
          </p:cNvSpPr>
          <p:nvPr/>
        </p:nvSpPr>
        <p:spPr>
          <a:xfrm xmlns:a="http://schemas.openxmlformats.org/drawingml/2006/main">
            <a:off x="8001000" y="56864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B1292D"/>
                </a:solidFill>
                <a:latin typeface="Arial"/>
                <a:ea typeface="Arial"/>
                <a:cs typeface="Arial"/>
              </a:defRPr>
            </a:defPPr>
          </a:lstStyle>
          <a:p xmlns:a="http://schemas.openxmlformats.org/drawingml/2006/main">
            <a:pPr>
              <a:buNone/>
              <a:defRPr sz="1575" b="1">
                <a:solidFill>
                  <a:srgbClr val="B1292D"/>
                </a:solidFill>
                <a:latin typeface="Arial"/>
                <a:ea typeface="Arial"/>
                <a:cs typeface="Arial"/>
              </a:defRPr>
            </a:pPr>
            <a:r>
              <a:rPr sz="1575" b="1">
                <a:solidFill>
                  <a:srgbClr val="B1292D"/>
                </a:solidFill>
                <a:latin typeface="Arial"/>
                <a:ea typeface="Arial"/>
                <a:cs typeface="Arial"/>
              </a:rPr>
              <a:t>RED flashing: stop + mentor</a:t>
            </a:r>
          </a:p>
        </p:txBody>
      </p:sp>
      <p:sp>
        <p:nvSpPr>
          <p:cNvPr id="9" name="">
            <a:extLst xmlns:a="http://schemas.openxmlformats.org/drawingml/2006/main">
              <a:ext uri="{FF2B5EF4-FFF2-40B4-BE49-F238E27FC236}">
                <a16:creationId xmlns:a16="http://schemas.microsoft.com/office/drawing/2014/main" id="{DC9B1228-A8F4-4486-888B-9AF1E24338CE}"/>
              </a:ext>
            </a:extLst>
          </p:cNvPr>
          <p:cNvSpPr>
            <a:spLocks xmlns:a="http://schemas.openxmlformats.org/drawingml/2006/main" noGrp="1"/>
          </p:cNvSpPr>
          <p:nvPr/>
        </p:nvSpPr>
        <p:spPr>
          <a:xfrm xmlns:a="http://schemas.openxmlformats.org/drawingml/2006/main">
            <a:off x="762000" y="620077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Center button lights. A letter on the display is your program’s output.</a:t>
            </a:r>
          </a:p>
        </p:txBody>
      </p:sp>
    </p:spTree>
    <p:extLst>
      <p:ext uri="{BB962C8B-B14F-4D97-AF65-F5344CB8AC3E}">
        <p14:creationId xmlns:p14="http://schemas.microsoft.com/office/powerpoint/2010/main" val="1515252772"/>
      </p:ext>
    </p:extLst>
  </p:cSld>
</p:sld>
</file>

<file path=ppt/slides/slide3.xml><?xml version="1.0" encoding="utf-8"?>
<p:sld xmlns:p="http://schemas.openxmlformats.org/presentationml/2006/main">
  <p:cSld>
    <p:bg>
      <p:bgPr>
        <a:solidFill xmlns:a="http://schemas.openxmlformats.org/drawingml/2006/main">
          <a:srgbClr val="173044"/>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427C82F-C755-4011-A3F3-A068539C501C}"/>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FFFFFF"/>
                </a:solidFill>
                <a:latin typeface="Arial"/>
                <a:ea typeface="Arial"/>
                <a:cs typeface="Arial"/>
              </a:defRPr>
            </a:defPPr>
          </a:lstStyle>
          <a:p xmlns:a="http://schemas.openxmlformats.org/drawingml/2006/main">
            <a:pPr>
              <a:buNone/>
              <a:defRPr sz="3600" b="1">
                <a:solidFill>
                  <a:srgbClr val="FFFFFF"/>
                </a:solidFill>
                <a:latin typeface="Arial"/>
                <a:ea typeface="Arial"/>
                <a:cs typeface="Arial"/>
              </a:defRPr>
            </a:pPr>
            <a:r>
              <a:rPr sz="3600" b="1">
                <a:solidFill>
                  <a:srgbClr val="FFFFFF"/>
                </a:solidFill>
                <a:latin typeface="Arial"/>
                <a:ea typeface="Arial"/>
                <a:cs typeface="Arial"/>
              </a:rPr>
              <a:t>Counted loops and indentation</a:t>
            </a:r>
          </a:p>
        </p:txBody>
      </p:sp>
      <p:sp>
        <p:nvSpPr>
          <p:cNvPr id="2" name="">
            <a:extLst xmlns:a="http://schemas.openxmlformats.org/drawingml/2006/main">
              <a:ext uri="{FF2B5EF4-FFF2-40B4-BE49-F238E27FC236}">
                <a16:creationId xmlns:a16="http://schemas.microsoft.com/office/drawing/2014/main" id="{585DE7ED-9379-40E2-B1CE-702CC4C61774}"/>
              </a:ext>
            </a:extLst>
          </p:cNvPr>
          <p:cNvSpPr>
            <a:spLocks xmlns:a="http://schemas.openxmlformats.org/drawingml/2006/main" noGrp="1"/>
          </p:cNvSpPr>
          <p:nvPr/>
        </p:nvSpPr>
        <p:spPr>
          <a:xfrm xmlns:a="http://schemas.openxmlformats.org/drawingml/2006/main">
            <a:off x="781050" y="1666875"/>
            <a:ext cx="10572750" cy="2505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FFFFFF"/>
                </a:solidFill>
                <a:latin typeface="Consolas"/>
                <a:ea typeface="Consolas"/>
                <a:cs typeface="Consolas"/>
              </a:defRPr>
            </a:defPPr>
          </a:lstStyle>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for beat in range(3):</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    await drive(90)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    await turn(90)</a:t>
            </a:r>
          </a:p>
          <a:p xmlns:a="http://schemas.openxmlformats.org/drawingml/2006/main">
            <a:pPr>
              <a:buNone/>
              <a:defRPr sz="2325" b="0">
                <a:solidFill>
                  <a:srgbClr val="FFFFFF"/>
                </a:solidFill>
                <a:latin typeface="Consolas"/>
                <a:ea typeface="Consolas"/>
                <a:cs typeface="Consolas"/>
              </a:defRPr>
            </a:pPr>
            <a:r>
              <a:rPr sz="2325" b="0">
                <a:solidFill>
                  <a:srgbClr val="FFFFFF"/>
                </a:solidFill>
                <a:latin typeface="Consolas"/>
                <a:ea typeface="Consolas"/>
                <a:cs typeface="Consolas"/>
              </a:rPr>
              <a:t>await signal("D")</a:t>
            </a:r>
          </a:p>
        </p:txBody>
      </p:sp>
      <p:sp>
        <p:nvSpPr>
          <p:cNvPr id="3" name="">
            <a:extLst xmlns:a="http://schemas.openxmlformats.org/drawingml/2006/main">
              <a:ext uri="{FF2B5EF4-FFF2-40B4-BE49-F238E27FC236}">
                <a16:creationId xmlns:a16="http://schemas.microsoft.com/office/drawing/2014/main" id="{B659E2CE-F987-48D5-9D51-EB0BE2ECCC7D}"/>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B9D4DC"/>
                </a:solidFill>
                <a:latin typeface="Arial"/>
                <a:ea typeface="Arial"/>
                <a:cs typeface="Arial"/>
              </a:defRPr>
            </a:defPPr>
          </a:lstStyle>
          <a:p xmlns:a="http://schemas.openxmlformats.org/drawingml/2006/main">
            <a:pPr>
              <a:buNone/>
              <a:defRPr sz="1425" b="0">
                <a:solidFill>
                  <a:srgbClr val="B9D4DC"/>
                </a:solidFill>
                <a:latin typeface="Arial"/>
                <a:ea typeface="Arial"/>
                <a:cs typeface="Arial"/>
              </a:defRPr>
            </a:pPr>
            <a:r>
              <a:rPr sz="1425" b="0">
                <a:solidFill>
                  <a:srgbClr val="B9D4DC"/>
                </a:solidFill>
                <a:latin typeface="Arial"/>
                <a:ea typeface="Arial"/>
                <a:cs typeface="Arial"/>
              </a:rPr>
              <a:t>Reading fragment from the complete supplied project</a:t>
            </a:r>
          </a:p>
        </p:txBody>
      </p:sp>
      <p:sp>
        <p:nvSpPr>
          <p:cNvPr id="5" name="">
            <a:extLst xmlns:a="http://schemas.openxmlformats.org/drawingml/2006/main">
              <a:ext uri="{FF2B5EF4-FFF2-40B4-BE49-F238E27FC236}">
                <a16:creationId xmlns:a16="http://schemas.microsoft.com/office/drawing/2014/main" id="{335D7D28-D3EA-4536-98FE-4EC913597284}"/>
              </a:ext>
            </a:extLst>
          </p:cNvPr>
          <p:cNvSpPr>
            <a:spLocks xmlns:a="http://schemas.openxmlformats.org/drawingml/2006/main" noGrp="1"/>
          </p:cNvSpPr>
          <p:nvPr/>
        </p:nvSpPr>
        <p:spPr>
          <a:xfrm xmlns:a="http://schemas.openxmlformats.org/drawingml/2006/main">
            <a:off x="781050" y="431482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9DDADD"/>
                </a:solidFill>
                <a:latin typeface="Arial"/>
                <a:ea typeface="Arial"/>
                <a:cs typeface="Arial"/>
              </a:defRPr>
            </a:defPPr>
          </a:lstStyle>
          <a:p xmlns:a="http://schemas.openxmlformats.org/drawingml/2006/main">
            <a:pPr>
              <a:buNone/>
              <a:defRPr sz="2100" b="1">
                <a:solidFill>
                  <a:srgbClr val="9DDADD"/>
                </a:solidFill>
                <a:latin typeface="Arial"/>
                <a:ea typeface="Arial"/>
                <a:cs typeface="Arial"/>
              </a:defRPr>
            </a:pPr>
            <a:r>
              <a:rPr sz="2100" b="1">
                <a:solidFill>
                  <a:srgbClr val="9DDADD"/>
                </a:solidFill>
                <a:latin typeface="Arial"/>
                <a:ea typeface="Arial"/>
                <a:cs typeface="Arial"/>
              </a:rPr>
              <a:t>Our prediction</a:t>
            </a:r>
          </a:p>
        </p:txBody>
      </p:sp>
      <p:sp>
        <p:nvSpPr>
          <p:cNvPr id="6" name="">
            <a:extLst xmlns:a="http://schemas.openxmlformats.org/drawingml/2006/main">
              <a:ext uri="{FF2B5EF4-FFF2-40B4-BE49-F238E27FC236}">
                <a16:creationId xmlns:a16="http://schemas.microsoft.com/office/drawing/2014/main" id="{0F86B850-4C19-4EFE-922E-7C275DA5D874}"/>
              </a:ext>
            </a:extLst>
          </p:cNvPr>
          <p:cNvSpPr>
            <a:spLocks xmlns:a="http://schemas.openxmlformats.org/drawingml/2006/main" noGrp="1"/>
          </p:cNvSpPr>
          <p:nvPr/>
        </p:nvSpPr>
        <p:spPr>
          <a:xfrm xmlns:a="http://schemas.openxmlformats.org/drawingml/2006/main">
            <a:off x="781050" y="477202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How many drives happen in three repeats?</a:t>
            </a:r>
          </a:p>
        </p:txBody>
      </p:sp>
      <p:sp>
        <p:nvSpPr>
          <p:cNvPr id="7" name="">
            <a:extLst xmlns:a="http://schemas.openxmlformats.org/drawingml/2006/main">
              <a:ext uri="{FF2B5EF4-FFF2-40B4-BE49-F238E27FC236}">
                <a16:creationId xmlns:a16="http://schemas.microsoft.com/office/drawing/2014/main" id="{604455E2-D8A9-4DDF-B429-72A14D6B7A69}"/>
              </a:ext>
            </a:extLst>
          </p:cNvPr>
          <p:cNvSpPr>
            <a:spLocks xmlns:a="http://schemas.openxmlformats.org/drawingml/2006/main" noGrp="1"/>
          </p:cNvSpPr>
          <p:nvPr/>
        </p:nvSpPr>
        <p:spPr>
          <a:xfrm xmlns:a="http://schemas.openxmlformats.org/drawingml/2006/main">
            <a:off x="781050" y="5400675"/>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FFFFFF"/>
                </a:solidFill>
                <a:latin typeface="Arial"/>
                <a:ea typeface="Arial"/>
                <a:cs typeface="Arial"/>
              </a:defRPr>
            </a:defPPr>
          </a:lstStyle>
          <a:p xmlns:a="http://schemas.openxmlformats.org/drawingml/2006/main">
            <a:pPr>
              <a:buNone/>
              <a:defRPr sz="2025" b="0">
                <a:solidFill>
                  <a:srgbClr val="FFFFFF"/>
                </a:solidFill>
                <a:latin typeface="Arial"/>
                <a:ea typeface="Arial"/>
                <a:cs typeface="Arial"/>
              </a:defRPr>
            </a:pPr>
            <a:r>
              <a:rPr sz="2025" b="0">
                <a:solidFill>
                  <a:srgbClr val="FFFFFF"/>
                </a:solidFill>
                <a:latin typeface="Arial"/>
                <a:ea typeface="Arial"/>
                <a:cs typeface="Arial"/>
              </a:rPr>
              <a:t>Does a signal outside the loop repeat?</a:t>
            </a:r>
          </a:p>
        </p:txBody>
      </p:sp>
    </p:spTree>
    <p:extLst>
      <p:ext uri="{BB962C8B-B14F-4D97-AF65-F5344CB8AC3E}">
        <p14:creationId xmlns:p14="http://schemas.microsoft.com/office/powerpoint/2010/main" val="103939306"/>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D8C677B-819C-4B4E-BE4E-72153438147C}"/>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Our robot and build jobs</a:t>
            </a:r>
          </a:p>
        </p:txBody>
      </p:sp>
      <p:sp>
        <p:nvSpPr>
          <p:cNvPr id="2" name="">
            <a:extLst xmlns:a="http://schemas.openxmlformats.org/drawingml/2006/main">
              <a:ext uri="{FF2B5EF4-FFF2-40B4-BE49-F238E27FC236}">
                <a16:creationId xmlns:a16="http://schemas.microsoft.com/office/drawing/2014/main" id="{CBE60913-205C-4F26-B3E9-E2D8B5A3818F}"/>
              </a:ext>
            </a:extLst>
          </p:cNvPr>
          <p:cNvSpPr>
            <a:spLocks xmlns:a="http://schemas.openxmlformats.org/drawingml/2006/main" noGrp="1"/>
          </p:cNvSpPr>
          <p:nvPr/>
        </p:nvSpPr>
        <p:spPr>
          <a:xfrm xmlns:a="http://schemas.openxmlformats.org/drawingml/2006/main">
            <a:off x="762000" y="18478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Driver edits and starts after “clear.”</a:t>
            </a:r>
          </a:p>
        </p:txBody>
      </p:sp>
      <p:sp>
        <p:nvSpPr>
          <p:cNvPr id="3" name="">
            <a:extLst xmlns:a="http://schemas.openxmlformats.org/drawingml/2006/main">
              <a:ext uri="{FF2B5EF4-FFF2-40B4-BE49-F238E27FC236}">
                <a16:creationId xmlns:a16="http://schemas.microsoft.com/office/drawing/2014/main" id="{A17F2D01-582F-43AF-A277-3E432B9F23BB}"/>
              </a:ext>
            </a:extLst>
          </p:cNvPr>
          <p:cNvSpPr>
            <a:spLocks xmlns:a="http://schemas.openxmlformats.org/drawingml/2006/main" noGrp="1"/>
          </p:cNvSpPr>
          <p:nvPr/>
        </p:nvSpPr>
        <p:spPr>
          <a:xfrm xmlns:a="http://schemas.openxmlformats.org/drawingml/2006/main">
            <a:off x="762000" y="27813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Navigator predicts and resets the stopped robot.</a:t>
            </a:r>
          </a:p>
        </p:txBody>
      </p:sp>
      <p:sp>
        <p:nvSpPr>
          <p:cNvPr id="4" name="">
            <a:extLst xmlns:a="http://schemas.openxmlformats.org/drawingml/2006/main">
              <a:ext uri="{FF2B5EF4-FFF2-40B4-BE49-F238E27FC236}">
                <a16:creationId xmlns:a16="http://schemas.microsoft.com/office/drawing/2014/main" id="{D879ECEB-16EF-4C5C-8FB8-D3D047B6FC8B}"/>
              </a:ext>
            </a:extLst>
          </p:cNvPr>
          <p:cNvSpPr>
            <a:spLocks xmlns:a="http://schemas.openxmlformats.org/drawingml/2006/main" noGrp="1"/>
          </p:cNvSpPr>
          <p:nvPr/>
        </p:nvSpPr>
        <p:spPr>
          <a:xfrm xmlns:a="http://schemas.openxmlformats.org/drawingml/2006/main">
            <a:off x="762000" y="371475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Observer watches, measures and records.</a:t>
            </a:r>
          </a:p>
        </p:txBody>
      </p:sp>
      <p:sp>
        <p:nvSpPr>
          <p:cNvPr id="5" name="">
            <a:extLst xmlns:a="http://schemas.openxmlformats.org/drawingml/2006/main">
              <a:ext uri="{FF2B5EF4-FFF2-40B4-BE49-F238E27FC236}">
                <a16:creationId xmlns:a16="http://schemas.microsoft.com/office/drawing/2014/main" id="{1E547740-1D14-4D8A-B0F5-72D696B6E7F2}"/>
              </a:ext>
            </a:extLst>
          </p:cNvPr>
          <p:cNvSpPr>
            <a:spLocks xmlns:a="http://schemas.openxmlformats.org/drawingml/2006/main" noGrp="1"/>
          </p:cNvSpPr>
          <p:nvPr/>
        </p:nvSpPr>
        <p:spPr>
          <a:xfrm xmlns:a="http://schemas.openxmlformats.org/drawingml/2006/main">
            <a:off x="762000" y="4648200"/>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173044"/>
                </a:solidFill>
                <a:latin typeface="Arial"/>
                <a:ea typeface="Arial"/>
                <a:cs typeface="Arial"/>
              </a:defRPr>
            </a:defPPr>
          </a:lstStyle>
          <a:p xmlns:a="http://schemas.openxmlformats.org/drawingml/2006/main">
            <a:pPr>
              <a:buNone/>
              <a:defRPr sz="2175" b="0">
                <a:solidFill>
                  <a:srgbClr val="173044"/>
                </a:solidFill>
                <a:latin typeface="Arial"/>
                <a:ea typeface="Arial"/>
                <a:cs typeface="Arial"/>
              </a:defRPr>
            </a:pPr>
            <a:r>
              <a:rPr sz="2175" b="0">
                <a:solidFill>
                  <a:srgbClr val="173044"/>
                </a:solidFill>
                <a:latin typeface="Arial"/>
                <a:ea typeface="Arial"/>
                <a:cs typeface="Arial"/>
              </a:rPr>
              <a:t>Other team builds. Everyone rotates jobs.</a:t>
            </a:r>
          </a:p>
        </p:txBody>
      </p:sp>
      <p:sp>
        <p:nvSpPr>
          <p:cNvPr id="7" name="">
            <a:extLst xmlns:a="http://schemas.openxmlformats.org/drawingml/2006/main">
              <a:ext uri="{FF2B5EF4-FFF2-40B4-BE49-F238E27FC236}">
                <a16:creationId xmlns:a16="http://schemas.microsoft.com/office/drawing/2014/main" id="{1A6C4267-063E-43F5-B5BB-CDB2918623C3}"/>
              </a:ext>
            </a:extLst>
          </p:cNvPr>
          <p:cNvSpPr>
            <a:spLocks xmlns:a="http://schemas.openxmlformats.org/drawingml/2006/main" noGrp="1"/>
          </p:cNvSpPr>
          <p:nvPr/>
        </p:nvSpPr>
        <p:spPr>
          <a:xfrm xmlns:a="http://schemas.openxmlformats.org/drawingml/2006/main">
            <a:off x="762000" y="61817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536A77"/>
                </a:solidFill>
                <a:latin typeface="Arial"/>
                <a:ea typeface="Arial"/>
                <a:cs typeface="Arial"/>
              </a:defRPr>
            </a:defPPr>
          </a:lstStyle>
          <a:p xmlns:a="http://schemas.openxmlformats.org/drawingml/2006/main">
            <a:pPr>
              <a:buNone/>
              <a:defRPr sz="1425" b="0">
                <a:solidFill>
                  <a:srgbClr val="536A77"/>
                </a:solidFill>
                <a:latin typeface="Arial"/>
                <a:ea typeface="Arial"/>
                <a:cs typeface="Arial"/>
              </a:defRPr>
            </a:pPr>
            <a:r>
              <a:rPr sz="1425" b="0">
                <a:solidFill>
                  <a:srgbClr val="536A77"/>
                </a:solidFill>
                <a:latin typeface="Arial"/>
                <a:ea typeface="Arial"/>
                <a:cs typeface="Arial"/>
              </a:rPr>
              <a:t>Robot turns: rotate every 4 minutes. Retests: every 2 minutes.</a:t>
            </a:r>
          </a:p>
        </p:txBody>
      </p:sp>
    </p:spTree>
    <p:extLst>
      <p:ext uri="{BB962C8B-B14F-4D97-AF65-F5344CB8AC3E}">
        <p14:creationId xmlns:p14="http://schemas.microsoft.com/office/powerpoint/2010/main" val="322551763"/>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69DC2F4-8B24-4100-8752-039DE2E9527B}"/>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Evidence from our test</a:t>
            </a:r>
          </a:p>
        </p:txBody>
      </p:sp>
      <p:sp>
        <p:nvSpPr>
          <p:cNvPr id="2" name="">
            <a:extLst xmlns:a="http://schemas.openxmlformats.org/drawingml/2006/main">
              <a:ext uri="{FF2B5EF4-FFF2-40B4-BE49-F238E27FC236}">
                <a16:creationId xmlns:a16="http://schemas.microsoft.com/office/drawing/2014/main" id="{569316D6-E50B-4757-A90E-8BC751E3AFB6}"/>
              </a:ext>
            </a:extLst>
          </p:cNvPr>
          <p:cNvSpPr>
            <a:spLocks xmlns:a="http://schemas.openxmlformats.org/drawingml/2006/main" noGrp="1"/>
          </p:cNvSpPr>
          <p:nvPr/>
        </p:nvSpPr>
        <p:spPr>
          <a:xfrm xmlns:a="http://schemas.openxmlformats.org/drawingml/2006/main">
            <a:off x="762000" y="1952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changed ____________________.</a:t>
            </a:r>
          </a:p>
        </p:txBody>
      </p:sp>
      <p:sp>
        <p:nvSpPr>
          <p:cNvPr id="3" name="">
            <a:extLst xmlns:a="http://schemas.openxmlformats.org/drawingml/2006/main">
              <a:ext uri="{FF2B5EF4-FFF2-40B4-BE49-F238E27FC236}">
                <a16:creationId xmlns:a16="http://schemas.microsoft.com/office/drawing/2014/main" id="{F394EFFF-FA1F-46E3-A7FD-AC95BC790B8F}"/>
              </a:ext>
            </a:extLst>
          </p:cNvPr>
          <p:cNvSpPr>
            <a:spLocks xmlns:a="http://schemas.openxmlformats.org/drawingml/2006/main" noGrp="1"/>
          </p:cNvSpPr>
          <p:nvPr/>
        </p:nvSpPr>
        <p:spPr>
          <a:xfrm xmlns:a="http://schemas.openxmlformats.org/drawingml/2006/main">
            <a:off x="762000" y="28479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predicted ____________________.</a:t>
            </a:r>
          </a:p>
        </p:txBody>
      </p:sp>
      <p:sp>
        <p:nvSpPr>
          <p:cNvPr id="4" name="">
            <a:extLst xmlns:a="http://schemas.openxmlformats.org/drawingml/2006/main">
              <a:ext uri="{FF2B5EF4-FFF2-40B4-BE49-F238E27FC236}">
                <a16:creationId xmlns:a16="http://schemas.microsoft.com/office/drawing/2014/main" id="{FB687E93-5285-40D9-BF05-5D4B08CF44DA}"/>
              </a:ext>
            </a:extLst>
          </p:cNvPr>
          <p:cNvSpPr>
            <a:spLocks xmlns:a="http://schemas.openxmlformats.org/drawingml/2006/main" noGrp="1"/>
          </p:cNvSpPr>
          <p:nvPr/>
        </p:nvSpPr>
        <p:spPr>
          <a:xfrm xmlns:a="http://schemas.openxmlformats.org/drawingml/2006/main">
            <a:off x="762000" y="37433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We observed ____________________.</a:t>
            </a:r>
          </a:p>
        </p:txBody>
      </p:sp>
      <p:sp>
        <p:nvSpPr>
          <p:cNvPr id="5" name="">
            <a:extLst xmlns:a="http://schemas.openxmlformats.org/drawingml/2006/main">
              <a:ext uri="{FF2B5EF4-FFF2-40B4-BE49-F238E27FC236}">
                <a16:creationId xmlns:a16="http://schemas.microsoft.com/office/drawing/2014/main" id="{0E7D52E0-FBB9-46CB-B1FC-8F6A5A253A53}"/>
              </a:ext>
            </a:extLst>
          </p:cNvPr>
          <p:cNvSpPr>
            <a:spLocks xmlns:a="http://schemas.openxmlformats.org/drawingml/2006/main" noGrp="1"/>
          </p:cNvSpPr>
          <p:nvPr/>
        </p:nvSpPr>
        <p:spPr>
          <a:xfrm xmlns:a="http://schemas.openxmlformats.org/drawingml/2006/main">
            <a:off x="762000" y="46386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0">
                <a:solidFill>
                  <a:srgbClr val="173044"/>
                </a:solidFill>
                <a:latin typeface="Arial"/>
                <a:ea typeface="Arial"/>
                <a:cs typeface="Arial"/>
              </a:defRPr>
            </a:pPr>
            <a:r>
              <a:rPr sz="2400" b="0">
                <a:solidFill>
                  <a:srgbClr val="173044"/>
                </a:solidFill>
                <a:latin typeface="Arial"/>
                <a:ea typeface="Arial"/>
                <a:cs typeface="Arial"/>
              </a:rPr>
              <a:t>Our next test would ____________________.</a:t>
            </a:r>
          </a:p>
        </p:txBody>
      </p:sp>
    </p:spTree>
    <p:extLst>
      <p:ext uri="{BB962C8B-B14F-4D97-AF65-F5344CB8AC3E}">
        <p14:creationId xmlns:p14="http://schemas.microsoft.com/office/powerpoint/2010/main" val="591906462"/>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B19BEEA-32FC-4442-801E-E71706375522}"/>
              </a:ext>
            </a:extLst>
          </p:cNvPr>
          <p:cNvSpPr>
            <a:spLocks xmlns:a="http://schemas.openxmlformats.org/drawingml/2006/main" noGrp="1"/>
          </p:cNvSpPr>
          <p:nvPr/>
        </p:nvSpPr>
        <p:spPr>
          <a:xfrm xmlns:a="http://schemas.openxmlformats.org/drawingml/2006/main">
            <a:off x="685800" y="4572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600" b="1">
                <a:solidFill>
                  <a:srgbClr val="173044"/>
                </a:solidFill>
                <a:latin typeface="Arial"/>
                <a:ea typeface="Arial"/>
                <a:cs typeface="Arial"/>
              </a:defRPr>
            </a:defPPr>
          </a:lstStyle>
          <a:p xmlns:a="http://schemas.openxmlformats.org/drawingml/2006/main">
            <a:pPr>
              <a:buNone/>
              <a:defRPr sz="3600" b="1">
                <a:solidFill>
                  <a:srgbClr val="173044"/>
                </a:solidFill>
                <a:latin typeface="Arial"/>
                <a:ea typeface="Arial"/>
                <a:cs typeface="Arial"/>
              </a:defRPr>
            </a:pPr>
            <a:r>
              <a:rPr sz="3600" b="1">
                <a:solidFill>
                  <a:srgbClr val="173044"/>
                </a:solidFill>
                <a:latin typeface="Arial"/>
                <a:ea typeface="Arial"/>
                <a:cs typeface="Arial"/>
              </a:rPr>
              <a:t>What we learned and noticed</a:t>
            </a:r>
          </a:p>
        </p:txBody>
      </p:sp>
      <p:sp>
        <p:nvSpPr>
          <p:cNvPr id="2" name="">
            <a:extLst xmlns:a="http://schemas.openxmlformats.org/drawingml/2006/main">
              <a:ext uri="{FF2B5EF4-FFF2-40B4-BE49-F238E27FC236}">
                <a16:creationId xmlns:a16="http://schemas.microsoft.com/office/drawing/2014/main" id="{76541672-218F-444C-B5A3-752368328A6A}"/>
              </a:ext>
            </a:extLst>
          </p:cNvPr>
          <p:cNvSpPr>
            <a:spLocks xmlns:a="http://schemas.openxmlformats.org/drawingml/2006/main" noGrp="1"/>
          </p:cNvSpPr>
          <p:nvPr/>
        </p:nvSpPr>
        <p:spPr>
          <a:xfrm xmlns:a="http://schemas.openxmlformats.org/drawingml/2006/main">
            <a:off x="762000" y="1743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learn about repeating actions?</a:t>
            </a:r>
          </a:p>
        </p:txBody>
      </p:sp>
      <p:sp>
        <p:nvSpPr>
          <p:cNvPr id="3" name="">
            <a:extLst xmlns:a="http://schemas.openxmlformats.org/drawingml/2006/main">
              <a:ext uri="{FF2B5EF4-FFF2-40B4-BE49-F238E27FC236}">
                <a16:creationId xmlns:a16="http://schemas.microsoft.com/office/drawing/2014/main" id="{23C6F210-AD7E-425D-B62B-8AE6DD1E60A9}"/>
              </a:ext>
            </a:extLst>
          </p:cNvPr>
          <p:cNvSpPr>
            <a:spLocks xmlns:a="http://schemas.openxmlformats.org/drawingml/2006/main" noGrp="1"/>
          </p:cNvSpPr>
          <p:nvPr/>
        </p:nvSpPr>
        <p:spPr>
          <a:xfrm xmlns:a="http://schemas.openxmlformats.org/drawingml/2006/main">
            <a:off x="762000" y="2886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did you notice during the robot dance?</a:t>
            </a:r>
          </a:p>
        </p:txBody>
      </p:sp>
      <p:sp>
        <p:nvSpPr>
          <p:cNvPr id="4" name="">
            <a:extLst xmlns:a="http://schemas.openxmlformats.org/drawingml/2006/main">
              <a:ext uri="{FF2B5EF4-FFF2-40B4-BE49-F238E27FC236}">
                <a16:creationId xmlns:a16="http://schemas.microsoft.com/office/drawing/2014/main" id="{21162426-C408-4FBC-A3EE-9ABB6A949565}"/>
              </a:ext>
            </a:extLst>
          </p:cNvPr>
          <p:cNvSpPr>
            <a:spLocks xmlns:a="http://schemas.openxmlformats.org/drawingml/2006/main" noGrp="1"/>
          </p:cNvSpPr>
          <p:nvPr/>
        </p:nvSpPr>
        <p:spPr>
          <a:xfrm xmlns:a="http://schemas.openxmlformats.org/drawingml/2006/main">
            <a:off x="762000" y="40290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73044"/>
                </a:solidFill>
                <a:latin typeface="Arial"/>
                <a:ea typeface="Arial"/>
                <a:cs typeface="Arial"/>
              </a:defRPr>
            </a:defPPr>
          </a:lstStyle>
          <a:p xmlns:a="http://schemas.openxmlformats.org/drawingml/2006/main">
            <a:pPr>
              <a:buNone/>
              <a:defRPr sz="2550" b="0">
                <a:solidFill>
                  <a:srgbClr val="173044"/>
                </a:solidFill>
                <a:latin typeface="Arial"/>
                <a:ea typeface="Arial"/>
                <a:cs typeface="Arial"/>
              </a:defRPr>
            </a:pPr>
            <a:r>
              <a:rPr sz="2550" b="0">
                <a:solidFill>
                  <a:srgbClr val="173044"/>
                </a:solidFill>
                <a:latin typeface="Arial"/>
                <a:ea typeface="Arial"/>
                <a:cs typeface="Arial"/>
              </a:rPr>
              <a:t>What would you change in the dance or character?</a:t>
            </a:r>
          </a:p>
        </p:txBody>
      </p:sp>
      <p:sp>
        <p:nvSpPr>
          <p:cNvPr id="6" name="">
            <a:extLst xmlns:a="http://schemas.openxmlformats.org/drawingml/2006/main">
              <a:ext uri="{FF2B5EF4-FFF2-40B4-BE49-F238E27FC236}">
                <a16:creationId xmlns:a16="http://schemas.microsoft.com/office/drawing/2014/main" id="{A93C4B40-8AED-4CA4-8421-A8A8207A0E30}"/>
              </a:ext>
            </a:extLst>
          </p:cNvPr>
          <p:cNvSpPr>
            <a:spLocks xmlns:a="http://schemas.openxmlformats.org/drawingml/2006/main" noGrp="1"/>
          </p:cNvSpPr>
          <p:nvPr/>
        </p:nvSpPr>
        <p:spPr>
          <a:xfrm xmlns:a="http://schemas.openxmlformats.org/drawingml/2006/main">
            <a:off x="762000" y="571500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006E75"/>
                </a:solidFill>
                <a:latin typeface="Arial"/>
                <a:ea typeface="Arial"/>
                <a:cs typeface="Arial"/>
              </a:defRPr>
            </a:defPPr>
          </a:lstStyle>
          <a:p xmlns:a="http://schemas.openxmlformats.org/drawingml/2006/main">
            <a:pPr>
              <a:buNone/>
              <a:defRPr sz="2025" b="0">
                <a:solidFill>
                  <a:srgbClr val="006E75"/>
                </a:solidFill>
                <a:latin typeface="Arial"/>
                <a:ea typeface="Arial"/>
                <a:cs typeface="Arial"/>
              </a:defRPr>
            </a:pPr>
            <a:r>
              <a:rPr sz="2025" b="0">
                <a:solidFill>
                  <a:srgbClr val="006E75"/>
                </a:solidFill>
                <a:latin typeface="Arial"/>
                <a:ea typeface="Arial"/>
                <a:cs typeface="Arial"/>
              </a:rPr>
              <a:t>Save your team project. Store your build. Reset the robot and parts.</a:t>
            </a:r>
          </a:p>
        </p:txBody>
      </p:sp>
    </p:spTree>
    <p:extLst>
      <p:ext uri="{BB962C8B-B14F-4D97-AF65-F5344CB8AC3E}">
        <p14:creationId xmlns:p14="http://schemas.microsoft.com/office/powerpoint/2010/main" val="86143539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2026-10-25T23:31:15.0800000Z</dcterms:created>
  <dcterms:modified xsi:type="dcterms:W3CDTF">2026-10-25T23:31:15.0800000Z</dcterms:modified>
</coreProperties>
</file>