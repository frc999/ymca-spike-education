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d3dd63b4644725" /><Relationship Type="http://schemas.openxmlformats.org/officeDocument/2006/relationships/extended-properties" Target="/docProps/app.xml" Id="R95d5efb87f874432" /><Relationship Type="http://schemas.openxmlformats.org/officeDocument/2006/relationships/officeDocument" Target="/ppt/presentation.xml" Id="R80a8b1dd076f4edf" /></Relationships>
</file>

<file path=ppt/presentation.xml><?xml version="1.0" encoding="utf-8"?>
<p:presentation xmlns:p="http://schemas.openxmlformats.org/presentationml/2006/main">
  <p:sldMasterIdLst>
    <p:sldMasterId xmlns:r="http://schemas.openxmlformats.org/officeDocument/2006/relationships" id="2147483648" r:id="R675a13cc32794d02"/>
  </p:sldMasterIdLst>
  <p:notesMasterIdLst>
    <p:notesMasterId xmlns:r="http://schemas.openxmlformats.org/officeDocument/2006/relationships" r:id="R94f72b36493447af"/>
  </p:notesMasterIdLst>
  <p:sldIdLst>
    <p:sldId xmlns:r="http://schemas.openxmlformats.org/officeDocument/2006/relationships" id="256" r:id="R5c7b5c0e1b2b46ef"/>
    <p:sldId xmlns:r="http://schemas.openxmlformats.org/officeDocument/2006/relationships" id="257" r:id="R75b88350c7b84b27"/>
    <p:sldId xmlns:r="http://schemas.openxmlformats.org/officeDocument/2006/relationships" id="258" r:id="R86b932c85ab44789"/>
    <p:sldId xmlns:r="http://schemas.openxmlformats.org/officeDocument/2006/relationships" id="259" r:id="R255d2b27008446f1"/>
    <p:sldId xmlns:r="http://schemas.openxmlformats.org/officeDocument/2006/relationships" id="260" r:id="R204fa6a2b848459e"/>
    <p:sldId xmlns:r="http://schemas.openxmlformats.org/officeDocument/2006/relationships" id="261" r:id="Raf2e53a621384d1e"/>
    <p:sldId xmlns:r="http://schemas.openxmlformats.org/officeDocument/2006/relationships" id="262" r:id="Rc3851990fd5c42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a1c32486c974787" /><Relationship Type="http://schemas.openxmlformats.org/officeDocument/2006/relationships/slideMaster" Target="/ppt/slideMasters/slideMaster1.xml" Id="R675a13cc32794d02" /><Relationship Type="http://schemas.openxmlformats.org/officeDocument/2006/relationships/notesMaster" Target="/ppt/notesMasters/notesMaster1.xml" Id="R94f72b36493447af" /><Relationship Type="http://schemas.openxmlformats.org/officeDocument/2006/relationships/presProps" Target="/ppt/presProps.xml" Id="R4fba3db78c5a4510" /><Relationship Type="http://schemas.openxmlformats.org/officeDocument/2006/relationships/tableStyles" Target="/ppt/tableStyles.xml" Id="R763677b3a67940b2" /><Relationship Type="http://schemas.openxmlformats.org/officeDocument/2006/relationships/slide" Target="/ppt/slides/slide1.xml" Id="R5c7b5c0e1b2b46ef" /><Relationship Type="http://schemas.openxmlformats.org/officeDocument/2006/relationships/slide" Target="/ppt/slides/slide2.xml" Id="R75b88350c7b84b27" /><Relationship Type="http://schemas.openxmlformats.org/officeDocument/2006/relationships/slide" Target="/ppt/slides/slide3.xml" Id="R86b932c85ab44789" /><Relationship Type="http://schemas.openxmlformats.org/officeDocument/2006/relationships/slide" Target="/ppt/slides/slide4.xml" Id="R255d2b27008446f1" /><Relationship Type="http://schemas.openxmlformats.org/officeDocument/2006/relationships/slide" Target="/ppt/slides/slide5.xml" Id="R204fa6a2b848459e" /><Relationship Type="http://schemas.openxmlformats.org/officeDocument/2006/relationships/slide" Target="/ppt/slides/slide6.xml" Id="Raf2e53a621384d1e" /><Relationship Type="http://schemas.openxmlformats.org/officeDocument/2006/relationships/slide" Target="/ppt/slides/slide7.xml" Id="Rc3851990fd5c42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265b3ef89a48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417be29ef8b4d3d" /><Relationship Type="http://schemas.openxmlformats.org/officeDocument/2006/relationships/notesMaster" Target="/ppt/notesMasters/notesMaster1.xml" Id="R2d3904e10868485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68a784da5a41aa" /><Relationship Type="http://schemas.openxmlformats.org/officeDocument/2006/relationships/notesMaster" Target="/ppt/notesMasters/notesMaster1.xml" Id="R05648eb3715642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32dc9baecc4175" /><Relationship Type="http://schemas.openxmlformats.org/officeDocument/2006/relationships/notesMaster" Target="/ppt/notesMasters/notesMaster1.xml" Id="R1eeb5478b91e4d1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0dae1433bb4a2f" /><Relationship Type="http://schemas.openxmlformats.org/officeDocument/2006/relationships/notesMaster" Target="/ppt/notesMasters/notesMaster1.xml" Id="R38dd9d35f49245a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83168e0c0aa4e96" /><Relationship Type="http://schemas.openxmlformats.org/officeDocument/2006/relationships/notesMaster" Target="/ppt/notesMasters/notesMaster1.xml" Id="Rf452b99662f049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f32362b85c74cfb" /><Relationship Type="http://schemas.openxmlformats.org/officeDocument/2006/relationships/notesMaster" Target="/ppt/notesMasters/notesMaster1.xml" Id="Ref8eec08f02b4c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3b20d7ba2a4be8" /><Relationship Type="http://schemas.openxmlformats.org/officeDocument/2006/relationships/notesMaster" Target="/ppt/notesMasters/notesMaster1.xml" Id="R2d9d58d95f0446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 minutes: complete the final concept check before the demo briefing. What do you want your audience to understand about the decision your robot makes?</a:t>
            </a:r>
          </a:p>
          <a:p xmlns:a="http://schemas.openxmlformats.org/drawingml/2006/main">
            <a:r>
              <a:t>Learning goal: Each student explains a programming idea and compares a prediction with a result in a short demonstration.</a:t>
            </a:r>
          </a:p>
          <a:p xmlns:a="http://schemas.openxmlformats.org/drawingml/2006/main">
            <a:r>
              <a:t>Minimum success: Every pair demonstrates or explains its prototype, every student completes the final assessment, and families receive an optional next-step invitation through the adult coordinator.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5–10 minutes, or 7–12 in week 8. Demonstrate a brief explanation: “We expected __. We measured __. We changed __.” Show that an honest explanation of a failed run is useful engineering evidence.</a:t>
            </a:r>
          </a:p>
          <a:p xmlns:a="http://schemas.openxmlformats.org/drawingml/2006/main">
            <a:r>
              <a:t>Preparation: Confirm any visitors with YMCA staff. Load pair projects and inspect lanes before arrival. Use W08_showcase.py only as a clean fallback; normally reopen the pair’s week 7 program. No last-minute firmware update.</a:t>
            </a:r>
          </a:p>
          <a:p xmlns:a="http://schemas.openxmlformats.org/drawingml/2006/main">
            <a:r>
              <a:t>The core challenge uses an assembled base and the supplied complete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discussion fragment. It belongs in the supplied project, not in an empty file. The student function is named student_recipe. Demonstrate a brief explanation: “We expected __. We measured __. We changed __.” Show that an honest explanation of a failed run is useful engineering evidence.</a:t>
            </a:r>
          </a:p>
          <a:p xmlns:a="http://schemas.openxmlformats.org/drawingml/2006/main">
            <a:r>
              <a:t>Expected reasoning: Use the same baseline key in the instructor guide. Report what actually happened during the demo, not the intended outcome. Future FRC interest is optional and separate from demonstrated learning.</a:t>
            </a:r>
          </a:p>
          <a:p xmlns:a="http://schemas.openxmlformats.org/drawingml/2006/main">
            <a:r>
              <a:t>Technical references: https://spike.legoeducation.com/prime/modal/help/lls-help-python ; https://tuftsceeo.github.io/SPIKEPythonDocs/SPIKE3.html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10–15 minutes in the standard lesson. Before the demo, predict the stop reason. What will you explain if the robot stops for a limit instead of detecting its target?</a:t>
            </a:r>
          </a:p>
          <a:p xmlns:a="http://schemas.openxmlformats.org/drawingml/2006/main">
            <a:r>
              <a:t>Do not reveal the answer immediately. Ask students to point to a line or a measured value. Expected reasoning: Use the same baseline key in the instructor guide. Report what actually happened during the demo, not the intended outcome. Future FRC interest is optional and separate from demonstrated learning.</a:t>
            </a:r>
          </a:p>
          <a:p xmlns:a="http://schemas.openxmlformats.org/drawingml/2006/main">
            <a:r>
              <a:t>Support: Allow a partner interview, pointing to code, or a recorded explanation prepared with staff. Participation and honest reasoning count even if the robot does not complete its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Robot and planning rotations. 1. Complete the final four concept questions individually during minutes 0–7. Use the same questions as the baseline without looking at the earlier responses.</a:t>
            </a:r>
          </a:p>
          <a:p xmlns:a="http://schemas.openxmlformats.org/drawingml/2006/main">
            <a:r>
              <a:t>2. Use minutes 7–12 for a short welcome and demonstration briefing. From 12–24, each pod splits 12 minutes into two six-minute pair rehearsals. Switch driver after three minutes.</a:t>
            </a:r>
          </a:p>
          <a:p xmlns:a="http://schemas.openxmlformats.org/drawingml/2006/main">
            <a:r>
              <a:t>3. At 24–28, save a final copy and arrange the audience safely. Each student rehearses one sentence about the code or evidence.</a:t>
            </a:r>
          </a:p>
          <a:p xmlns:a="http://schemas.openxmlformats.org/drawingml/2006/main">
            <a:r>
              <a:t>4. From 28–44, four pairs each get four minutes: 45-second explanation, short run, audience question, and reset. If the run fails, show a stationary sensor reading and explain the next test.</a:t>
            </a:r>
          </a:p>
          <a:p xmlns:a="http://schemas.openxmlformats.org/drawingml/2006/main">
            <a:r>
              <a:t>5. At 44–49, celebrate a specific learning example from every pair. At 49–54, explain high school robotics roles and the optional next step. Use 54–60 for pack-up and YMCA pickup.</a:t>
            </a:r>
          </a:p>
          <a:p xmlns:a="http://schemas.openxmlformats.org/drawingml/2006/main">
            <a:r>
              <a:t>Off-robot task: While another pair rehearses, trace the final code and prepare an explanation. During demonstrations, write one useful question or observed idea for another pair.</a:t>
            </a:r>
          </a:p>
          <a:p xmlns:a="http://schemas.openxmlformats.org/drawingml/2006/main">
            <a:r>
              <a:t>Week 8 schedule: 12–24 rehearsals, 24–28 setup, 28–44 demos. Otherwise 15–27 first pair, 27–39 second 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39–49 minutes for improvement in standard lessons. Final concept responses, confidence rating, a brief mentor rubric, final recipe, and measured demo outcome. Photos or quotes require the program’s agreed permission process.</a:t>
            </a:r>
          </a:p>
          <a:p xmlns:a="http://schemas.openxmlformats.org/drawingml/2006/main">
            <a:r>
              <a:t>Troubleshooting: Connection failure: use the saved recipe and act out the sequence. Sensor failure: show the recorded test log. Keep each pair’s four-minute slot and do not replace students’ explanations with a mentor repair session.</a:t>
            </a:r>
          </a:p>
          <a:p xmlns:a="http://schemas.openxmlformats.org/drawingml/2006/main">
            <a:r>
              <a:t>Optional extension: Explain a limitation and propose a specific next experiment. Invite questions about how the result might change on a different surface.</a:t>
            </a:r>
          </a:p>
          <a:p xmlns:a="http://schemas.openxmlformats.org/drawingml/2006/main">
            <a:r>
              <a:t>If Python becomes a barrier, preserve the concept using this fallback: Reopen the pair’s saved Word Blocks mission. Students point out a variable, a repeat, or a decision and connect it to observed robot behavior. No language switch is needed on showcase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49–54 minutes: individual explanation. Reserve 54–60 for saving and reset. Use the same baseline key in the instructor guide. Report what actually happened during the demo, not the intended outcome. Future FRC interest is optional and separate from demonstrated learning.</a:t>
            </a:r>
          </a:p>
          <a:p xmlns:a="http://schemas.openxmlformats.org/drawingml/2006/main">
            <a:r>
              <a:t>FRC includes programming, design, fabrication, outreach, media, and team operations.</a:t>
            </a:r>
          </a:p>
          <a:p xmlns:a="http://schemas.openxmlformats.org/drawingml/2006/main">
            <a:r>
              <a:t>Keep invitations to future activities optional and parent-mediated. Do not equate club attendance with FRC membership.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05884d2c1b496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7b61bf149940ac" /><Relationship Type="http://schemas.openxmlformats.org/officeDocument/2006/relationships/slideLayout" Target="/ppt/slideLayouts/slideLayout1.xml" Id="R2ab54ebc754f48e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b54ebc754f48e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934c16599e74dc5" /><Relationship Type="http://schemas.openxmlformats.org/officeDocument/2006/relationships/notesSlide" Target="/ppt/notesSlides/notesSlide1.xml" Id="Re1bfcef389f249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15c7a29d35f4e51" /><Relationship Type="http://schemas.openxmlformats.org/officeDocument/2006/relationships/notesSlide" Target="/ppt/notesSlides/notesSlide2.xml" Id="R21f40f132e7d42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dc7520bdda5463e" /><Relationship Type="http://schemas.openxmlformats.org/officeDocument/2006/relationships/notesSlide" Target="/ppt/notesSlides/notesSlide3.xml" Id="Raa3f5360176c46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829207766e74cd4" /><Relationship Type="http://schemas.openxmlformats.org/officeDocument/2006/relationships/notesSlide" Target="/ppt/notesSlides/notesSlide4.xml" Id="Ra15bba03159b40c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dd677028c0741b4" /><Relationship Type="http://schemas.openxmlformats.org/officeDocument/2006/relationships/notesSlide" Target="/ppt/notesSlides/notesSlide5.xml" Id="R0e29b8cc372b4c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df160910451401a" /><Relationship Type="http://schemas.openxmlformats.org/officeDocument/2006/relationships/notesSlide" Target="/ppt/notesSlides/notesSlide6.xml" Id="Rfe9585754dcc479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fa9d49d96794a45" /><Relationship Type="http://schemas.openxmlformats.org/officeDocument/2006/relationships/notesSlide" Target="/ppt/notesSlides/notesSlide7.xml" Id="R2173d9e5bc614f5c"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CBB2561-4139-4583-80E9-90CB05AC36A9}"/>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100" b="1">
                <a:solidFill>
                  <a:srgbClr val="FFFFFF"/>
                </a:solidFill>
                <a:latin typeface="Arial"/>
                <a:ea typeface="Arial"/>
                <a:cs typeface="Arial"/>
              </a:defRPr>
            </a:pPr>
            <a:r>
              <a:rPr sz="5100" b="1">
                <a:solidFill>
                  <a:srgbClr val="FFFFFF"/>
                </a:solidFill>
                <a:latin typeface="Arial"/>
                <a:ea typeface="Arial"/>
                <a:cs typeface="Arial"/>
              </a:rPr>
              <a:t>Robot showcase</a:t>
            </a:r>
          </a:p>
        </p:txBody>
      </p:sp>
      <p:sp>
        <p:nvSpPr>
          <p:cNvPr id="2" name="">
            <a:extLst xmlns:a="http://schemas.openxmlformats.org/drawingml/2006/main">
              <a:ext uri="{FF2B5EF4-FFF2-40B4-BE49-F238E27FC236}">
                <a16:creationId xmlns:a16="http://schemas.microsoft.com/office/drawing/2014/main" id="{7C117948-F4A8-4848-961C-A32D72B24FC9}"/>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9DDADD"/>
                </a:solidFill>
                <a:latin typeface="Arial"/>
                <a:ea typeface="Arial"/>
                <a:cs typeface="Arial"/>
              </a:defRPr>
            </a:pPr>
            <a:r>
              <a:rPr sz="2475" b="0">
                <a:solidFill>
                  <a:srgbClr val="9DDADD"/>
                </a:solidFill>
                <a:latin typeface="Arial"/>
                <a:ea typeface="Arial"/>
                <a:cs typeface="Arial"/>
              </a:rPr>
              <a:t>Demonstration and next steps</a:t>
            </a:r>
          </a:p>
        </p:txBody>
      </p:sp>
      <p:sp>
        <p:nvSpPr>
          <p:cNvPr id="3" name="">
            <a:extLst xmlns:a="http://schemas.openxmlformats.org/drawingml/2006/main">
              <a:ext uri="{FF2B5EF4-FFF2-40B4-BE49-F238E27FC236}">
                <a16:creationId xmlns:a16="http://schemas.microsoft.com/office/drawing/2014/main" id="{EB0C9601-6AAD-49F8-A958-32A68F780448}"/>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9D4DC"/>
                </a:solidFill>
                <a:latin typeface="Arial"/>
                <a:ea typeface="Arial"/>
                <a:cs typeface="Arial"/>
              </a:defRPr>
            </a:pPr>
            <a:r>
              <a:rPr sz="1425" b="0">
                <a:solidFill>
                  <a:srgbClr val="B9D4DC"/>
                </a:solidFill>
                <a:latin typeface="Arial"/>
                <a:ea typeface="Arial"/>
                <a:cs typeface="Arial"/>
              </a:rPr>
              <a:t>Week 8 · MechaRAMS at the YMCA</a:t>
            </a:r>
          </a:p>
        </p:txBody>
      </p:sp>
    </p:spTree>
    <p:extLst>
      <p:ext uri="{BB962C8B-B14F-4D97-AF65-F5344CB8AC3E}">
        <p14:creationId xmlns:p14="http://schemas.microsoft.com/office/powerpoint/2010/main" val="840264126"/>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077C8CC-C65B-4ECA-B41D-7013E2727A97}"/>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2D01A00F-D014-446B-9C41-695D16932A83}"/>
              </a:ext>
            </a:extLst>
          </p:cNvPr>
          <p:cNvSpPr>
            <a:spLocks xmlns:a="http://schemas.openxmlformats.org/drawingml/2006/main" noGrp="1"/>
          </p:cNvSpPr>
          <p:nvPr/>
        </p:nvSpPr>
        <p:spPr>
          <a:xfrm xmlns:a="http://schemas.openxmlformats.org/drawingml/2006/main">
            <a:off x="762000" y="19526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044"/>
                </a:solidFill>
                <a:latin typeface="Arial"/>
                <a:ea typeface="Arial"/>
                <a:cs typeface="Arial"/>
              </a:defRPr>
            </a:pPr>
            <a:r>
              <a:rPr sz="2550" b="0">
                <a:solidFill>
                  <a:srgbClr val="173044"/>
                </a:solidFill>
                <a:latin typeface="Arial"/>
                <a:ea typeface="Arial"/>
                <a:cs typeface="Arial"/>
              </a:rPr>
              <a:t>A 45-second explanation</a:t>
            </a:r>
          </a:p>
        </p:txBody>
      </p:sp>
      <p:sp>
        <p:nvSpPr>
          <p:cNvPr id="3" name="">
            <a:extLst xmlns:a="http://schemas.openxmlformats.org/drawingml/2006/main">
              <a:ext uri="{FF2B5EF4-FFF2-40B4-BE49-F238E27FC236}">
                <a16:creationId xmlns:a16="http://schemas.microsoft.com/office/drawing/2014/main" id="{0A1529EA-4460-4434-B1B5-F0CD1D7E145E}"/>
              </a:ext>
            </a:extLst>
          </p:cNvPr>
          <p:cNvSpPr>
            <a:spLocks xmlns:a="http://schemas.openxmlformats.org/drawingml/2006/main" noGrp="1"/>
          </p:cNvSpPr>
          <p:nvPr/>
        </p:nvSpPr>
        <p:spPr>
          <a:xfrm xmlns:a="http://schemas.openxmlformats.org/drawingml/2006/main">
            <a:off x="762000" y="30575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044"/>
                </a:solidFill>
                <a:latin typeface="Arial"/>
                <a:ea typeface="Arial"/>
                <a:cs typeface="Arial"/>
              </a:defRPr>
            </a:pPr>
            <a:r>
              <a:rPr sz="2550" b="0">
                <a:solidFill>
                  <a:srgbClr val="173044"/>
                </a:solidFill>
                <a:latin typeface="Arial"/>
                <a:ea typeface="Arial"/>
                <a:cs typeface="Arial"/>
              </a:rPr>
              <a:t>A short robot demonstration</a:t>
            </a:r>
          </a:p>
        </p:txBody>
      </p:sp>
      <p:sp>
        <p:nvSpPr>
          <p:cNvPr id="4" name="">
            <a:extLst xmlns:a="http://schemas.openxmlformats.org/drawingml/2006/main">
              <a:ext uri="{FF2B5EF4-FFF2-40B4-BE49-F238E27FC236}">
                <a16:creationId xmlns:a16="http://schemas.microsoft.com/office/drawing/2014/main" id="{5A1B2295-9F0E-4653-AE29-30B4CC195C50}"/>
              </a:ext>
            </a:extLst>
          </p:cNvPr>
          <p:cNvSpPr>
            <a:spLocks xmlns:a="http://schemas.openxmlformats.org/drawingml/2006/main" noGrp="1"/>
          </p:cNvSpPr>
          <p:nvPr/>
        </p:nvSpPr>
        <p:spPr>
          <a:xfrm xmlns:a="http://schemas.openxmlformats.org/drawingml/2006/main">
            <a:off x="762000" y="41624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044"/>
                </a:solidFill>
                <a:latin typeface="Arial"/>
                <a:ea typeface="Arial"/>
                <a:cs typeface="Arial"/>
              </a:defRPr>
            </a:pPr>
            <a:r>
              <a:rPr sz="2550" b="0">
                <a:solidFill>
                  <a:srgbClr val="173044"/>
                </a:solidFill>
                <a:latin typeface="Arial"/>
                <a:ea typeface="Arial"/>
                <a:cs typeface="Arial"/>
              </a:rPr>
              <a:t>An honest account of the result</a:t>
            </a:r>
          </a:p>
        </p:txBody>
      </p:sp>
    </p:spTree>
    <p:extLst>
      <p:ext uri="{BB962C8B-B14F-4D97-AF65-F5344CB8AC3E}">
        <p14:creationId xmlns:p14="http://schemas.microsoft.com/office/powerpoint/2010/main" val="854629752"/>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8815B6A-DE31-404D-88B5-75F784E9B72E}"/>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Explanation, evidence, and reflection</a:t>
            </a:r>
          </a:p>
        </p:txBody>
      </p:sp>
      <p:sp>
        <p:nvSpPr>
          <p:cNvPr id="2" name="">
            <a:extLst xmlns:a="http://schemas.openxmlformats.org/drawingml/2006/main">
              <a:ext uri="{FF2B5EF4-FFF2-40B4-BE49-F238E27FC236}">
                <a16:creationId xmlns:a16="http://schemas.microsoft.com/office/drawing/2014/main" id="{C1DFDF4F-E55B-489D-9687-70C8960CB78F}"/>
              </a:ext>
            </a:extLst>
          </p:cNvPr>
          <p:cNvSpPr>
            <a:spLocks xmlns:a="http://schemas.openxmlformats.org/drawingml/2006/main" noGrp="1"/>
          </p:cNvSpPr>
          <p:nvPr/>
        </p:nvSpPr>
        <p:spPr>
          <a:xfrm xmlns:a="http://schemas.openxmlformats.org/drawingml/2006/main">
            <a:off x="781050" y="1952625"/>
            <a:ext cx="10572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Consolas"/>
                <a:ea typeface="Consolas"/>
                <a:cs typeface="Consolas"/>
              </a:defRPr>
            </a:pPr>
            <a:r>
              <a:rPr sz="2325" b="0">
                <a:solidFill>
                  <a:srgbClr val="FFFFFF"/>
                </a:solidFill>
                <a:latin typeface="Consolas"/>
                <a:ea typeface="Consolas"/>
                <a:cs typeface="Consolas"/>
              </a:rPr>
              <a:t>await signal("Y")</a:t>
            </a:r>
          </a:p>
          <a:p xmlns:a="http://schemas.openxmlformats.org/drawingml/2006/main">
            <a:pPr>
              <a:defRPr sz="2325" b="0">
                <a:solidFill>
                  <a:srgbClr val="FFFFFF"/>
                </a:solidFill>
                <a:latin typeface="Consolas"/>
                <a:ea typeface="Consolas"/>
                <a:cs typeface="Consolas"/>
              </a:defRPr>
            </a:pPr>
            <a:r>
              <a:rPr sz="2325" b="0">
                <a:solidFill>
                  <a:srgbClr val="FFFFFF"/>
                </a:solidFill>
                <a:latin typeface="Consolas"/>
                <a:ea typeface="Consolas"/>
                <a:cs typeface="Consolas"/>
              </a:rPr>
              <a:t>result = await seek_marker(threshold)</a:t>
            </a:r>
          </a:p>
          <a:p xmlns:a="http://schemas.openxmlformats.org/drawingml/2006/main">
            <a:pPr>
              <a:defRPr sz="2325" b="0">
                <a:solidFill>
                  <a:srgbClr val="FFFFFF"/>
                </a:solidFill>
                <a:latin typeface="Consolas"/>
                <a:ea typeface="Consolas"/>
                <a:cs typeface="Consolas"/>
              </a:defRPr>
            </a:pPr>
            <a:r>
              <a:rPr sz="2325" b="0">
                <a:solidFill>
                  <a:srgbClr val="FFFFFF"/>
                </a:solidFill>
                <a:latin typeface="Consolas"/>
                <a:ea typeface="Consolas"/>
                <a:cs typeface="Consolas"/>
              </a:rPr>
              <a:t>print("Our result:", result)</a:t>
            </a:r>
          </a:p>
        </p:txBody>
      </p:sp>
      <p:sp>
        <p:nvSpPr>
          <p:cNvPr id="3" name="">
            <a:extLst xmlns:a="http://schemas.openxmlformats.org/drawingml/2006/main">
              <a:ext uri="{FF2B5EF4-FFF2-40B4-BE49-F238E27FC236}">
                <a16:creationId xmlns:a16="http://schemas.microsoft.com/office/drawing/2014/main" id="{67D599A7-43FA-4272-A6C7-0BA6CFFD7B31}"/>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9D4DC"/>
                </a:solidFill>
                <a:latin typeface="Arial"/>
                <a:ea typeface="Arial"/>
                <a:cs typeface="Arial"/>
              </a:defRPr>
            </a:pPr>
            <a:r>
              <a:rPr sz="1425" b="0">
                <a:solidFill>
                  <a:srgbClr val="B9D4DC"/>
                </a:solidFill>
                <a:latin typeface="Arial"/>
                <a:ea typeface="Arial"/>
                <a:cs typeface="Arial"/>
              </a:rPr>
              <a:t>Reading fragment from a complete supplied Python project</a:t>
            </a:r>
          </a:p>
        </p:txBody>
      </p:sp>
    </p:spTree>
    <p:extLst>
      <p:ext uri="{BB962C8B-B14F-4D97-AF65-F5344CB8AC3E}">
        <p14:creationId xmlns:p14="http://schemas.microsoft.com/office/powerpoint/2010/main" val="749730136"/>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82E3BED-F296-48F6-B662-6CA0AB3F3A8D}"/>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A prediction before the run</a:t>
            </a:r>
          </a:p>
        </p:txBody>
      </p:sp>
      <p:sp>
        <p:nvSpPr>
          <p:cNvPr id="2" name="">
            <a:extLst xmlns:a="http://schemas.openxmlformats.org/drawingml/2006/main">
              <a:ext uri="{FF2B5EF4-FFF2-40B4-BE49-F238E27FC236}">
                <a16:creationId xmlns:a16="http://schemas.microsoft.com/office/drawing/2014/main" id="{551EBDE3-687A-4932-86B4-77BE2A0099A6}"/>
              </a:ext>
            </a:extLst>
          </p:cNvPr>
          <p:cNvSpPr>
            <a:spLocks xmlns:a="http://schemas.openxmlformats.org/drawingml/2006/main" noGrp="1"/>
          </p:cNvSpPr>
          <p:nvPr/>
        </p:nvSpPr>
        <p:spPr>
          <a:xfrm xmlns:a="http://schemas.openxmlformats.org/drawingml/2006/main">
            <a:off x="762000" y="1952625"/>
            <a:ext cx="10477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044"/>
                </a:solidFill>
                <a:latin typeface="Arial"/>
                <a:ea typeface="Arial"/>
                <a:cs typeface="Arial"/>
              </a:defRPr>
            </a:pPr>
            <a:r>
              <a:rPr sz="2625" b="0">
                <a:solidFill>
                  <a:srgbClr val="173044"/>
                </a:solidFill>
                <a:latin typeface="Arial"/>
                <a:ea typeface="Arial"/>
                <a:cs typeface="Arial"/>
              </a:rPr>
              <a:t>What do you expect the program to report?</a:t>
            </a:r>
          </a:p>
        </p:txBody>
      </p:sp>
      <p:sp>
        <p:nvSpPr>
          <p:cNvPr id="3" name="">
            <a:extLst xmlns:a="http://schemas.openxmlformats.org/drawingml/2006/main">
              <a:ext uri="{FF2B5EF4-FFF2-40B4-BE49-F238E27FC236}">
                <a16:creationId xmlns:a16="http://schemas.microsoft.com/office/drawing/2014/main" id="{5394CE24-0CB2-43B0-9596-979352630A8C}"/>
              </a:ext>
            </a:extLst>
          </p:cNvPr>
          <p:cNvSpPr>
            <a:spLocks xmlns:a="http://schemas.openxmlformats.org/drawingml/2006/main" noGrp="1"/>
          </p:cNvSpPr>
          <p:nvPr/>
        </p:nvSpPr>
        <p:spPr>
          <a:xfrm xmlns:a="http://schemas.openxmlformats.org/drawingml/2006/main">
            <a:off x="762000" y="3476625"/>
            <a:ext cx="10477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044"/>
                </a:solidFill>
                <a:latin typeface="Arial"/>
                <a:ea typeface="Arial"/>
                <a:cs typeface="Arial"/>
              </a:defRPr>
            </a:pPr>
            <a:r>
              <a:rPr sz="2625" b="0">
                <a:solidFill>
                  <a:srgbClr val="173044"/>
                </a:solidFill>
                <a:latin typeface="Arial"/>
                <a:ea typeface="Arial"/>
                <a:cs typeface="Arial"/>
              </a:rPr>
              <a:t>What evidence can you explain if the run fails?</a:t>
            </a:r>
          </a:p>
        </p:txBody>
      </p:sp>
      <p:sp>
        <p:nvSpPr>
          <p:cNvPr id="4" name="">
            <a:extLst xmlns:a="http://schemas.openxmlformats.org/drawingml/2006/main">
              <a:ext uri="{FF2B5EF4-FFF2-40B4-BE49-F238E27FC236}">
                <a16:creationId xmlns:a16="http://schemas.microsoft.com/office/drawing/2014/main" id="{5595494A-56F1-496F-9206-406E1D46E28F}"/>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36A77"/>
                </a:solidFill>
                <a:latin typeface="Arial"/>
                <a:ea typeface="Arial"/>
                <a:cs typeface="Arial"/>
              </a:defRPr>
            </a:pPr>
            <a:r>
              <a:rPr sz="1425" b="0">
                <a:solidFill>
                  <a:srgbClr val="536A77"/>
                </a:solidFill>
                <a:latin typeface="Arial"/>
                <a:ea typeface="Arial"/>
                <a:cs typeface="Arial"/>
              </a:rPr>
              <a:t>Both partners explain a prediction before anyone presses Run.</a:t>
            </a:r>
          </a:p>
        </p:txBody>
      </p:sp>
    </p:spTree>
    <p:extLst>
      <p:ext uri="{BB962C8B-B14F-4D97-AF65-F5344CB8AC3E}">
        <p14:creationId xmlns:p14="http://schemas.microsoft.com/office/powerpoint/2010/main" val="510047744"/>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505C470-5EEE-4825-8081-141824395C63}"/>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Our demonstration order</a:t>
            </a:r>
          </a:p>
        </p:txBody>
      </p:sp>
      <p:sp>
        <p:nvSpPr>
          <p:cNvPr id="2" name="">
            <a:extLst xmlns:a="http://schemas.openxmlformats.org/drawingml/2006/main">
              <a:ext uri="{FF2B5EF4-FFF2-40B4-BE49-F238E27FC236}">
                <a16:creationId xmlns:a16="http://schemas.microsoft.com/office/drawing/2014/main" id="{259E6989-9F0E-49E4-82E2-E94A59120E4D}"/>
              </a:ext>
            </a:extLst>
          </p:cNvPr>
          <p:cNvSpPr>
            <a:spLocks xmlns:a="http://schemas.openxmlformats.org/drawingml/2006/main" noGrp="1"/>
          </p:cNvSpPr>
          <p:nvPr/>
        </p:nvSpPr>
        <p:spPr>
          <a:xfrm xmlns:a="http://schemas.openxmlformats.org/drawingml/2006/main">
            <a:off x="762000" y="19526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044"/>
                </a:solidFill>
                <a:latin typeface="Arial"/>
                <a:ea typeface="Arial"/>
                <a:cs typeface="Arial"/>
              </a:defRPr>
            </a:pPr>
            <a:r>
              <a:rPr sz="2250" b="0">
                <a:solidFill>
                  <a:srgbClr val="173044"/>
                </a:solidFill>
                <a:latin typeface="Arial"/>
                <a:ea typeface="Arial"/>
                <a:cs typeface="Arial"/>
              </a:rPr>
              <a:t>Each pair gets four minutes.</a:t>
            </a:r>
          </a:p>
        </p:txBody>
      </p:sp>
      <p:sp>
        <p:nvSpPr>
          <p:cNvPr id="3" name="">
            <a:extLst xmlns:a="http://schemas.openxmlformats.org/drawingml/2006/main">
              <a:ext uri="{FF2B5EF4-FFF2-40B4-BE49-F238E27FC236}">
                <a16:creationId xmlns:a16="http://schemas.microsoft.com/office/drawing/2014/main" id="{56D66990-DD58-4C5F-88D3-48B0E527799F}"/>
              </a:ext>
            </a:extLst>
          </p:cNvPr>
          <p:cNvSpPr>
            <a:spLocks xmlns:a="http://schemas.openxmlformats.org/drawingml/2006/main" noGrp="1"/>
          </p:cNvSpPr>
          <p:nvPr/>
        </p:nvSpPr>
        <p:spPr>
          <a:xfrm xmlns:a="http://schemas.openxmlformats.org/drawingml/2006/main">
            <a:off x="762000" y="28860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044"/>
                </a:solidFill>
                <a:latin typeface="Arial"/>
                <a:ea typeface="Arial"/>
                <a:cs typeface="Arial"/>
              </a:defRPr>
            </a:pPr>
            <a:r>
              <a:rPr sz="2250" b="0">
                <a:solidFill>
                  <a:srgbClr val="173044"/>
                </a:solidFill>
                <a:latin typeface="Arial"/>
                <a:ea typeface="Arial"/>
                <a:cs typeface="Arial"/>
              </a:rPr>
              <a:t>Explain your user and program decision.</a:t>
            </a:r>
          </a:p>
        </p:txBody>
      </p:sp>
      <p:sp>
        <p:nvSpPr>
          <p:cNvPr id="4" name="">
            <a:extLst xmlns:a="http://schemas.openxmlformats.org/drawingml/2006/main">
              <a:ext uri="{FF2B5EF4-FFF2-40B4-BE49-F238E27FC236}">
                <a16:creationId xmlns:a16="http://schemas.microsoft.com/office/drawing/2014/main" id="{A9F8A68B-F14E-487E-A503-2BA879DC6340}"/>
              </a:ext>
            </a:extLst>
          </p:cNvPr>
          <p:cNvSpPr>
            <a:spLocks xmlns:a="http://schemas.openxmlformats.org/drawingml/2006/main" noGrp="1"/>
          </p:cNvSpPr>
          <p:nvPr/>
        </p:nvSpPr>
        <p:spPr>
          <a:xfrm xmlns:a="http://schemas.openxmlformats.org/drawingml/2006/main">
            <a:off x="762000" y="38195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044"/>
                </a:solidFill>
                <a:latin typeface="Arial"/>
                <a:ea typeface="Arial"/>
                <a:cs typeface="Arial"/>
              </a:defRPr>
            </a:pPr>
            <a:r>
              <a:rPr sz="2250" b="0">
                <a:solidFill>
                  <a:srgbClr val="173044"/>
                </a:solidFill>
                <a:latin typeface="Arial"/>
                <a:ea typeface="Arial"/>
                <a:cs typeface="Arial"/>
              </a:rPr>
              <a:t>Run, describe the result, and answer one question.</a:t>
            </a:r>
          </a:p>
        </p:txBody>
      </p:sp>
      <p:sp>
        <p:nvSpPr>
          <p:cNvPr id="5" name="">
            <a:extLst xmlns:a="http://schemas.openxmlformats.org/drawingml/2006/main">
              <a:ext uri="{FF2B5EF4-FFF2-40B4-BE49-F238E27FC236}">
                <a16:creationId xmlns:a16="http://schemas.microsoft.com/office/drawing/2014/main" id="{A84C6009-1CA1-488C-A70B-63BD390BBA24}"/>
              </a:ext>
            </a:extLst>
          </p:cNvPr>
          <p:cNvSpPr>
            <a:spLocks xmlns:a="http://schemas.openxmlformats.org/drawingml/2006/main" noGrp="1"/>
          </p:cNvSpPr>
          <p:nvPr/>
        </p:nvSpPr>
        <p:spPr>
          <a:xfrm xmlns:a="http://schemas.openxmlformats.org/drawingml/2006/main">
            <a:off x="762000" y="47529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044"/>
                </a:solidFill>
                <a:latin typeface="Arial"/>
                <a:ea typeface="Arial"/>
                <a:cs typeface="Arial"/>
              </a:defRPr>
            </a:pPr>
            <a:r>
              <a:rPr sz="2250" b="0">
                <a:solidFill>
                  <a:srgbClr val="173044"/>
                </a:solidFill>
                <a:latin typeface="Arial"/>
                <a:ea typeface="Arial"/>
                <a:cs typeface="Arial"/>
              </a:rPr>
              <a:t>The next pair resets the lane.</a:t>
            </a:r>
          </a:p>
        </p:txBody>
      </p:sp>
    </p:spTree>
    <p:extLst>
      <p:ext uri="{BB962C8B-B14F-4D97-AF65-F5344CB8AC3E}">
        <p14:creationId xmlns:p14="http://schemas.microsoft.com/office/powerpoint/2010/main" val="1196900074"/>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87DFF58-F37D-48F2-A81C-57FE658F2584}"/>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002BDDC8-470A-4592-B443-56F18DE3DCAE}"/>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DDD26513-0AD0-4970-AAFB-81EFD06C92E9}"/>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32E1EFD3-8FD3-4C82-91A4-25B2750D48FD}"/>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A4FB9973-7C93-4307-84D8-F2C959FF85EA}"/>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625815288"/>
      </p:ext>
    </p:extLst>
  </p:cSld>
</p:sld>
</file>

<file path=ppt/slides/slide7.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0F5711C-3DF5-40B7-97B2-271000008AA6}"/>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What you can explain now</a:t>
            </a:r>
          </a:p>
        </p:txBody>
      </p:sp>
      <p:sp>
        <p:nvSpPr>
          <p:cNvPr id="2" name="">
            <a:extLst xmlns:a="http://schemas.openxmlformats.org/drawingml/2006/main">
              <a:ext uri="{FF2B5EF4-FFF2-40B4-BE49-F238E27FC236}">
                <a16:creationId xmlns:a16="http://schemas.microsoft.com/office/drawing/2014/main" id="{152FB544-024D-4AA5-8119-3EBAEA00BF22}"/>
              </a:ext>
            </a:extLst>
          </p:cNvPr>
          <p:cNvSpPr>
            <a:spLocks xmlns:a="http://schemas.openxmlformats.org/drawingml/2006/main" noGrp="1"/>
          </p:cNvSpPr>
          <p:nvPr/>
        </p:nvSpPr>
        <p:spPr>
          <a:xfrm xmlns:a="http://schemas.openxmlformats.org/drawingml/2006/main">
            <a:off x="762000" y="1857375"/>
            <a:ext cx="10477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173044"/>
                </a:solidFill>
                <a:latin typeface="Arial"/>
                <a:ea typeface="Arial"/>
                <a:cs typeface="Arial"/>
              </a:defRPr>
            </a:pPr>
            <a:r>
              <a:rPr sz="2775" b="0">
                <a:solidFill>
                  <a:srgbClr val="173044"/>
                </a:solidFill>
                <a:latin typeface="Arial"/>
                <a:ea typeface="Arial"/>
                <a:cs typeface="Arial"/>
              </a:rPr>
              <a:t>What can you now explain or do that you could not do at the beginning? What would you like to try next?</a:t>
            </a:r>
          </a:p>
        </p:txBody>
      </p:sp>
      <p:sp>
        <p:nvSpPr>
          <p:cNvPr id="3" name="">
            <a:extLst xmlns:a="http://schemas.openxmlformats.org/drawingml/2006/main">
              <a:ext uri="{FF2B5EF4-FFF2-40B4-BE49-F238E27FC236}">
                <a16:creationId xmlns:a16="http://schemas.microsoft.com/office/drawing/2014/main" id="{1757C5D9-27DC-427D-ACB6-7C3B43EDE640}"/>
              </a:ext>
            </a:extLst>
          </p:cNvPr>
          <p:cNvSpPr>
            <a:spLocks xmlns:a="http://schemas.openxmlformats.org/drawingml/2006/main" noGrp="1"/>
          </p:cNvSpPr>
          <p:nvPr/>
        </p:nvSpPr>
        <p:spPr>
          <a:xfrm xmlns:a="http://schemas.openxmlformats.org/drawingml/2006/main">
            <a:off x="762000" y="46291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006E75"/>
                </a:solidFill>
                <a:latin typeface="Arial"/>
                <a:ea typeface="Arial"/>
                <a:cs typeface="Arial"/>
              </a:defRPr>
            </a:pPr>
            <a:r>
              <a:rPr sz="2175" b="0">
                <a:solidFill>
                  <a:srgbClr val="006E75"/>
                </a:solidFill>
                <a:latin typeface="Arial"/>
                <a:ea typeface="Arial"/>
                <a:cs typeface="Arial"/>
              </a:rPr>
              <a:t>Save your project. Reset the robot and parts for the next pair.</a:t>
            </a:r>
          </a:p>
        </p:txBody>
      </p:sp>
      <p:sp>
        <p:nvSpPr>
          <p:cNvPr id="4" name="">
            <a:extLst xmlns:a="http://schemas.openxmlformats.org/drawingml/2006/main">
              <a:ext uri="{FF2B5EF4-FFF2-40B4-BE49-F238E27FC236}">
                <a16:creationId xmlns:a16="http://schemas.microsoft.com/office/drawing/2014/main" id="{D7778779-C43F-4BFA-89FA-E97AA9FBF252}"/>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36A77"/>
                </a:solidFill>
                <a:latin typeface="Arial"/>
                <a:ea typeface="Arial"/>
                <a:cs typeface="Arial"/>
              </a:defRPr>
            </a:pPr>
            <a:r>
              <a:rPr sz="1425" b="0">
                <a:solidFill>
                  <a:srgbClr val="536A77"/>
                </a:solidFill>
                <a:latin typeface="Arial"/>
                <a:ea typeface="Arial"/>
                <a:cs typeface="Arial"/>
              </a:rPr>
              <a:t>FRC includes programming, design, fabrication, outreach, media, and team operations.</a:t>
            </a:r>
          </a:p>
        </p:txBody>
      </p:sp>
    </p:spTree>
    <p:extLst>
      <p:ext uri="{BB962C8B-B14F-4D97-AF65-F5344CB8AC3E}">
        <p14:creationId xmlns:p14="http://schemas.microsoft.com/office/powerpoint/2010/main" val="14046994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2026-10-02T02:44:10.0950000Z</dcterms:created>
  <dcterms:modified xsi:type="dcterms:W3CDTF">2026-10-02T02:44:10.0950000Z</dcterms:modified>
</coreProperties>
</file>