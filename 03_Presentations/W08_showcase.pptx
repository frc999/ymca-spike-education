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4363dceebd42b0" /><Relationship Type="http://schemas.openxmlformats.org/officeDocument/2006/relationships/extended-properties" Target="/docProps/app.xml" Id="Re4d9e5fbb23e4006" /><Relationship Type="http://schemas.openxmlformats.org/officeDocument/2006/relationships/officeDocument" Target="/ppt/presentation.xml" Id="R63c4e908bb1d4657" /></Relationships>
</file>

<file path=ppt/presentation.xml><?xml version="1.0" encoding="utf-8"?>
<p:presentation xmlns:p="http://schemas.openxmlformats.org/presentationml/2006/main">
  <p:sldMasterIdLst>
    <p:sldMasterId xmlns:r="http://schemas.openxmlformats.org/officeDocument/2006/relationships" id="2147483648" r:id="R5dafbd9accf94519"/>
  </p:sldMasterIdLst>
  <p:notesMasterIdLst>
    <p:notesMasterId xmlns:r="http://schemas.openxmlformats.org/officeDocument/2006/relationships" r:id="Ra2707a97b3fb49d3"/>
  </p:notesMasterIdLst>
  <p:sldIdLst>
    <p:sldId xmlns:r="http://schemas.openxmlformats.org/officeDocument/2006/relationships" id="256" r:id="R215b4720e2934151"/>
    <p:sldId xmlns:r="http://schemas.openxmlformats.org/officeDocument/2006/relationships" id="257" r:id="R9b3cbbbe47724124"/>
    <p:sldId xmlns:r="http://schemas.openxmlformats.org/officeDocument/2006/relationships" id="258" r:id="R17c8e5c7d3c2427d"/>
    <p:sldId xmlns:r="http://schemas.openxmlformats.org/officeDocument/2006/relationships" id="259" r:id="R81314fba527543fe"/>
    <p:sldId xmlns:r="http://schemas.openxmlformats.org/officeDocument/2006/relationships" id="260" r:id="R247bd9e38e4d4355"/>
    <p:sldId xmlns:r="http://schemas.openxmlformats.org/officeDocument/2006/relationships" id="261" r:id="R2dd9d8bba74a41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64628e3dc8414a" /><Relationship Type="http://schemas.openxmlformats.org/officeDocument/2006/relationships/slideMaster" Target="/ppt/slideMasters/slideMaster1.xml" Id="R5dafbd9accf94519" /><Relationship Type="http://schemas.openxmlformats.org/officeDocument/2006/relationships/notesMaster" Target="/ppt/notesMasters/notesMaster1.xml" Id="Ra2707a97b3fb49d3" /><Relationship Type="http://schemas.openxmlformats.org/officeDocument/2006/relationships/presProps" Target="/ppt/presProps.xml" Id="R66fd7513cb3246a1" /><Relationship Type="http://schemas.openxmlformats.org/officeDocument/2006/relationships/tableStyles" Target="/ppt/tableStyles.xml" Id="Rad7f6683c7b54ecc" /><Relationship Type="http://schemas.openxmlformats.org/officeDocument/2006/relationships/slide" Target="/ppt/slides/slide1.xml" Id="R215b4720e2934151" /><Relationship Type="http://schemas.openxmlformats.org/officeDocument/2006/relationships/slide" Target="/ppt/slides/slide2.xml" Id="R9b3cbbbe47724124" /><Relationship Type="http://schemas.openxmlformats.org/officeDocument/2006/relationships/slide" Target="/ppt/slides/slide3.xml" Id="R17c8e5c7d3c2427d" /><Relationship Type="http://schemas.openxmlformats.org/officeDocument/2006/relationships/slide" Target="/ppt/slides/slide4.xml" Id="R81314fba527543fe" /><Relationship Type="http://schemas.openxmlformats.org/officeDocument/2006/relationships/slide" Target="/ppt/slides/slide5.xml" Id="R247bd9e38e4d4355" /><Relationship Type="http://schemas.openxmlformats.org/officeDocument/2006/relationships/slide" Target="/ppt/slides/slide6.xml" Id="R2dd9d8bba74a41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09056c9bcb42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9abf1ed73b47c2" /><Relationship Type="http://schemas.openxmlformats.org/officeDocument/2006/relationships/notesMaster" Target="/ppt/notesMasters/notesMaster1.xml" Id="Rd3d08759ebc045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e42aa8f0c04078" /><Relationship Type="http://schemas.openxmlformats.org/officeDocument/2006/relationships/notesMaster" Target="/ppt/notesMasters/notesMaster1.xml" Id="R0ce3bf818db04f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14bce313724a5c" /><Relationship Type="http://schemas.openxmlformats.org/officeDocument/2006/relationships/notesMaster" Target="/ppt/notesMasters/notesMaster1.xml" Id="R48f50045e19544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b530c7dea04326" /><Relationship Type="http://schemas.openxmlformats.org/officeDocument/2006/relationships/notesMaster" Target="/ppt/notesMasters/notesMaster1.xml" Id="Ree4dc66270b14f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0ccbcc9cf34168" /><Relationship Type="http://schemas.openxmlformats.org/officeDocument/2006/relationships/notesMaster" Target="/ppt/notesMasters/notesMaster1.xml" Id="Rbd7921535b7a44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fc646a32064446" /><Relationship Type="http://schemas.openxmlformats.org/officeDocument/2006/relationships/notesMaster" Target="/ppt/notesMasters/notesMaster1.xml" Id="R673e6f6e51524f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Robot showcase</a:t>
            </a:r>
          </a:p>
          <a:p xmlns:a="http://schemas.openxmlformats.org/drawingml/2006/main">
            <a:r>
              <a:t/>
            </a:r>
          </a:p>
          <a:p xmlns:a="http://schemas.openxmlformats.org/drawingml/2006/main">
            <a:r>
              <a:t>Timing 0–7 minutes</a:t>
            </a:r>
          </a:p>
          <a:p xmlns:a="http://schemas.openxmlformats.org/drawingml/2006/main">
            <a:r>
              <a:t/>
            </a:r>
          </a:p>
          <a:p xmlns:a="http://schemas.openxmlformats.org/drawingml/2006/main">
            <a:r>
              <a:t>Say “First, show what you can explain on your own. This is the same set of ideas we asked about at the beginning. Use your own thinking; ‘not sure’ is still an honest answer.”</a:t>
            </a:r>
          </a:p>
          <a:p xmlns:a="http://schemas.openxmlformats.org/drawingml/2006/main">
            <a:r>
              <a:t/>
            </a:r>
          </a:p>
          <a:p xmlns:a="http://schemas.openxmlformats.org/drawingml/2006/main">
            <a:r>
              <a:t>Do  Give each child the individual final check and keep the code slide hidden. Read questions aloud if needed without hints. Allow “not sure,” collect by student ID, and record any support. Do not compare answers until the check ends.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Todays robot challenge</a:t>
            </a:r>
          </a:p>
          <a:p xmlns:a="http://schemas.openxmlformats.org/drawingml/2006/main">
            <a:r>
              <a:t/>
            </a:r>
          </a:p>
          <a:p xmlns:a="http://schemas.openxmlformats.org/drawingml/2006/main">
            <a:r>
              <a:t>Timing 7–12 minutes</a:t>
            </a:r>
          </a:p>
          <a:p xmlns:a="http://schemas.openxmlformats.org/drawingml/2006/main">
            <a:r>
              <a:t/>
            </a:r>
          </a:p>
          <a:p xmlns:a="http://schemas.openxmlformats.org/drawingml/2006/main">
            <a:r>
              <a:t>Say “Your audience needs to understand the useful job, one program decision, and the evidence. A successful presentation tells the truth about the run.”</a:t>
            </a:r>
          </a:p>
          <a:p xmlns:a="http://schemas.openxmlformats.org/drawingml/2006/main">
            <a:r>
              <a:t/>
            </a:r>
          </a:p>
          <a:p xmlns:a="http://schemas.openxmlformats.org/drawingml/2006/main">
            <a:r>
              <a:t>Hub check Read the light on the correct button: steady green center means powered on with a compatible OS and at least 20% battery; flashing orange center means charge; flashing red center means stop, power off and cool for 15 minutes. White center needs a compatible OS; flashing purple center means updating. Blue is the connection button: flashing means waiting for Bluetooth, steady means connected. A display letter is a program output, not a battery or connection status. See the full SPIKE Hub Color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Code and prediction for the showcase</a:t>
            </a:r>
          </a:p>
          <a:p xmlns:a="http://schemas.openxmlformats.org/drawingml/2006/main">
            <a:r>
              <a:t/>
            </a:r>
          </a:p>
          <a:p xmlns:a="http://schemas.openxmlformats.org/drawingml/2006/main">
            <a:r>
              <a:t>Timing 7–12 minutes within the same briefing</a:t>
            </a:r>
          </a:p>
          <a:p xmlns:a="http://schemas.openxmlformats.org/drawingml/2006/main">
            <a:r>
              <a:t/>
            </a:r>
          </a:p>
          <a:p xmlns:a="http://schemas.openxmlformats.org/drawingml/2006/main">
            <a:r>
              <a:t>await signal("Y")</a:t>
            </a:r>
          </a:p>
          <a:p xmlns:a="http://schemas.openxmlformats.org/drawingml/2006/main">
            <a:r>
              <a:t>result = await seek_marker(threshold)</a:t>
            </a:r>
          </a:p>
          <a:p xmlns:a="http://schemas.openxmlformats.org/drawingml/2006/main">
            <a:r>
              <a:t>print("Our result:", result)</a:t>
            </a:r>
          </a:p>
          <a:p xmlns:a="http://schemas.openxmlformats.org/drawingml/2006/main">
            <a:r>
              <a:t/>
            </a:r>
          </a:p>
          <a:p xmlns:a="http://schemas.openxmlformats.org/drawingml/2006/main">
            <a:r>
              <a:t>Say “This slide is one marker example. Your saved mission may use parking or a different signal. Explain your own program and its real result.”</a:t>
            </a:r>
          </a:p>
          <a:p xmlns:a="http://schemas.openxmlformats.org/drawingml/2006/main">
            <a:r>
              <a:t/>
            </a:r>
          </a:p>
          <a:p xmlns:a="http://schemas.openxmlformats.org/drawingml/2006/main">
            <a:r>
              <a:t>Point signal shows Y, seek_marker uses the calibrated threshold and returns a reason, and print reports that reason. A returned limit means the bounded search ended without detecting the marker. The display and printed result do not establish whether a cube arrived.</a:t>
            </a:r>
          </a:p>
          <a:p xmlns:a="http://schemas.openxmlformats.org/drawingml/2006/main">
            <a:r>
              <a:t/>
            </a:r>
          </a:p>
          <a:p xmlns:a="http://schemas.openxmlformats.org/drawingml/2006/main">
            <a:r>
              <a:t>Ask “Which line or function makes your key decision? What observation will show whether the useful job worked?” Take one quick answer; teams practice their own explanations next.</a:t>
            </a:r>
          </a:p>
          <a:p xmlns:a="http://schemas.openxmlformats.org/drawingml/2006/main">
            <a:r>
              <a:t/>
            </a:r>
          </a:p>
          <a:p xmlns:a="http://schemas.openxmlformats.org/drawingml/2006/main">
            <a:r>
              <a:t>Ask Before the demo, predict the stop reason. What will you explain if the robot stops for a limit instead of detecting its target?</a:t>
            </a:r>
          </a:p>
          <a:p xmlns:a="http://schemas.openxmlformats.org/drawingml/2006/main">
            <a:r>
              <a:t/>
            </a:r>
          </a:p>
          <a:p xmlns:a="http://schemas.openxmlformats.org/drawingml/2006/main">
            <a:r>
              <a:t>Expected response “If the result is limit, the program reached its movement allowance without recognizing the target. We would check the reading, starting distance and setup next.” Parking can also report invalid, which calls for a sensor check. Neither is a successful target 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Our demonstration order</a:t>
            </a:r>
          </a:p>
          <a:p xmlns:a="http://schemas.openxmlformats.org/drawingml/2006/main">
            <a:r>
              <a:t/>
            </a:r>
          </a:p>
          <a:p xmlns:a="http://schemas.openxmlformats.org/drawingml/2006/main">
            <a:r>
              <a:t>Timing 12–44 minutes</a:t>
            </a:r>
          </a:p>
          <a:p xmlns:a="http://schemas.openxmlformats.org/drawingml/2006/main">
            <a:r>
              <a:t/>
            </a:r>
          </a:p>
          <a:p xmlns:a="http://schemas.openxmlformats.org/drawingml/2006/main">
            <a:r>
              <a:t>Station map 12–18: T1/T3 rehearse; T2/T4 finish exhibits. 18–24: switch. Rotate robot jobs every two minutes. 24–28: set up. 28–44: T1, T2, T3 and T4 each have four minutes including reset. Each child explains one part.</a:t>
            </a:r>
          </a:p>
          <a:p xmlns:a="http://schemas.openxmlformats.org/drawingml/2006/main">
            <a:r>
              <a:t/>
            </a:r>
          </a:p>
          <a:p xmlns:a="http://schemas.openxmlformats.org/drawingml/2006/main">
            <a:r>
              <a:t>Jobs At the robot, the driver edits and starts after “clear.” The navigator reads the step, predicts, positions the stopped robot and payload, fits an approved attachment and checks the lane. The observer watches, measures and records one number, tick or phrase. Rotate all three jobs every two minutes during the six-minute rehearsal. Assign each child one short speaking part for the demonstration. At the build table, rotate builder, designer/parts manager and tester/reporter on the same timer. Everyone contributes hands-on work.</a:t>
            </a:r>
          </a:p>
          <a:p xmlns:a="http://schemas.openxmlformats.org/drawingml/2006/main">
            <a:r>
              <a:t/>
            </a:r>
          </a:p>
          <a:p xmlns:a="http://schemas.openxmlformats.org/drawingml/2006/main">
            <a:r>
              <a:t>Robot steps 1. Complete the four concept questions independently at 0–7, before the briefing. 2. Brief and predict at 7–12. T1/T3 rehearse at 12–18 and T2/T4 at 18–24, rotating jobs every two minutes. The other team finishes its exhibit. 3. Save and set up at 24–28. Each child rehearses one speaking part. 4. T1, T2, T3 and T4 each have four minutes at 28–44 for an explanation, run, question and reset. If a run fails, explain the actual stop reason and next test. 5. Celebrate specific evidence at 44–50. Reflect and offer optional next steps at 50–54. Save, pack and dismiss at 54–60.</a:t>
            </a:r>
          </a:p>
          <a:p xmlns:a="http://schemas.openxmlformats.org/drawingml/2006/main">
            <a:r>
              <a:t/>
            </a:r>
          </a:p>
          <a:p xmlns:a="http://schemas.openxmlformats.org/drawingml/2006/main">
            <a:r>
              <a:t>Build A working exhibit for the showcase. Finish a stable exhibit that helps visitors understand the team’s robot job. Repair or strengthen one loose part of the saved build. Add a small sign or model showing the user and useful job. Rehearse three short speaking parts while the robot is with the other team. Test: Exhibit stands, robot lane stays clear, and each child can explain one part.</a:t>
            </a:r>
          </a:p>
          <a:p xmlns:a="http://schemas.openxmlformats.org/drawingml/2006/main">
            <a:r>
              <a:t/>
            </a:r>
          </a:p>
          <a:p xmlns:a="http://schemas.openxmlformats.org/drawingml/2006/main">
            <a:r>
              <a:t>Connection to robot This is finishing and presentation time, not a new complex mechanism. Each team gets a six-minute robot rehearsal and a four-minute demonstration.</a:t>
            </a:r>
          </a:p>
          <a:p xmlns:a="http://schemas.openxmlformats.org/drawingml/2006/main">
            <a:r>
              <a:t/>
            </a:r>
          </a:p>
          <a:p xmlns:a="http://schemas.openxmlformats.org/drawingml/2006/main">
            <a:r>
              <a:t>Coaching Ask for an observation before suggesting a change. Help with one connection or edit, then return control. Typing can be assisted; the child still chooses, predicts and starts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Evidence from our test</a:t>
            </a:r>
          </a:p>
          <a:p xmlns:a="http://schemas.openxmlformats.org/drawingml/2006/main">
            <a:r>
              <a:t/>
            </a:r>
          </a:p>
          <a:p xmlns:a="http://schemas.openxmlformats.org/drawingml/2006/main">
            <a:r>
              <a:t>Timing 28–44 demonstrations, then 44–50 specific celebrations.</a:t>
            </a:r>
          </a:p>
          <a:p xmlns:a="http://schemas.openxmlformats.org/drawingml/2006/main">
            <a:r>
              <a:t/>
            </a:r>
          </a:p>
          <a:p xmlns:a="http://schemas.openxmlformats.org/drawingml/2006/main">
            <a:r>
              <a:t>Evidence At the robot: each child makes a prediction and takes a driver turn. Keep one number, tick or short phrase per trial. At the build table: show the model and its hand-test result. Final concept responses, confidence rating, a brief mentor rubric, final recipe, and measured demo outcome. Photos or quotes require the program’s agreed permission process.</a:t>
            </a:r>
          </a:p>
          <a:p xmlns:a="http://schemas.openxmlformats.org/drawingml/2006/main">
            <a:r>
              <a:t/>
            </a:r>
          </a:p>
          <a:p xmlns:a="http://schemas.openxmlformats.org/drawingml/2006/main">
            <a:r>
              <a:t>Ask What changed? What stayed the same? What did the real run show? Record a tick, short phrase or number at the robot. The build table tests the model by hand rather than repeating a worksheet.</a:t>
            </a:r>
          </a:p>
          <a:p xmlns:a="http://schemas.openxmlformats.org/drawingml/2006/main">
            <a:r>
              <a:t/>
            </a:r>
          </a:p>
          <a:p xmlns:a="http://schemas.openxmlformats.org/drawingml/2006/main">
            <a:r>
              <a:t>Troubleshooting Connection failure: use the saved recipe and act out the sequence. Sensor failure: show the recorded test log. Keep each team’s four-minute slot and do not replace students’ explanations with a mentor repair session.</a:t>
            </a:r>
          </a:p>
          <a:p xmlns:a="http://schemas.openxmlformats.org/drawingml/2006/main">
            <a:r>
              <a:t/>
            </a:r>
          </a:p>
          <a:p xmlns:a="http://schemas.openxmlformats.org/drawingml/2006/main">
            <a:r>
              <a:t>Support Allow a partner interview, pointing to code, or a recorded explanation prepared with staff. Participation and honest reasoning count even if the robot does not complete its route.</a:t>
            </a:r>
          </a:p>
          <a:p xmlns:a="http://schemas.openxmlformats.org/drawingml/2006/main">
            <a:r>
              <a:t/>
            </a:r>
          </a:p>
          <a:p xmlns:a="http://schemas.openxmlformats.org/drawingml/2006/main">
            <a:r>
              <a:t>Extension Explain a limitation and propose a specific next experiment. Invite questions about how the result might change on a different surface.</a:t>
            </a:r>
          </a:p>
          <a:p xmlns:a="http://schemas.openxmlformats.org/drawingml/2006/main">
            <a:r>
              <a:t/>
            </a:r>
          </a:p>
          <a:p xmlns:a="http://schemas.openxmlformats.org/drawingml/2006/main">
            <a:r>
              <a:t>If needed Reopen the team’s saved Word Blocks mission. Students point out a variable, a repeat, or a decision and connect it to observed robot behavior. No language switch is needed on showcase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What we learned and noticed</a:t>
            </a:r>
          </a:p>
          <a:p xmlns:a="http://schemas.openxmlformats.org/drawingml/2006/main">
            <a:r>
              <a:t/>
            </a:r>
          </a:p>
          <a:p xmlns:a="http://schemas.openxmlformats.org/drawingml/2006/main">
            <a:r>
              <a:t>Timing 50–54 minutes for reflection; 54–60 for saving, packing and pickup.</a:t>
            </a:r>
          </a:p>
          <a:p xmlns:a="http://schemas.openxmlformats.org/drawingml/2006/main">
            <a:r>
              <a:t/>
            </a:r>
          </a:p>
          <a:p xmlns:a="http://schemas.openxmlformats.org/drawingml/2006/main">
            <a:r>
              <a:t>Ask each child What can you explain or do now? What did you notice in today’s demonstrations? What would you like to build or explore next?</a:t>
            </a:r>
          </a:p>
          <a:p xmlns:a="http://schemas.openxmlformats.org/drawingml/2006/main">
            <a:r>
              <a:t/>
            </a:r>
          </a:p>
          <a:p xmlns:a="http://schemas.openxmlformats.org/drawingml/2006/main">
            <a:r>
              <a:t>Facilitate Run two pod conversations in parallel. Give each of the six children about 20–30 seconds for one chosen prompt. Invite a concrete observation from the robot or build. Accept pointing, a demonstration or a short sentence.</a:t>
            </a:r>
          </a:p>
          <a:p xmlns:a="http://schemas.openxmlformats.org/drawingml/2006/main">
            <a:r>
              <a:t/>
            </a:r>
          </a:p>
          <a:p xmlns:a="http://schemas.openxmlformats.org/drawingml/2006/main">
            <a:r>
              <a:t>Listen for Use the concept-question key in the instructor guide. Report what actually happened during the demo, not the intended outcome. Future FRC interest is optional and separate from demonstrated learning.</a:t>
            </a:r>
          </a:p>
          <a:p xmlns:a="http://schemas.openxmlformats.org/drawingml/2006/main">
            <a:r>
              <a:t/>
            </a:r>
          </a:p>
          <a:p xmlns:a="http://schemas.openxmlformats.org/drawingml/2006/main">
            <a:r>
              <a:t>Close Save T1–T4 projects, stop and park both robots, remove only approved temporary attachments, store four labeled builds and count parts. Follow YMCA pickup procedures.</a:t>
            </a:r>
          </a:p>
          <a:p xmlns:a="http://schemas.openxmlformats.org/drawingml/2006/main">
            <a:r>
              <a:t/>
            </a:r>
          </a:p>
          <a:p xmlns:a="http://schemas.openxmlformats.org/drawingml/2006/main">
            <a:r>
              <a:t>Optional connection FRC includes programming, design, fabrication, outreach, media, and team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0af596a96d48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2672c671f54b0e" /><Relationship Type="http://schemas.openxmlformats.org/officeDocument/2006/relationships/slideLayout" Target="/ppt/slideLayouts/slideLayout1.xml" Id="R121dcbf467cf47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1dcbf467cf47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3c8dcc5573d4842" /><Relationship Type="http://schemas.openxmlformats.org/officeDocument/2006/relationships/notesSlide" Target="/ppt/notesSlides/notesSlide1.xml" Id="Rad350fc274c94b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d4f169b05f445f" /><Relationship Type="http://schemas.openxmlformats.org/officeDocument/2006/relationships/notesSlide" Target="/ppt/notesSlides/notesSlide2.xml" Id="R9d0bec4fd26e46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1625895b624571" /><Relationship Type="http://schemas.openxmlformats.org/officeDocument/2006/relationships/notesSlide" Target="/ppt/notesSlides/notesSlide3.xml" Id="Ra0c008c304cc4d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656ff1daa4482a" /><Relationship Type="http://schemas.openxmlformats.org/officeDocument/2006/relationships/notesSlide" Target="/ppt/notesSlides/notesSlide4.xml" Id="Rf055638efcf045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b3497d38264ce0" /><Relationship Type="http://schemas.openxmlformats.org/officeDocument/2006/relationships/notesSlide" Target="/ppt/notesSlides/notesSlide5.xml" Id="Rd7615da48dbb4e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7d0ff180e0473b" /><Relationship Type="http://schemas.openxmlformats.org/officeDocument/2006/relationships/notesSlide" Target="/ppt/notesSlides/notesSlide6.xml" Id="Re20c233bb2f34c44"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CBB2561-4139-4583-80E9-90CB05AC36A9}"/>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FFFFFF"/>
                </a:solidFill>
                <a:latin typeface="Arial"/>
                <a:ea typeface="Arial"/>
                <a:cs typeface="Arial"/>
              </a:defRPr>
            </a:pPr>
            <a:r>
              <a:rPr sz="5100" b="1">
                <a:solidFill>
                  <a:srgbClr val="FFFFFF"/>
                </a:solidFill>
                <a:latin typeface="Arial"/>
                <a:ea typeface="Arial"/>
                <a:cs typeface="Arial"/>
              </a:rPr>
              <a:t>Robot showcase</a:t>
            </a:r>
          </a:p>
        </p:txBody>
      </p:sp>
      <p:sp>
        <p:nvSpPr>
          <p:cNvPr id="2" name="">
            <a:extLst xmlns:a="http://schemas.openxmlformats.org/drawingml/2006/main">
              <a:ext uri="{FF2B5EF4-FFF2-40B4-BE49-F238E27FC236}">
                <a16:creationId xmlns:a16="http://schemas.microsoft.com/office/drawing/2014/main" id="{7C117948-F4A8-4848-961C-A32D72B24FC9}"/>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9DDADD"/>
                </a:solidFill>
                <a:latin typeface="Arial"/>
                <a:ea typeface="Arial"/>
                <a:cs typeface="Arial"/>
              </a:defRPr>
            </a:pPr>
            <a:r>
              <a:rPr sz="2475" b="0">
                <a:solidFill>
                  <a:srgbClr val="9DDADD"/>
                </a:solidFill>
                <a:latin typeface="Arial"/>
                <a:ea typeface="Arial"/>
                <a:cs typeface="Arial"/>
              </a:rPr>
              <a:t>Demonstration and next steps</a:t>
            </a:r>
          </a:p>
        </p:txBody>
      </p:sp>
      <p:sp>
        <p:nvSpPr>
          <p:cNvPr id="3" name="">
            <a:extLst xmlns:a="http://schemas.openxmlformats.org/drawingml/2006/main">
              <a:ext uri="{FF2B5EF4-FFF2-40B4-BE49-F238E27FC236}">
                <a16:creationId xmlns:a16="http://schemas.microsoft.com/office/drawing/2014/main" id="{EB0C9601-6AAD-49F8-A958-32A68F780448}"/>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Week 8 · MechaRAMS at the YMCA</a:t>
            </a:r>
          </a:p>
        </p:txBody>
      </p:sp>
    </p:spTree>
    <p:extLst>
      <p:ext uri="{BB962C8B-B14F-4D97-AF65-F5344CB8AC3E}">
        <p14:creationId xmlns:p14="http://schemas.microsoft.com/office/powerpoint/2010/main" val="840264126"/>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077C8CC-C65B-4ECA-B41D-7013E2727A97}"/>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Today’s robot challenge</a:t>
            </a:r>
          </a:p>
        </p:txBody>
      </p:sp>
      <p:sp>
        <p:nvSpPr>
          <p:cNvPr id="2" name="">
            <a:extLst xmlns:a="http://schemas.openxmlformats.org/drawingml/2006/main">
              <a:ext uri="{FF2B5EF4-FFF2-40B4-BE49-F238E27FC236}">
                <a16:creationId xmlns:a16="http://schemas.microsoft.com/office/drawing/2014/main" id="{2D01A00F-D014-446B-9C41-695D16932A83}"/>
              </a:ext>
            </a:extLst>
          </p:cNvPr>
          <p:cNvSpPr>
            <a:spLocks xmlns:a="http://schemas.openxmlformats.org/drawingml/2006/main" noGrp="1"/>
          </p:cNvSpPr>
          <p:nvPr/>
        </p:nvSpPr>
        <p:spPr>
          <a:xfrm xmlns:a="http://schemas.openxmlformats.org/drawingml/2006/main">
            <a:off x="762000" y="19526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A 45-second explanation</a:t>
            </a:r>
          </a:p>
        </p:txBody>
      </p:sp>
      <p:sp>
        <p:nvSpPr>
          <p:cNvPr id="3" name="">
            <a:extLst xmlns:a="http://schemas.openxmlformats.org/drawingml/2006/main">
              <a:ext uri="{FF2B5EF4-FFF2-40B4-BE49-F238E27FC236}">
                <a16:creationId xmlns:a16="http://schemas.microsoft.com/office/drawing/2014/main" id="{0A1529EA-4460-4434-B1B5-F0CD1D7E145E}"/>
              </a:ext>
            </a:extLst>
          </p:cNvPr>
          <p:cNvSpPr>
            <a:spLocks xmlns:a="http://schemas.openxmlformats.org/drawingml/2006/main" noGrp="1"/>
          </p:cNvSpPr>
          <p:nvPr/>
        </p:nvSpPr>
        <p:spPr>
          <a:xfrm xmlns:a="http://schemas.openxmlformats.org/drawingml/2006/main">
            <a:off x="762000" y="30575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A short robot demonstration</a:t>
            </a:r>
          </a:p>
        </p:txBody>
      </p:sp>
      <p:sp>
        <p:nvSpPr>
          <p:cNvPr id="4" name="">
            <a:extLst xmlns:a="http://schemas.openxmlformats.org/drawingml/2006/main">
              <a:ext uri="{FF2B5EF4-FFF2-40B4-BE49-F238E27FC236}">
                <a16:creationId xmlns:a16="http://schemas.microsoft.com/office/drawing/2014/main" id="{5A1B2295-9F0E-4653-AE29-30B4CC195C50}"/>
              </a:ext>
            </a:extLst>
          </p:cNvPr>
          <p:cNvSpPr>
            <a:spLocks xmlns:a="http://schemas.openxmlformats.org/drawingml/2006/main" noGrp="1"/>
          </p:cNvSpPr>
          <p:nvPr/>
        </p:nvSpPr>
        <p:spPr>
          <a:xfrm xmlns:a="http://schemas.openxmlformats.org/drawingml/2006/main">
            <a:off x="762000" y="41624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An honest account of the result</a:t>
            </a:r>
          </a:p>
        </p:txBody>
      </p:sp>
      <p:sp>
        <p:nvSpPr>
          <p:cNvPr id="6" name="">
            <a:extLst xmlns:a="http://schemas.openxmlformats.org/drawingml/2006/main">
              <a:ext uri="{FF2B5EF4-FFF2-40B4-BE49-F238E27FC236}">
                <a16:creationId xmlns:a16="http://schemas.microsoft.com/office/drawing/2014/main" id="{CFC6D797-9D1A-4D42-AD80-4464B3538455}"/>
              </a:ext>
            </a:extLst>
          </p:cNvPr>
          <p:cNvSpPr>
            <a:spLocks xmlns:a="http://schemas.openxmlformats.org/drawingml/2006/main" noGrp="1"/>
          </p:cNvSpPr>
          <p:nvPr/>
        </p:nvSpPr>
        <p:spPr>
          <a:xfrm xmlns:a="http://schemas.openxmlformats.org/drawingml/2006/main">
            <a:off x="762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713A"/>
                </a:solidFill>
                <a:latin typeface="Arial"/>
                <a:ea typeface="Arial"/>
                <a:cs typeface="Arial"/>
              </a:defRPr>
            </a:defPPr>
          </a:lstStyle>
          <a:p xmlns:a="http://schemas.openxmlformats.org/drawingml/2006/main">
            <a:pPr>
              <a:buNone/>
              <a:defRPr sz="1575" b="1">
                <a:solidFill>
                  <a:srgbClr val="17713A"/>
                </a:solidFill>
                <a:latin typeface="Arial"/>
                <a:ea typeface="Arial"/>
                <a:cs typeface="Arial"/>
              </a:defRPr>
            </a:pPr>
            <a:r>
              <a:rPr sz="1575" b="1">
                <a:solidFill>
                  <a:srgbClr val="17713A"/>
                </a:solidFill>
                <a:latin typeface="Arial"/>
                <a:ea typeface="Arial"/>
                <a:cs typeface="Arial"/>
              </a:rPr>
              <a:t>GREEN steady: on</a:t>
            </a:r>
          </a:p>
        </p:txBody>
      </p:sp>
      <p:sp>
        <p:nvSpPr>
          <p:cNvPr id="7" name="">
            <a:extLst xmlns:a="http://schemas.openxmlformats.org/drawingml/2006/main">
              <a:ext uri="{FF2B5EF4-FFF2-40B4-BE49-F238E27FC236}">
                <a16:creationId xmlns:a16="http://schemas.microsoft.com/office/drawing/2014/main" id="{694F4677-CFAA-405B-8380-2877DF75FE8D}"/>
              </a:ext>
            </a:extLst>
          </p:cNvPr>
          <p:cNvSpPr>
            <a:spLocks xmlns:a="http://schemas.openxmlformats.org/drawingml/2006/main" noGrp="1"/>
          </p:cNvSpPr>
          <p:nvPr/>
        </p:nvSpPr>
        <p:spPr>
          <a:xfrm xmlns:a="http://schemas.openxmlformats.org/drawingml/2006/main">
            <a:off x="43815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915500"/>
                </a:solidFill>
                <a:latin typeface="Arial"/>
                <a:ea typeface="Arial"/>
                <a:cs typeface="Arial"/>
              </a:defRPr>
            </a:defPPr>
          </a:lstStyle>
          <a:p xmlns:a="http://schemas.openxmlformats.org/drawingml/2006/main">
            <a:pPr>
              <a:buNone/>
              <a:defRPr sz="1575" b="1">
                <a:solidFill>
                  <a:srgbClr val="915500"/>
                </a:solidFill>
                <a:latin typeface="Arial"/>
                <a:ea typeface="Arial"/>
                <a:cs typeface="Arial"/>
              </a:defRPr>
            </a:pPr>
            <a:r>
              <a:rPr sz="1575" b="1">
                <a:solidFill>
                  <a:srgbClr val="915500"/>
                </a:solidFill>
                <a:latin typeface="Arial"/>
                <a:ea typeface="Arial"/>
                <a:cs typeface="Arial"/>
              </a:rPr>
              <a:t>ORANGE flashing: charge</a:t>
            </a:r>
          </a:p>
        </p:txBody>
      </p:sp>
      <p:sp>
        <p:nvSpPr>
          <p:cNvPr id="8" name="">
            <a:extLst xmlns:a="http://schemas.openxmlformats.org/drawingml/2006/main">
              <a:ext uri="{FF2B5EF4-FFF2-40B4-BE49-F238E27FC236}">
                <a16:creationId xmlns:a16="http://schemas.microsoft.com/office/drawing/2014/main" id="{02BBB641-335A-4425-980F-F3B24BF985D0}"/>
              </a:ext>
            </a:extLst>
          </p:cNvPr>
          <p:cNvSpPr>
            <a:spLocks xmlns:a="http://schemas.openxmlformats.org/drawingml/2006/main" noGrp="1"/>
          </p:cNvSpPr>
          <p:nvPr/>
        </p:nvSpPr>
        <p:spPr>
          <a:xfrm xmlns:a="http://schemas.openxmlformats.org/drawingml/2006/main">
            <a:off x="8001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1292D"/>
                </a:solidFill>
                <a:latin typeface="Arial"/>
                <a:ea typeface="Arial"/>
                <a:cs typeface="Arial"/>
              </a:defRPr>
            </a:defPPr>
          </a:lstStyle>
          <a:p xmlns:a="http://schemas.openxmlformats.org/drawingml/2006/main">
            <a:pPr>
              <a:buNone/>
              <a:defRPr sz="1575" b="1">
                <a:solidFill>
                  <a:srgbClr val="B1292D"/>
                </a:solidFill>
                <a:latin typeface="Arial"/>
                <a:ea typeface="Arial"/>
                <a:cs typeface="Arial"/>
              </a:defRPr>
            </a:pPr>
            <a:r>
              <a:rPr sz="1575" b="1">
                <a:solidFill>
                  <a:srgbClr val="B1292D"/>
                </a:solidFill>
                <a:latin typeface="Arial"/>
                <a:ea typeface="Arial"/>
                <a:cs typeface="Arial"/>
              </a:rPr>
              <a:t>RED flashing: stop + mentor</a:t>
            </a:r>
          </a:p>
        </p:txBody>
      </p:sp>
      <p:sp>
        <p:nvSpPr>
          <p:cNvPr id="9" name="">
            <a:extLst xmlns:a="http://schemas.openxmlformats.org/drawingml/2006/main">
              <a:ext uri="{FF2B5EF4-FFF2-40B4-BE49-F238E27FC236}">
                <a16:creationId xmlns:a16="http://schemas.microsoft.com/office/drawing/2014/main" id="{EFF5FC8E-BBA5-4BA2-A9B8-B8A051F7252B}"/>
              </a:ext>
            </a:extLst>
          </p:cNvPr>
          <p:cNvSpPr>
            <a:spLocks xmlns:a="http://schemas.openxmlformats.org/drawingml/2006/main" noGrp="1"/>
          </p:cNvSpPr>
          <p:nvPr/>
        </p:nvSpPr>
        <p:spPr>
          <a:xfrm xmlns:a="http://schemas.openxmlformats.org/drawingml/2006/main">
            <a:off x="762000" y="62007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Center button lights. A letter on the display is your program’s output.</a:t>
            </a:r>
          </a:p>
        </p:txBody>
      </p:sp>
    </p:spTree>
    <p:extLst>
      <p:ext uri="{BB962C8B-B14F-4D97-AF65-F5344CB8AC3E}">
        <p14:creationId xmlns:p14="http://schemas.microsoft.com/office/powerpoint/2010/main" val="854629752"/>
      </p:ext>
    </p:extLst>
  </p:cSld>
</p:sld>
</file>

<file path=ppt/slides/slide3.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8815B6A-DE31-404D-88B5-75F784E9B72E}"/>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FFFFFF"/>
                </a:solidFill>
                <a:latin typeface="Arial"/>
                <a:ea typeface="Arial"/>
                <a:cs typeface="Arial"/>
              </a:defRPr>
            </a:defPPr>
          </a:lstStyle>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Explanation, evidence, and reflection</a:t>
            </a:r>
          </a:p>
        </p:txBody>
      </p:sp>
      <p:sp>
        <p:nvSpPr>
          <p:cNvPr id="2" name="">
            <a:extLst xmlns:a="http://schemas.openxmlformats.org/drawingml/2006/main">
              <a:ext uri="{FF2B5EF4-FFF2-40B4-BE49-F238E27FC236}">
                <a16:creationId xmlns:a16="http://schemas.microsoft.com/office/drawing/2014/main" id="{C1DFDF4F-E55B-489D-9687-70C8960CB78F}"/>
              </a:ext>
            </a:extLst>
          </p:cNvPr>
          <p:cNvSpPr>
            <a:spLocks xmlns:a="http://schemas.openxmlformats.org/drawingml/2006/main" noGrp="1"/>
          </p:cNvSpPr>
          <p:nvPr/>
        </p:nvSpPr>
        <p:spPr>
          <a:xfrm xmlns:a="http://schemas.openxmlformats.org/drawingml/2006/main">
            <a:off x="781050" y="1666875"/>
            <a:ext cx="1057275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Consolas"/>
                <a:ea typeface="Consolas"/>
                <a:cs typeface="Consolas"/>
              </a:defRPr>
            </a:defPPr>
          </a:lstStyle>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await signal("Y")</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result = await seek_marker(threshold)</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print("Our result:", result)</a:t>
            </a:r>
          </a:p>
        </p:txBody>
      </p:sp>
      <p:sp>
        <p:nvSpPr>
          <p:cNvPr id="3" name="">
            <a:extLst xmlns:a="http://schemas.openxmlformats.org/drawingml/2006/main">
              <a:ext uri="{FF2B5EF4-FFF2-40B4-BE49-F238E27FC236}">
                <a16:creationId xmlns:a16="http://schemas.microsoft.com/office/drawing/2014/main" id="{67D599A7-43FA-4272-A6C7-0BA6CFFD7B31}"/>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B9D4DC"/>
                </a:solidFill>
                <a:latin typeface="Arial"/>
                <a:ea typeface="Arial"/>
                <a:cs typeface="Arial"/>
              </a:defRPr>
            </a:defPPr>
          </a:lstStyle>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Reading fragment from the complete supplied project</a:t>
            </a:r>
          </a:p>
        </p:txBody>
      </p:sp>
      <p:sp>
        <p:nvSpPr>
          <p:cNvPr id="5" name="">
            <a:extLst xmlns:a="http://schemas.openxmlformats.org/drawingml/2006/main">
              <a:ext uri="{FF2B5EF4-FFF2-40B4-BE49-F238E27FC236}">
                <a16:creationId xmlns:a16="http://schemas.microsoft.com/office/drawing/2014/main" id="{63244B68-0CF7-4DD3-8743-702A9421DE18}"/>
              </a:ext>
            </a:extLst>
          </p:cNvPr>
          <p:cNvSpPr>
            <a:spLocks xmlns:a="http://schemas.openxmlformats.org/drawingml/2006/main" noGrp="1"/>
          </p:cNvSpPr>
          <p:nvPr/>
        </p:nvSpPr>
        <p:spPr>
          <a:xfrm xmlns:a="http://schemas.openxmlformats.org/drawingml/2006/main">
            <a:off x="781050" y="43148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9DDADD"/>
                </a:solidFill>
                <a:latin typeface="Arial"/>
                <a:ea typeface="Arial"/>
                <a:cs typeface="Arial"/>
              </a:defRPr>
            </a:defPPr>
          </a:lstStyle>
          <a:p xmlns:a="http://schemas.openxmlformats.org/drawingml/2006/main">
            <a:pPr>
              <a:buNone/>
              <a:defRPr sz="2100" b="1">
                <a:solidFill>
                  <a:srgbClr val="9DDADD"/>
                </a:solidFill>
                <a:latin typeface="Arial"/>
                <a:ea typeface="Arial"/>
                <a:cs typeface="Arial"/>
              </a:defRPr>
            </a:pPr>
            <a:r>
              <a:rPr sz="2100" b="1">
                <a:solidFill>
                  <a:srgbClr val="9DDADD"/>
                </a:solidFill>
                <a:latin typeface="Arial"/>
                <a:ea typeface="Arial"/>
                <a:cs typeface="Arial"/>
              </a:rPr>
              <a:t>Our prediction</a:t>
            </a:r>
          </a:p>
        </p:txBody>
      </p:sp>
      <p:sp>
        <p:nvSpPr>
          <p:cNvPr id="6" name="">
            <a:extLst xmlns:a="http://schemas.openxmlformats.org/drawingml/2006/main">
              <a:ext uri="{FF2B5EF4-FFF2-40B4-BE49-F238E27FC236}">
                <a16:creationId xmlns:a16="http://schemas.microsoft.com/office/drawing/2014/main" id="{98D38427-20D0-4890-B18A-8CE32F09EB60}"/>
              </a:ext>
            </a:extLst>
          </p:cNvPr>
          <p:cNvSpPr>
            <a:spLocks xmlns:a="http://schemas.openxmlformats.org/drawingml/2006/main" noGrp="1"/>
          </p:cNvSpPr>
          <p:nvPr/>
        </p:nvSpPr>
        <p:spPr>
          <a:xfrm xmlns:a="http://schemas.openxmlformats.org/drawingml/2006/main">
            <a:off x="781050" y="47720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What do you expect the program to report?</a:t>
            </a:r>
          </a:p>
        </p:txBody>
      </p:sp>
      <p:sp>
        <p:nvSpPr>
          <p:cNvPr id="7" name="">
            <a:extLst xmlns:a="http://schemas.openxmlformats.org/drawingml/2006/main">
              <a:ext uri="{FF2B5EF4-FFF2-40B4-BE49-F238E27FC236}">
                <a16:creationId xmlns:a16="http://schemas.microsoft.com/office/drawing/2014/main" id="{0FAEA3F0-4FC6-452C-A5A1-69E06F25ED7E}"/>
              </a:ext>
            </a:extLst>
          </p:cNvPr>
          <p:cNvSpPr>
            <a:spLocks xmlns:a="http://schemas.openxmlformats.org/drawingml/2006/main" noGrp="1"/>
          </p:cNvSpPr>
          <p:nvPr/>
        </p:nvSpPr>
        <p:spPr>
          <a:xfrm xmlns:a="http://schemas.openxmlformats.org/drawingml/2006/main">
            <a:off x="781050" y="54006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What evidence can you explain if the run fails?</a:t>
            </a:r>
          </a:p>
        </p:txBody>
      </p:sp>
    </p:spTree>
    <p:extLst>
      <p:ext uri="{BB962C8B-B14F-4D97-AF65-F5344CB8AC3E}">
        <p14:creationId xmlns:p14="http://schemas.microsoft.com/office/powerpoint/2010/main" val="749730136"/>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05C470-5EEE-4825-8081-141824395C63}"/>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Our demonstration order</a:t>
            </a:r>
          </a:p>
        </p:txBody>
      </p:sp>
      <p:sp>
        <p:nvSpPr>
          <p:cNvPr id="2" name="">
            <a:extLst xmlns:a="http://schemas.openxmlformats.org/drawingml/2006/main">
              <a:ext uri="{FF2B5EF4-FFF2-40B4-BE49-F238E27FC236}">
                <a16:creationId xmlns:a16="http://schemas.microsoft.com/office/drawing/2014/main" id="{259E6989-9F0E-49E4-82E2-E94A59120E4D}"/>
              </a:ext>
            </a:extLst>
          </p:cNvPr>
          <p:cNvSpPr>
            <a:spLocks xmlns:a="http://schemas.openxmlformats.org/drawingml/2006/main" noGrp="1"/>
          </p:cNvSpPr>
          <p:nvPr/>
        </p:nvSpPr>
        <p:spPr>
          <a:xfrm xmlns:a="http://schemas.openxmlformats.org/drawingml/2006/main">
            <a:off x="762000" y="1847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Each team has four minutes, including reset.</a:t>
            </a:r>
          </a:p>
        </p:txBody>
      </p:sp>
      <p:sp>
        <p:nvSpPr>
          <p:cNvPr id="3" name="">
            <a:extLst xmlns:a="http://schemas.openxmlformats.org/drawingml/2006/main">
              <a:ext uri="{FF2B5EF4-FFF2-40B4-BE49-F238E27FC236}">
                <a16:creationId xmlns:a16="http://schemas.microsoft.com/office/drawing/2014/main" id="{56D66990-DD58-4C5F-88D3-48B0E527799F}"/>
              </a:ext>
            </a:extLst>
          </p:cNvPr>
          <p:cNvSpPr>
            <a:spLocks xmlns:a="http://schemas.openxmlformats.org/drawingml/2006/main" noGrp="1"/>
          </p:cNvSpPr>
          <p:nvPr/>
        </p:nvSpPr>
        <p:spPr>
          <a:xfrm xmlns:a="http://schemas.openxmlformats.org/drawingml/2006/main">
            <a:off x="762000" y="2781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All three explain one part of the mission.</a:t>
            </a:r>
          </a:p>
        </p:txBody>
      </p:sp>
      <p:sp>
        <p:nvSpPr>
          <p:cNvPr id="4" name="">
            <a:extLst xmlns:a="http://schemas.openxmlformats.org/drawingml/2006/main">
              <a:ext uri="{FF2B5EF4-FFF2-40B4-BE49-F238E27FC236}">
                <a16:creationId xmlns:a16="http://schemas.microsoft.com/office/drawing/2014/main" id="{A9F8A68B-F14E-487E-A503-2BA879DC6340}"/>
              </a:ext>
            </a:extLst>
          </p:cNvPr>
          <p:cNvSpPr>
            <a:spLocks xmlns:a="http://schemas.openxmlformats.org/drawingml/2006/main" noGrp="1"/>
          </p:cNvSpPr>
          <p:nvPr/>
        </p:nvSpPr>
        <p:spPr>
          <a:xfrm xmlns:a="http://schemas.openxmlformats.org/drawingml/2006/main">
            <a:off x="762000" y="3714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Run, observe and answer one question.</a:t>
            </a:r>
          </a:p>
        </p:txBody>
      </p:sp>
      <p:sp>
        <p:nvSpPr>
          <p:cNvPr id="5" name="">
            <a:extLst xmlns:a="http://schemas.openxmlformats.org/drawingml/2006/main">
              <a:ext uri="{FF2B5EF4-FFF2-40B4-BE49-F238E27FC236}">
                <a16:creationId xmlns:a16="http://schemas.microsoft.com/office/drawing/2014/main" id="{A84C6009-1CA1-488C-A70B-63BD390BBA24}"/>
              </a:ext>
            </a:extLst>
          </p:cNvPr>
          <p:cNvSpPr>
            <a:spLocks xmlns:a="http://schemas.openxmlformats.org/drawingml/2006/main" noGrp="1"/>
          </p:cNvSpPr>
          <p:nvPr/>
        </p:nvSpPr>
        <p:spPr>
          <a:xfrm xmlns:a="http://schemas.openxmlformats.org/drawingml/2006/main">
            <a:off x="762000" y="46482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Between turns: finish and test your exhibit.</a:t>
            </a:r>
          </a:p>
        </p:txBody>
      </p:sp>
      <p:sp>
        <p:nvSpPr>
          <p:cNvPr id="7" name="">
            <a:extLst xmlns:a="http://schemas.openxmlformats.org/drawingml/2006/main">
              <a:ext uri="{FF2B5EF4-FFF2-40B4-BE49-F238E27FC236}">
                <a16:creationId xmlns:a16="http://schemas.microsoft.com/office/drawing/2014/main" id="{F1DCCD47-AB92-4E62-8782-6B8B47343AA5}"/>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Rehearsal: rotate every 2 minutes.</a:t>
            </a:r>
          </a:p>
        </p:txBody>
      </p:sp>
    </p:spTree>
    <p:extLst>
      <p:ext uri="{BB962C8B-B14F-4D97-AF65-F5344CB8AC3E}">
        <p14:creationId xmlns:p14="http://schemas.microsoft.com/office/powerpoint/2010/main" val="1196900074"/>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7DFF58-F37D-48F2-A81C-57FE658F2584}"/>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Evidence from our test</a:t>
            </a:r>
          </a:p>
        </p:txBody>
      </p:sp>
      <p:sp>
        <p:nvSpPr>
          <p:cNvPr id="2" name="">
            <a:extLst xmlns:a="http://schemas.openxmlformats.org/drawingml/2006/main">
              <a:ext uri="{FF2B5EF4-FFF2-40B4-BE49-F238E27FC236}">
                <a16:creationId xmlns:a16="http://schemas.microsoft.com/office/drawing/2014/main" id="{002BDDC8-470A-4592-B443-56F18DE3DCAE}"/>
              </a:ext>
            </a:extLst>
          </p:cNvPr>
          <p:cNvSpPr>
            <a:spLocks xmlns:a="http://schemas.openxmlformats.org/drawingml/2006/main" noGrp="1"/>
          </p:cNvSpPr>
          <p:nvPr/>
        </p:nvSpPr>
        <p:spPr>
          <a:xfrm xmlns:a="http://schemas.openxmlformats.org/drawingml/2006/main">
            <a:off x="7620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changed ____________________.</a:t>
            </a:r>
          </a:p>
        </p:txBody>
      </p:sp>
      <p:sp>
        <p:nvSpPr>
          <p:cNvPr id="3" name="">
            <a:extLst xmlns:a="http://schemas.openxmlformats.org/drawingml/2006/main">
              <a:ext uri="{FF2B5EF4-FFF2-40B4-BE49-F238E27FC236}">
                <a16:creationId xmlns:a16="http://schemas.microsoft.com/office/drawing/2014/main" id="{DDD26513-0AD0-4970-AAFB-81EFD06C92E9}"/>
              </a:ext>
            </a:extLst>
          </p:cNvPr>
          <p:cNvSpPr>
            <a:spLocks xmlns:a="http://schemas.openxmlformats.org/drawingml/2006/main" noGrp="1"/>
          </p:cNvSpPr>
          <p:nvPr/>
        </p:nvSpPr>
        <p:spPr>
          <a:xfrm xmlns:a="http://schemas.openxmlformats.org/drawingml/2006/main">
            <a:off x="762000" y="2847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predicted ____________________.</a:t>
            </a:r>
          </a:p>
        </p:txBody>
      </p:sp>
      <p:sp>
        <p:nvSpPr>
          <p:cNvPr id="4" name="">
            <a:extLst xmlns:a="http://schemas.openxmlformats.org/drawingml/2006/main">
              <a:ext uri="{FF2B5EF4-FFF2-40B4-BE49-F238E27FC236}">
                <a16:creationId xmlns:a16="http://schemas.microsoft.com/office/drawing/2014/main" id="{32E1EFD3-8FD3-4C82-91A4-25B2750D48FD}"/>
              </a:ext>
            </a:extLst>
          </p:cNvPr>
          <p:cNvSpPr>
            <a:spLocks xmlns:a="http://schemas.openxmlformats.org/drawingml/2006/main" noGrp="1"/>
          </p:cNvSpPr>
          <p:nvPr/>
        </p:nvSpPr>
        <p:spPr>
          <a:xfrm xmlns:a="http://schemas.openxmlformats.org/drawingml/2006/main">
            <a:off x="762000" y="3743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observed ____________________.</a:t>
            </a:r>
          </a:p>
        </p:txBody>
      </p:sp>
      <p:sp>
        <p:nvSpPr>
          <p:cNvPr id="5" name="">
            <a:extLst xmlns:a="http://schemas.openxmlformats.org/drawingml/2006/main">
              <a:ext uri="{FF2B5EF4-FFF2-40B4-BE49-F238E27FC236}">
                <a16:creationId xmlns:a16="http://schemas.microsoft.com/office/drawing/2014/main" id="{A4FB9973-7C93-4307-84D8-F2C959FF85EA}"/>
              </a:ext>
            </a:extLst>
          </p:cNvPr>
          <p:cNvSpPr>
            <a:spLocks xmlns:a="http://schemas.openxmlformats.org/drawingml/2006/main" noGrp="1"/>
          </p:cNvSpPr>
          <p:nvPr/>
        </p:nvSpPr>
        <p:spPr>
          <a:xfrm xmlns:a="http://schemas.openxmlformats.org/drawingml/2006/main">
            <a:off x="762000" y="46386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Our next test would ____________________.</a:t>
            </a:r>
          </a:p>
        </p:txBody>
      </p:sp>
    </p:spTree>
    <p:extLst>
      <p:ext uri="{BB962C8B-B14F-4D97-AF65-F5344CB8AC3E}">
        <p14:creationId xmlns:p14="http://schemas.microsoft.com/office/powerpoint/2010/main" val="625815288"/>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F5711C-3DF5-40B7-97B2-271000008AA6}"/>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What we learned and noticed</a:t>
            </a:r>
          </a:p>
        </p:txBody>
      </p:sp>
      <p:sp>
        <p:nvSpPr>
          <p:cNvPr id="2" name="">
            <a:extLst xmlns:a="http://schemas.openxmlformats.org/drawingml/2006/main">
              <a:ext uri="{FF2B5EF4-FFF2-40B4-BE49-F238E27FC236}">
                <a16:creationId xmlns:a16="http://schemas.microsoft.com/office/drawing/2014/main" id="{152FB544-024D-4AA5-8119-3EBAEA00BF22}"/>
              </a:ext>
            </a:extLst>
          </p:cNvPr>
          <p:cNvSpPr>
            <a:spLocks xmlns:a="http://schemas.openxmlformats.org/drawingml/2006/main" noGrp="1"/>
          </p:cNvSpPr>
          <p:nvPr/>
        </p:nvSpPr>
        <p:spPr>
          <a:xfrm xmlns:a="http://schemas.openxmlformats.org/drawingml/2006/main">
            <a:off x="7620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can you explain or do now?</a:t>
            </a:r>
          </a:p>
        </p:txBody>
      </p:sp>
      <p:sp>
        <p:nvSpPr>
          <p:cNvPr id="3" name="">
            <a:extLst xmlns:a="http://schemas.openxmlformats.org/drawingml/2006/main">
              <a:ext uri="{FF2B5EF4-FFF2-40B4-BE49-F238E27FC236}">
                <a16:creationId xmlns:a16="http://schemas.microsoft.com/office/drawing/2014/main" id="{1757C5D9-27DC-427D-ACB6-7C3B43EDE640}"/>
              </a:ext>
            </a:extLst>
          </p:cNvPr>
          <p:cNvSpPr>
            <a:spLocks xmlns:a="http://schemas.openxmlformats.org/drawingml/2006/main" noGrp="1"/>
          </p:cNvSpPr>
          <p:nvPr/>
        </p:nvSpPr>
        <p:spPr>
          <a:xfrm xmlns:a="http://schemas.openxmlformats.org/drawingml/2006/main">
            <a:off x="762000" y="2886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notice in today’s demonstrations?</a:t>
            </a:r>
          </a:p>
        </p:txBody>
      </p:sp>
      <p:sp>
        <p:nvSpPr>
          <p:cNvPr id="4" name="">
            <a:extLst xmlns:a="http://schemas.openxmlformats.org/drawingml/2006/main">
              <a:ext uri="{FF2B5EF4-FFF2-40B4-BE49-F238E27FC236}">
                <a16:creationId xmlns:a16="http://schemas.microsoft.com/office/drawing/2014/main" id="{D7778779-C43F-4BFA-89FA-E97AA9FBF252}"/>
              </a:ext>
            </a:extLst>
          </p:cNvPr>
          <p:cNvSpPr>
            <a:spLocks xmlns:a="http://schemas.openxmlformats.org/drawingml/2006/main" noGrp="1"/>
          </p:cNvSpPr>
          <p:nvPr/>
        </p:nvSpPr>
        <p:spPr>
          <a:xfrm xmlns:a="http://schemas.openxmlformats.org/drawingml/2006/main">
            <a:off x="762000" y="4029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would you like to build or explore next?</a:t>
            </a:r>
          </a:p>
        </p:txBody>
      </p:sp>
      <p:sp>
        <p:nvSpPr>
          <p:cNvPr id="6" name="">
            <a:extLst xmlns:a="http://schemas.openxmlformats.org/drawingml/2006/main">
              <a:ext uri="{FF2B5EF4-FFF2-40B4-BE49-F238E27FC236}">
                <a16:creationId xmlns:a16="http://schemas.microsoft.com/office/drawing/2014/main" id="{BA2321DA-20C4-4025-978A-0E79CFC6867D}"/>
              </a:ext>
            </a:extLst>
          </p:cNvPr>
          <p:cNvSpPr>
            <a:spLocks xmlns:a="http://schemas.openxmlformats.org/drawingml/2006/main" noGrp="1"/>
          </p:cNvSpPr>
          <p:nvPr/>
        </p:nvSpPr>
        <p:spPr>
          <a:xfrm xmlns:a="http://schemas.openxmlformats.org/drawingml/2006/main">
            <a:off x="762000" y="5715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06E75"/>
                </a:solidFill>
                <a:latin typeface="Arial"/>
                <a:ea typeface="Arial"/>
                <a:cs typeface="Arial"/>
              </a:defRPr>
            </a:defPPr>
          </a:lstStyle>
          <a:p xmlns:a="http://schemas.openxmlformats.org/drawingml/2006/main">
            <a:pPr>
              <a:buNone/>
              <a:defRPr sz="2025" b="0">
                <a:solidFill>
                  <a:srgbClr val="006E75"/>
                </a:solidFill>
                <a:latin typeface="Arial"/>
                <a:ea typeface="Arial"/>
                <a:cs typeface="Arial"/>
              </a:defRPr>
            </a:pPr>
            <a:r>
              <a:rPr sz="2025" b="0">
                <a:solidFill>
                  <a:srgbClr val="006E75"/>
                </a:solidFill>
                <a:latin typeface="Arial"/>
                <a:ea typeface="Arial"/>
                <a:cs typeface="Arial"/>
              </a:rPr>
              <a:t>Save your team project. Store your build. Reset the robot and parts.</a:t>
            </a:r>
          </a:p>
        </p:txBody>
      </p:sp>
    </p:spTree>
    <p:extLst>
      <p:ext uri="{BB962C8B-B14F-4D97-AF65-F5344CB8AC3E}">
        <p14:creationId xmlns:p14="http://schemas.microsoft.com/office/powerpoint/2010/main" val="1404699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2026-10-27T20:12:39.4290000Z</dcterms:created>
  <dcterms:modified xsi:type="dcterms:W3CDTF">2026-10-27T20:12:39.4290000Z</dcterms:modified>
</coreProperties>
</file>