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0125a7d6357401b" /><Relationship Type="http://schemas.openxmlformats.org/officeDocument/2006/relationships/extended-properties" Target="/docProps/app.xml" Id="R14a2030dfe424bf1" /><Relationship Type="http://schemas.openxmlformats.org/officeDocument/2006/relationships/officeDocument" Target="/ppt/presentation.xml" Id="R436e1c3d36274138" /></Relationships>
</file>

<file path=ppt/presentation.xml><?xml version="1.0" encoding="utf-8"?>
<p:presentation xmlns:p="http://schemas.openxmlformats.org/presentationml/2006/main">
  <p:sldMasterIdLst>
    <p:sldMasterId xmlns:r="http://schemas.openxmlformats.org/officeDocument/2006/relationships" id="2147483648" r:id="Rcd8c773133e94c02"/>
  </p:sldMasterIdLst>
  <p:notesMasterIdLst>
    <p:notesMasterId xmlns:r="http://schemas.openxmlformats.org/officeDocument/2006/relationships" r:id="Rcd705ce72c3a467a"/>
  </p:notesMasterIdLst>
  <p:sldIdLst>
    <p:sldId xmlns:r="http://schemas.openxmlformats.org/officeDocument/2006/relationships" id="256" r:id="R9fa4546387984359"/>
    <p:sldId xmlns:r="http://schemas.openxmlformats.org/officeDocument/2006/relationships" id="257" r:id="R9205864de1744b97"/>
    <p:sldId xmlns:r="http://schemas.openxmlformats.org/officeDocument/2006/relationships" id="258" r:id="Re8fb9d0139bd41a3"/>
    <p:sldId xmlns:r="http://schemas.openxmlformats.org/officeDocument/2006/relationships" id="259" r:id="Rd7a9ca7333a34683"/>
    <p:sldId xmlns:r="http://schemas.openxmlformats.org/officeDocument/2006/relationships" id="260" r:id="R20c5dedccd2b4868"/>
    <p:sldId xmlns:r="http://schemas.openxmlformats.org/officeDocument/2006/relationships" id="261" r:id="R029a2a1c575747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774968b68b40e4" /><Relationship Type="http://schemas.openxmlformats.org/officeDocument/2006/relationships/slideMaster" Target="/ppt/slideMasters/slideMaster1.xml" Id="Rcd8c773133e94c02" /><Relationship Type="http://schemas.openxmlformats.org/officeDocument/2006/relationships/notesMaster" Target="/ppt/notesMasters/notesMaster1.xml" Id="Rcd705ce72c3a467a" /><Relationship Type="http://schemas.openxmlformats.org/officeDocument/2006/relationships/presProps" Target="/ppt/presProps.xml" Id="R98cc4a2e367042c1" /><Relationship Type="http://schemas.openxmlformats.org/officeDocument/2006/relationships/tableStyles" Target="/ppt/tableStyles.xml" Id="Rbedb11092a4040ac" /><Relationship Type="http://schemas.openxmlformats.org/officeDocument/2006/relationships/slide" Target="/ppt/slides/slide1.xml" Id="R9fa4546387984359" /><Relationship Type="http://schemas.openxmlformats.org/officeDocument/2006/relationships/slide" Target="/ppt/slides/slide2.xml" Id="R9205864de1744b97" /><Relationship Type="http://schemas.openxmlformats.org/officeDocument/2006/relationships/slide" Target="/ppt/slides/slide3.xml" Id="Re8fb9d0139bd41a3" /><Relationship Type="http://schemas.openxmlformats.org/officeDocument/2006/relationships/slide" Target="/ppt/slides/slide4.xml" Id="Rd7a9ca7333a34683" /><Relationship Type="http://schemas.openxmlformats.org/officeDocument/2006/relationships/slide" Target="/ppt/slides/slide5.xml" Id="R20c5dedccd2b4868" /><Relationship Type="http://schemas.openxmlformats.org/officeDocument/2006/relationships/slide" Target="/ppt/slides/slide6.xml" Id="R029a2a1c575747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964278c4ef48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533c56688e42a6" /><Relationship Type="http://schemas.openxmlformats.org/officeDocument/2006/relationships/notesMaster" Target="/ppt/notesMasters/notesMaster1.xml" Id="Rb6dca23c8c864e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48545fb26664642" /><Relationship Type="http://schemas.openxmlformats.org/officeDocument/2006/relationships/notesMaster" Target="/ppt/notesMasters/notesMaster1.xml" Id="R5adc829019d84a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44a90ca2fd465b" /><Relationship Type="http://schemas.openxmlformats.org/officeDocument/2006/relationships/notesMaster" Target="/ppt/notesMasters/notesMaster1.xml" Id="R7c3ca0499db74e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e6a317862945da" /><Relationship Type="http://schemas.openxmlformats.org/officeDocument/2006/relationships/notesMaster" Target="/ppt/notesMasters/notesMaster1.xml" Id="R97f4ec3494384e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7a11983ad14cb0" /><Relationship Type="http://schemas.openxmlformats.org/officeDocument/2006/relationships/notesMaster" Target="/ppt/notesMasters/notesMaster1.xml" Id="R9421059fd25848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f4d37da6924c89" /><Relationship Type="http://schemas.openxmlformats.org/officeDocument/2006/relationships/notesMaster" Target="/ppt/notesMasters/notesMaster1.xml" Id="R04759c36014048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Meet your robot</a:t>
            </a:r>
          </a:p>
          <a:p xmlns:a="http://schemas.openxmlformats.org/drawingml/2006/main">
            <a:r>
              <a:t/>
            </a:r>
          </a:p>
          <a:p xmlns:a="http://schemas.openxmlformats.org/drawingml/2006/main">
            <a:r>
              <a:t>Timing 0–5 minutes</a:t>
            </a:r>
          </a:p>
          <a:p xmlns:a="http://schemas.openxmlformats.org/drawingml/2006/main">
            <a:r>
              <a:t/>
            </a:r>
          </a:p>
          <a:p xmlns:a="http://schemas.openxmlformats.org/drawingml/2006/main">
            <a:r>
              <a:t>Say Welcome to robotics at the YMCA. You will make a robot signal and move, and build its own mascot. Each of you gets a turn.</a:t>
            </a:r>
          </a:p>
          <a:p xmlns:a="http://schemas.openxmlformats.org/drawingml/2006/main">
            <a:r>
              <a:t/>
            </a:r>
          </a:p>
          <a:p xmlns:a="http://schemas.openxmlformats.org/drawingml/2006/main">
            <a:r>
              <a:t>Do Introduce mentors and seat T1/T2 at Pod A, T3/T4 at Pod B. Invite children to share their names. Prior experience was already asked about; use no opening worksheet, quiz or ability rating. Say: Today you will make a robot move and build something for it. Everyone gets a turn, and we will help you with each step.</a:t>
            </a:r>
          </a:p>
          <a:p xmlns:a="http://schemas.openxmlformats.org/drawingml/2006/main">
            <a:r>
              <a:t/>
            </a:r>
          </a:p>
          <a:p xmlns:a="http://schemas.openxmlformats.org/drawingml/2006/main">
            <a:r>
              <a:t>Say One driver starts after the navigator calls clear. Hands stay away while it moves. Anyone may call stop. Demonstrate the actual stop control before any robot moves.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5–10 minutes</a:t>
            </a:r>
          </a:p>
          <a:p xmlns:a="http://schemas.openxmlformats.org/drawingml/2006/main">
            <a:r>
              <a:t/>
            </a:r>
          </a:p>
          <a:p xmlns:a="http://schemas.openxmlformats.org/drawingml/2006/main">
            <a:r>
              <a:t>Do At 5–8 minutes, demonstrate the separately assembled and rehearsed autonomous EV3 R3PTAR: creep, detect the cardboard target, hiss/strike, retract, retreat, turn and resume only if this whole behavior passed rehearsal. Keep people and hands outside its mechanism. A taped boundary does not stop this program automatically.</a:t>
            </a:r>
          </a:p>
          <a:p xmlns:a="http://schemas.openxmlformats.org/drawingml/2006/main">
            <a:r>
              <a:t/>
            </a:r>
          </a:p>
          <a:p xmlns:a="http://schemas.openxmlformats.org/drawingml/2006/main">
            <a:r>
              <a:t>Ask What changed before the snake reacted? Listen for sensor reading, program decision and motor action. Nobody is steering it remotely.</a:t>
            </a:r>
          </a:p>
          <a:p xmlns:a="http://schemas.openxmlformats.org/drawingml/2006/main">
            <a:r>
              <a:t/>
            </a:r>
          </a:p>
          <a:p xmlns:a="http://schemas.openxmlformats.org/drawingml/2006/main">
            <a:r>
              <a:t>Do At 8–10 minutes, stop and park R3PTAR. Identify the SPIKE hub, wheels, A/B motors and display. Run the prepared Y, pause, short move. Connect the robot’s behavior to instructions.</a:t>
            </a:r>
          </a:p>
          <a:p xmlns:a="http://schemas.openxmlformats.org/drawingml/2006/main">
            <a:r>
              <a:t/>
            </a:r>
          </a:p>
          <a:p xmlns:a="http://schemas.openxmlformats.org/drawingml/2006/main">
            <a:r>
              <a:t>Recovery Allow one quick EV3 reset, then use SPIKE. If motion fails, show signal and pause with wheels safely raised. Do not spend the children’s activity time repairing the demo.</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Sequence and a function call and prediction</a:t>
            </a:r>
          </a:p>
          <a:p xmlns:a="http://schemas.openxmlformats.org/drawingml/2006/main">
            <a:r>
              <a:t/>
            </a:r>
          </a:p>
          <a:p xmlns:a="http://schemas.openxmlformats.org/drawingml/2006/main">
            <a:r>
              <a:t>Timing 10–14 minutes</a:t>
            </a:r>
          </a:p>
          <a:p xmlns:a="http://schemas.openxmlformats.org/drawingml/2006/main">
            <a:r>
              <a:t/>
            </a:r>
          </a:p>
          <a:p xmlns:a="http://schemas.openxmlformats.org/drawingml/2006/main">
            <a:r>
              <a:t>await signal("Y")</a:t>
            </a:r>
          </a:p>
          <a:p xmlns:a="http://schemas.openxmlformats.org/drawingml/2006/main">
            <a:r>
              <a:t>await pause(500)</a:t>
            </a:r>
          </a:p>
          <a:p xmlns:a="http://schemas.openxmlformats.org/drawingml/2006/main">
            <a:r>
              <a:t>await drive(90)</a:t>
            </a:r>
          </a:p>
          <a:p xmlns:a="http://schemas.openxmlformats.org/drawingml/2006/main">
            <a:r>
              <a:t/>
            </a:r>
          </a:p>
          <a:p xmlns:a="http://schemas.openxmlformats.org/drawingml/2006/main">
            <a:r>
              <a:t>Say We edit the small student_recipe in a complete project. signal("Y") shows a letter; keep its quotation marks. pause(500) waits half a second. drive(90) asks for a quarter rotation of the wheels. That is neither 90 cm nor a 90-degree heading change. Here await lets the current action finish before the next line.</a:t>
            </a:r>
          </a:p>
          <a:p xmlns:a="http://schemas.openxmlformats.org/drawingml/2006/main">
            <a:r>
              <a:t/>
            </a:r>
          </a:p>
          <a:p xmlns:a="http://schemas.openxmlformats.org/drawingml/2006/main">
            <a:r>
              <a:t>Point Trace top to bottom: signal, wait, drive. Locate the recipe comments in the actual file. Leave drive(90) unchanged today.</a:t>
            </a:r>
          </a:p>
          <a:p xmlns:a="http://schemas.openxmlformats.org/drawingml/2006/main">
            <a:r>
              <a:t/>
            </a:r>
          </a:p>
          <a:p xmlns:a="http://schemas.openxmlformats.org/drawingml/2006/main">
            <a:r>
              <a:t>Ask Which instruction happens first? What changes if we MOVE the last line to the top? Give ten seconds to think and each child a brief explanation turn.</a:t>
            </a:r>
          </a:p>
          <a:p xmlns:a="http://schemas.openxmlformats.org/drawingml/2006/main">
            <a:r>
              <a:t/>
            </a:r>
          </a:p>
          <a:p xmlns:a="http://schemas.openxmlformats.org/drawingml/2006/main">
            <a:r>
              <a:t>Expected Original: show Y, pause, drive. Moving the last line to the top gives drive, show Y, pause. Swapping the first and last lines is a different operation: drive, pause, show Y. The requested wheel rotation stays 90 degrees.</a:t>
            </a:r>
          </a:p>
          <a:p xmlns:a="http://schemas.openxmlformats.org/drawingml/2006/main">
            <a:r>
              <a:t/>
            </a:r>
          </a:p>
          <a:p xmlns:a="http://schemas.openxmlformats.org/drawingml/2006/main">
            <a:r>
              <a:t>Try First choose one letter. Later change pause from 500 to 1000; predict a longer wait, not a longer requested movement.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robot and build jobs</a:t>
            </a:r>
          </a:p>
          <a:p xmlns:a="http://schemas.openxmlformats.org/drawingml/2006/main">
            <a:r>
              <a:t/>
            </a:r>
          </a:p>
          <a:p xmlns:a="http://schemas.openxmlformats.org/drawingml/2006/main">
            <a:r>
              <a:t>Timing 14–38 then retests minutes</a:t>
            </a:r>
          </a:p>
          <a:p xmlns:a="http://schemas.openxmlformats.org/drawingml/2006/main">
            <a:r>
              <a:t/>
            </a:r>
          </a:p>
          <a:p xmlns:a="http://schemas.openxmlformats.org/drawingml/2006/main">
            <a:r>
              <a:t>Station map 14–26: T1/T3 use robots and T2/T4 build. 26–38: teams switch stations. 38–44: T1/T3 retest while the other teams finish builds. 44–50: T2/T4 retest. Rotate roles at 18, 22, 30, 34, 40, 42, 46 and 48 minutes. Each team has 18 robot minutes, giving each child about six minutes as driver plus handling, observing and building. Transitions occur within these blocks.</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four minutes in the first turn and every two minutes in the retest. At the build table, rotate builder, designer/parts manager and tester/reporter on the same timer. Everyone contributes hands-on work.</a:t>
            </a:r>
          </a:p>
          <a:p xmlns:a="http://schemas.openxmlformats.org/drawingml/2006/main">
            <a:r>
              <a:t/>
            </a:r>
          </a:p>
          <a:p xmlns:a="http://schemas.openxmlformats.org/drawingml/2006/main">
            <a:r>
              <a:t>Robot steps 1. Name the hub and locate its ports. Point out the two motors, wheels, rechargeable hub, and display. Keep the chassis assembled. Add a removable paper name flag that clears wheels and ports. 2. Open the supplied project. Find STUDENT RECIPE inside student_recipe. Change Y to one letter chosen by the team. Keep quotation marks. Run with wheels raised, then point to the changed line. 3. Place the robot at a taped start in a clear lane. Navigator checks that the lane is empty. Driver starts the program. Observe which action happens first and mark the endpoint. 4. Switch roles. Change the pause from 500 to 1000 milliseconds. Predict the difference and run again. Keep drive at 90 wheel degrees. 5. During the final six-minute turn, reorder signal and pause or choose a different letter. Each student explains one line without the mentor answering for them.</a:t>
            </a:r>
          </a:p>
          <a:p xmlns:a="http://schemas.openxmlformats.org/drawingml/2006/main">
            <a:r>
              <a:t/>
            </a:r>
          </a:p>
          <a:p xmlns:a="http://schemas.openxmlformats.org/drawingml/2006/main">
            <a:r>
              <a:t>Build A removable robot mascot. Make a name flag or face that stays upright and attaches without covering a wheel, port, button or cable. Choose a team name and lay out a lightweight mast or face. Build a wide or braced support using the mounting template. Gently tilt and tap the model by hand. Improve one weak connection. Test: Stands after a gentle tap; stays inside the clearance template; no loose parts.</a:t>
            </a:r>
          </a:p>
          <a:p xmlns:a="http://schemas.openxmlformats.org/drawingml/2006/main">
            <a:r>
              <a:t/>
            </a:r>
          </a:p>
          <a:p xmlns:a="http://schemas.openxmlformats.org/drawingml/2006/main">
            <a:r>
              <a:t>Connection to robot Fit the approved mascot to the stopped base for the retest. The first robot teams use a mentor example or the bare base.</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38–50 minutes in two six-minute retests.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Record the letter, pause value, predicted order, and observed order. Individual exit: “A program is ___, and the line I changed made ___ happen.”</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No letter: check hub connection and that the program started. SyntaxError: check the quotation marks and indentation. Wrong motion: stop and check the A/B cables and base orientation before changing code.</a:t>
            </a:r>
          </a:p>
          <a:p xmlns:a="http://schemas.openxmlformats.org/drawingml/2006/main">
            <a:r>
              <a:t/>
            </a:r>
          </a:p>
          <a:p xmlns:a="http://schemas.openxmlformats.org/drawingml/2006/main">
            <a:r>
              <a:t>Support Mentor highlights only the three recipe lines. Students may point or dictate while their partner types, then swap the explanation role. Accept a correct light sequence if movement is delayed.</a:t>
            </a:r>
          </a:p>
          <a:p xmlns:a="http://schemas.openxmlformats.org/drawingml/2006/main">
            <a:r>
              <a:t/>
            </a:r>
          </a:p>
          <a:p xmlns:a="http://schemas.openxmlformats.org/drawingml/2006/main">
            <a:r>
              <a:t>Extension Add a second signal and explain why its location in the sequence matters. No speed contest.</a:t>
            </a:r>
          </a:p>
          <a:p xmlns:a="http://schemas.openxmlformats.org/drawingml/2006/main">
            <a:r>
              <a:t/>
            </a:r>
          </a:p>
          <a:p xmlns:a="http://schemas.openxmlformats.org/drawingml/2006/main">
            <a:r>
              <a:t>If needed New Word Blocks project: when program starts; display chosen text on hub; wait 0.5 seconds; move straight for 0.25 rotations at a mentor-tested slow speed. Set movement motors to A and B. Compare the same action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did you learn about instruction order? What did you notice when the robot ran? What would you change or build next?</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Show Y, wait, then drive. A longer pause changes waiting time, not the drive distance. A signal-only run still demonstrates sequence.</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FRC robots also need clear status signals and ordered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b17fe6851c45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99ad199fd3c43e4" /><Relationship Type="http://schemas.openxmlformats.org/officeDocument/2006/relationships/slideLayout" Target="/ppt/slideLayouts/slideLayout1.xml" Id="Rdf1a060d984646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1a060d984646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66ce5c9e0834040" /><Relationship Type="http://schemas.openxmlformats.org/officeDocument/2006/relationships/notesSlide" Target="/ppt/notesSlides/notesSlide1.xml" Id="R26659d02337543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bd9661b59454288" /><Relationship Type="http://schemas.openxmlformats.org/officeDocument/2006/relationships/image" Target="/ppt/media/image.png" Id="R8f32f3f92eea47de" /><Relationship Type="http://schemas.openxmlformats.org/officeDocument/2006/relationships/notesSlide" Target="/ppt/notesSlides/notesSlide2.xml" Id="R84e435700be941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cd5e407a751457a" /><Relationship Type="http://schemas.openxmlformats.org/officeDocument/2006/relationships/notesSlide" Target="/ppt/notesSlides/notesSlide3.xml" Id="R58252fbc3ede47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c23e54dbe6846a8" /><Relationship Type="http://schemas.openxmlformats.org/officeDocument/2006/relationships/notesSlide" Target="/ppt/notesSlides/notesSlide4.xml" Id="Rebc9de14ddb842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ff3482979a4a1c" /><Relationship Type="http://schemas.openxmlformats.org/officeDocument/2006/relationships/notesSlide" Target="/ppt/notesSlides/notesSlide5.xml" Id="R56cac54523a947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a303a12f9594422" /><Relationship Type="http://schemas.openxmlformats.org/officeDocument/2006/relationships/notesSlide" Target="/ppt/notesSlides/notesSlide6.xml" Id="Redaff0aa42b24302"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0CB8989-29D1-499A-953B-5A30AC8A6E4C}"/>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Meet your robot</a:t>
            </a:r>
          </a:p>
        </p:txBody>
      </p:sp>
      <p:sp>
        <p:nvSpPr>
          <p:cNvPr id="2" name="">
            <a:extLst xmlns:a="http://schemas.openxmlformats.org/drawingml/2006/main">
              <a:ext uri="{FF2B5EF4-FFF2-40B4-BE49-F238E27FC236}">
                <a16:creationId xmlns:a16="http://schemas.microsoft.com/office/drawing/2014/main" id="{735C3AF9-1412-4DCD-B592-B3BCD950851D}"/>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A signal and a first movement</a:t>
            </a:r>
          </a:p>
        </p:txBody>
      </p:sp>
      <p:sp>
        <p:nvSpPr>
          <p:cNvPr id="3" name="">
            <a:extLst xmlns:a="http://schemas.openxmlformats.org/drawingml/2006/main">
              <a:ext uri="{FF2B5EF4-FFF2-40B4-BE49-F238E27FC236}">
                <a16:creationId xmlns:a16="http://schemas.microsoft.com/office/drawing/2014/main" id="{890EA85B-9107-42B8-94AF-1B347A1A38D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1 · MechaRAMS at the YMCA</a:t>
            </a:r>
          </a:p>
        </p:txBody>
      </p:sp>
    </p:spTree>
    <p:extLst>
      <p:ext uri="{BB962C8B-B14F-4D97-AF65-F5344CB8AC3E}">
        <p14:creationId xmlns:p14="http://schemas.microsoft.com/office/powerpoint/2010/main" val="1675300033"/>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4D4AB7-69A6-4949-8E36-E32FB9A6E1E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ED42EAD5-A38C-4169-BBE6-0830C4F3963B}"/>
              </a:ext>
            </a:extLst>
          </p:cNvPr>
          <p:cNvSpPr>
            <a:spLocks xmlns:a="http://schemas.openxmlformats.org/drawingml/2006/main" noGrp="1"/>
          </p:cNvSpPr>
          <p:nvPr/>
        </p:nvSpPr>
        <p:spPr>
          <a:xfrm xmlns:a="http://schemas.openxmlformats.org/drawingml/2006/main">
            <a:off x="762000" y="195262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one-letter welcome signal</a:t>
            </a:r>
          </a:p>
        </p:txBody>
      </p:sp>
      <p:sp>
        <p:nvSpPr>
          <p:cNvPr id="3" name="">
            <a:extLst xmlns:a="http://schemas.openxmlformats.org/drawingml/2006/main">
              <a:ext uri="{FF2B5EF4-FFF2-40B4-BE49-F238E27FC236}">
                <a16:creationId xmlns:a16="http://schemas.microsoft.com/office/drawing/2014/main" id="{7AF0BF6A-A50E-4DF3-AC52-5C5A62BE6B87}"/>
              </a:ext>
            </a:extLst>
          </p:cNvPr>
          <p:cNvSpPr>
            <a:spLocks xmlns:a="http://schemas.openxmlformats.org/drawingml/2006/main" noGrp="1"/>
          </p:cNvSpPr>
          <p:nvPr/>
        </p:nvSpPr>
        <p:spPr>
          <a:xfrm xmlns:a="http://schemas.openxmlformats.org/drawingml/2006/main">
            <a:off x="762000" y="300037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short forward move</a:t>
            </a:r>
          </a:p>
        </p:txBody>
      </p:sp>
      <p:sp>
        <p:nvSpPr>
          <p:cNvPr id="4" name="">
            <a:extLst xmlns:a="http://schemas.openxmlformats.org/drawingml/2006/main">
              <a:ext uri="{FF2B5EF4-FFF2-40B4-BE49-F238E27FC236}">
                <a16:creationId xmlns:a16="http://schemas.microsoft.com/office/drawing/2014/main" id="{B05733F2-A31A-4D68-B80E-0913C09E4719}"/>
              </a:ext>
            </a:extLst>
          </p:cNvPr>
          <p:cNvSpPr>
            <a:spLocks xmlns:a="http://schemas.openxmlformats.org/drawingml/2006/main" noGrp="1"/>
          </p:cNvSpPr>
          <p:nvPr/>
        </p:nvSpPr>
        <p:spPr>
          <a:xfrm xmlns:a="http://schemas.openxmlformats.org/drawingml/2006/main">
            <a:off x="762000" y="4048125"/>
            <a:ext cx="4667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A prediction about the order</a:t>
            </a:r>
          </a:p>
        </p:txBody>
      </p:sp>
      <p:pic>
        <p:nvPicPr>
          <p:cNvPr id="10" name="">
            <a:extLst xmlns:a="http://schemas.openxmlformats.org/drawingml/2006/main">
              <a:ext uri="{FF2B5EF4-FFF2-40B4-BE49-F238E27FC236}">
                <a16:creationId xmlns:a16="http://schemas.microsoft.com/office/drawing/2014/main" id="{3D6F28FD-9D79-4F46-8AC5-1FB23EC91ABB}"/>
              </a:ext>
            </a:extLst>
          </p:cNvPr>
          <p:cNvPicPr>
            <a:picLocks xmlns:a="http://schemas.openxmlformats.org/drawingml/2006/main" noChangeAspect="1"/>
          </p:cNvPicPr>
          <p:nvPr/>
        </p:nvPicPr>
        <p:blipFill>
          <a:blip xmlns:r="http://schemas.openxmlformats.org/officeDocument/2006/relationships" xmlns:a="http://schemas.openxmlformats.org/drawingml/2006/main" r:embed="R8f32f3f92eea47de"/>
          <a:stretch xmlns:a="http://schemas.openxmlformats.org/drawingml/2006/main"/>
        </p:blipFill>
        <p:spPr>
          <a:xfrm xmlns:a="http://schemas.openxmlformats.org/drawingml/2006/main">
            <a:off x="5905500" y="1714500"/>
            <a:ext cx="5715000" cy="38100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9D5D536-D27B-4D2E-8076-3F671B7AEE12}"/>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12" name="">
            <a:extLst xmlns:a="http://schemas.openxmlformats.org/drawingml/2006/main">
              <a:ext uri="{FF2B5EF4-FFF2-40B4-BE49-F238E27FC236}">
                <a16:creationId xmlns:a16="http://schemas.microsoft.com/office/drawing/2014/main" id="{E2B9E0A4-C8A8-4AF9-A57D-846D3FDD9915}"/>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13" name="">
            <a:extLst xmlns:a="http://schemas.openxmlformats.org/drawingml/2006/main">
              <a:ext uri="{FF2B5EF4-FFF2-40B4-BE49-F238E27FC236}">
                <a16:creationId xmlns:a16="http://schemas.microsoft.com/office/drawing/2014/main" id="{4E7005D2-A0AC-4F6E-9F74-90C2DA7ABF2C}"/>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14" name="">
            <a:extLst xmlns:a="http://schemas.openxmlformats.org/drawingml/2006/main">
              <a:ext uri="{FF2B5EF4-FFF2-40B4-BE49-F238E27FC236}">
                <a16:creationId xmlns:a16="http://schemas.microsoft.com/office/drawing/2014/main" id="{F01985AE-4BF9-442E-A8F7-F64905FCED9C}"/>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81967204"/>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20A96F9-4903-43FE-9A46-7C936D2677C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Sequence and a function call</a:t>
            </a:r>
          </a:p>
        </p:txBody>
      </p:sp>
      <p:sp>
        <p:nvSpPr>
          <p:cNvPr id="2" name="">
            <a:extLst xmlns:a="http://schemas.openxmlformats.org/drawingml/2006/main">
              <a:ext uri="{FF2B5EF4-FFF2-40B4-BE49-F238E27FC236}">
                <a16:creationId xmlns:a16="http://schemas.microsoft.com/office/drawing/2014/main" id="{0179892B-E892-4B95-B2A2-B9D57574A633}"/>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signal("Y")</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pause(500)</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drive(90)</a:t>
            </a:r>
          </a:p>
        </p:txBody>
      </p:sp>
      <p:sp>
        <p:nvSpPr>
          <p:cNvPr id="3" name="">
            <a:extLst xmlns:a="http://schemas.openxmlformats.org/drawingml/2006/main">
              <a:ext uri="{FF2B5EF4-FFF2-40B4-BE49-F238E27FC236}">
                <a16:creationId xmlns:a16="http://schemas.microsoft.com/office/drawing/2014/main" id="{DDF40221-1690-4526-83DC-CE2F7495DEB2}"/>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23B76D8A-CA54-4A5F-ADCB-31ED6504A010}"/>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D8DD8C93-8BFB-43F4-9DBB-49008F5D601F}"/>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Which instruction happens first?</a:t>
            </a:r>
          </a:p>
        </p:txBody>
      </p:sp>
      <p:sp>
        <p:nvSpPr>
          <p:cNvPr id="7" name="">
            <a:extLst xmlns:a="http://schemas.openxmlformats.org/drawingml/2006/main">
              <a:ext uri="{FF2B5EF4-FFF2-40B4-BE49-F238E27FC236}">
                <a16:creationId xmlns:a16="http://schemas.microsoft.com/office/drawing/2014/main" id="{1B8DA16F-10FE-4450-8216-3042FD68BF95}"/>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changes if the last line moves to the top?</a:t>
            </a:r>
          </a:p>
        </p:txBody>
      </p:sp>
    </p:spTree>
    <p:extLst>
      <p:ext uri="{BB962C8B-B14F-4D97-AF65-F5344CB8AC3E}">
        <p14:creationId xmlns:p14="http://schemas.microsoft.com/office/powerpoint/2010/main" val="242496929"/>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0B58D5-391C-495D-997D-ADB177E101B7}"/>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robot and build jobs</a:t>
            </a:r>
          </a:p>
        </p:txBody>
      </p:sp>
      <p:sp>
        <p:nvSpPr>
          <p:cNvPr id="2" name="">
            <a:extLst xmlns:a="http://schemas.openxmlformats.org/drawingml/2006/main">
              <a:ext uri="{FF2B5EF4-FFF2-40B4-BE49-F238E27FC236}">
                <a16:creationId xmlns:a16="http://schemas.microsoft.com/office/drawing/2014/main" id="{D90FE39C-033E-41DF-BC69-02F2B3422760}"/>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Driver edits and starts after “clear.”</a:t>
            </a:r>
          </a:p>
        </p:txBody>
      </p:sp>
      <p:sp>
        <p:nvSpPr>
          <p:cNvPr id="3" name="">
            <a:extLst xmlns:a="http://schemas.openxmlformats.org/drawingml/2006/main">
              <a:ext uri="{FF2B5EF4-FFF2-40B4-BE49-F238E27FC236}">
                <a16:creationId xmlns:a16="http://schemas.microsoft.com/office/drawing/2014/main" id="{FA387FCD-6786-4551-A353-83CCCF3DAB84}"/>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Navigator predicts and resets the stopped robot.</a:t>
            </a:r>
          </a:p>
        </p:txBody>
      </p:sp>
      <p:sp>
        <p:nvSpPr>
          <p:cNvPr id="4" name="">
            <a:extLst xmlns:a="http://schemas.openxmlformats.org/drawingml/2006/main">
              <a:ext uri="{FF2B5EF4-FFF2-40B4-BE49-F238E27FC236}">
                <a16:creationId xmlns:a16="http://schemas.microsoft.com/office/drawing/2014/main" id="{5E3D8247-D110-4B29-9A81-EF37210107B7}"/>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Observer watches, measures and records.</a:t>
            </a:r>
          </a:p>
        </p:txBody>
      </p:sp>
      <p:sp>
        <p:nvSpPr>
          <p:cNvPr id="5" name="">
            <a:extLst xmlns:a="http://schemas.openxmlformats.org/drawingml/2006/main">
              <a:ext uri="{FF2B5EF4-FFF2-40B4-BE49-F238E27FC236}">
                <a16:creationId xmlns:a16="http://schemas.microsoft.com/office/drawing/2014/main" id="{95703C46-DA64-4826-8113-BD23805A64A7}"/>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Other team builds. Everyone rotates jobs.</a:t>
            </a:r>
          </a:p>
        </p:txBody>
      </p:sp>
      <p:sp>
        <p:nvSpPr>
          <p:cNvPr id="7" name="">
            <a:extLst xmlns:a="http://schemas.openxmlformats.org/drawingml/2006/main">
              <a:ext uri="{FF2B5EF4-FFF2-40B4-BE49-F238E27FC236}">
                <a16:creationId xmlns:a16="http://schemas.microsoft.com/office/drawing/2014/main" id="{28951306-C580-40AE-9C43-B353C69F6DCA}"/>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Robot turns: rotate every 4 minutes. Retests: every 2 minutes.</a:t>
            </a:r>
          </a:p>
        </p:txBody>
      </p:sp>
    </p:spTree>
    <p:extLst>
      <p:ext uri="{BB962C8B-B14F-4D97-AF65-F5344CB8AC3E}">
        <p14:creationId xmlns:p14="http://schemas.microsoft.com/office/powerpoint/2010/main" val="745850989"/>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B263C23-3953-4FCB-A065-E9014904B0D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ACF76F8A-9139-4F78-805A-552E1AD4AEE9}"/>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50709F86-8F5E-4393-B7B1-51959736751C}"/>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E7226248-2E82-47E8-99E3-BDE4325CF533}"/>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FF650DDB-1B73-4FFE-8B1C-9BB7ADAA06C6}"/>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1503073217"/>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6EFB6B0-C338-4C68-A5DB-A23EDE5278C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64C0A97E-FE0E-41C7-BD7C-9C4F7CED1956}"/>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learn about instruction order?</a:t>
            </a:r>
          </a:p>
        </p:txBody>
      </p:sp>
      <p:sp>
        <p:nvSpPr>
          <p:cNvPr id="3" name="">
            <a:extLst xmlns:a="http://schemas.openxmlformats.org/drawingml/2006/main">
              <a:ext uri="{FF2B5EF4-FFF2-40B4-BE49-F238E27FC236}">
                <a16:creationId xmlns:a16="http://schemas.microsoft.com/office/drawing/2014/main" id="{FE9CB7B4-7430-4609-BF43-BB1C8ED5A687}"/>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notice when the robot ran?</a:t>
            </a:r>
          </a:p>
        </p:txBody>
      </p:sp>
      <p:sp>
        <p:nvSpPr>
          <p:cNvPr id="4" name="">
            <a:extLst xmlns:a="http://schemas.openxmlformats.org/drawingml/2006/main">
              <a:ext uri="{FF2B5EF4-FFF2-40B4-BE49-F238E27FC236}">
                <a16:creationId xmlns:a16="http://schemas.microsoft.com/office/drawing/2014/main" id="{52E5376A-C513-4479-9E7F-8680FE369141}"/>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would you change or build next?</a:t>
            </a:r>
          </a:p>
        </p:txBody>
      </p:sp>
      <p:sp>
        <p:nvSpPr>
          <p:cNvPr id="6" name="">
            <a:extLst xmlns:a="http://schemas.openxmlformats.org/drawingml/2006/main">
              <a:ext uri="{FF2B5EF4-FFF2-40B4-BE49-F238E27FC236}">
                <a16:creationId xmlns:a16="http://schemas.microsoft.com/office/drawing/2014/main" id="{71BD7CE2-9E2E-4638-B516-C67ABD870838}"/>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13517962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2026-10-27T20:12:29.7280000Z</dcterms:created>
  <dcterms:modified xsi:type="dcterms:W3CDTF">2026-10-27T20:12:29.7280000Z</dcterms:modified>
</coreProperties>
</file>