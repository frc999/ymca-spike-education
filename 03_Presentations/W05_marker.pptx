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fc406fa9e394b91" /><Relationship Type="http://schemas.openxmlformats.org/officeDocument/2006/relationships/extended-properties" Target="/docProps/app.xml" Id="R6591357b712f4130" /><Relationship Type="http://schemas.openxmlformats.org/officeDocument/2006/relationships/officeDocument" Target="/ppt/presentation.xml" Id="R516bf741e8c74a3c" /></Relationships>
</file>

<file path=ppt/presentation.xml><?xml version="1.0" encoding="utf-8"?>
<p:presentation xmlns:p="http://schemas.openxmlformats.org/presentationml/2006/main">
  <p:sldMasterIdLst>
    <p:sldMasterId xmlns:r="http://schemas.openxmlformats.org/officeDocument/2006/relationships" id="2147483648" r:id="R26c563d9741b486d"/>
  </p:sldMasterIdLst>
  <p:notesMasterIdLst>
    <p:notesMasterId xmlns:r="http://schemas.openxmlformats.org/officeDocument/2006/relationships" r:id="R1ea8aab5f7fe493e"/>
  </p:notesMasterIdLst>
  <p:sldIdLst>
    <p:sldId xmlns:r="http://schemas.openxmlformats.org/officeDocument/2006/relationships" id="256" r:id="Rfc1dceae946a443a"/>
    <p:sldId xmlns:r="http://schemas.openxmlformats.org/officeDocument/2006/relationships" id="257" r:id="R0f44c26d3c704909"/>
    <p:sldId xmlns:r="http://schemas.openxmlformats.org/officeDocument/2006/relationships" id="258" r:id="R6ea3eeb351bc4962"/>
    <p:sldId xmlns:r="http://schemas.openxmlformats.org/officeDocument/2006/relationships" id="259" r:id="Rcbf772f41f1a4508"/>
    <p:sldId xmlns:r="http://schemas.openxmlformats.org/officeDocument/2006/relationships" id="260" r:id="Rbed69db88c5f4b0f"/>
    <p:sldId xmlns:r="http://schemas.openxmlformats.org/officeDocument/2006/relationships" id="261" r:id="R956aedf4af3c48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223a4006994dd3" /><Relationship Type="http://schemas.openxmlformats.org/officeDocument/2006/relationships/slideMaster" Target="/ppt/slideMasters/slideMaster1.xml" Id="R26c563d9741b486d" /><Relationship Type="http://schemas.openxmlformats.org/officeDocument/2006/relationships/notesMaster" Target="/ppt/notesMasters/notesMaster1.xml" Id="R1ea8aab5f7fe493e" /><Relationship Type="http://schemas.openxmlformats.org/officeDocument/2006/relationships/presProps" Target="/ppt/presProps.xml" Id="Rc8279c59c9944113" /><Relationship Type="http://schemas.openxmlformats.org/officeDocument/2006/relationships/tableStyles" Target="/ppt/tableStyles.xml" Id="R30eafdbeeca64ea9" /><Relationship Type="http://schemas.openxmlformats.org/officeDocument/2006/relationships/slide" Target="/ppt/slides/slide1.xml" Id="Rfc1dceae946a443a" /><Relationship Type="http://schemas.openxmlformats.org/officeDocument/2006/relationships/slide" Target="/ppt/slides/slide2.xml" Id="R0f44c26d3c704909" /><Relationship Type="http://schemas.openxmlformats.org/officeDocument/2006/relationships/slide" Target="/ppt/slides/slide3.xml" Id="R6ea3eeb351bc4962" /><Relationship Type="http://schemas.openxmlformats.org/officeDocument/2006/relationships/slide" Target="/ppt/slides/slide4.xml" Id="Rcbf772f41f1a4508" /><Relationship Type="http://schemas.openxmlformats.org/officeDocument/2006/relationships/slide" Target="/ppt/slides/slide5.xml" Id="Rbed69db88c5f4b0f" /><Relationship Type="http://schemas.openxmlformats.org/officeDocument/2006/relationships/slide" Target="/ppt/slides/slide6.xml" Id="R956aedf4af3c48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15c85c26cb48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53047809c846ab" /><Relationship Type="http://schemas.openxmlformats.org/officeDocument/2006/relationships/notesMaster" Target="/ppt/notesMasters/notesMaster1.xml" Id="R4e6d1df5b3704034"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bece2b3fce4d39" /><Relationship Type="http://schemas.openxmlformats.org/officeDocument/2006/relationships/notesMaster" Target="/ppt/notesMasters/notesMaster1.xml" Id="R79dc6d5a10114e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55b44af1dc4381" /><Relationship Type="http://schemas.openxmlformats.org/officeDocument/2006/relationships/notesMaster" Target="/ppt/notesMasters/notesMaster1.xml" Id="R6dc8ed86655e465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d17a739271f4155" /><Relationship Type="http://schemas.openxmlformats.org/officeDocument/2006/relationships/notesMaster" Target="/ppt/notesMasters/notesMaster1.xml" Id="R9f1a1781987e44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6b51ac52a546e6" /><Relationship Type="http://schemas.openxmlformats.org/officeDocument/2006/relationships/notesMaster" Target="/ppt/notesMasters/notesMaster1.xml" Id="R5c46eef03973429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68df73c85c43c6" /><Relationship Type="http://schemas.openxmlformats.org/officeDocument/2006/relationships/notesMaster" Target="/ppt/notesMasters/notesMaster1.xml" Id="Rbc411640fe134e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PREPARATION</a:t>
            </a:r>
          </a:p>
          <a:p xmlns:a="http://schemas.openxmlformats.org/drawingml/2006/main">
            <a:r>
              <a:t/>
            </a:r>
          </a:p>
          <a:p xmlns:a="http://schemas.openxmlformats.org/drawingml/2006/main">
            <a:r>
              <a:t>Week 5 The floor tells the robot</a:t>
            </a:r>
          </a:p>
          <a:p xmlns:a="http://schemas.openxmlformats.org/drawingml/2006/main">
            <a:r>
              <a:t/>
            </a:r>
          </a:p>
          <a:p xmlns:a="http://schemas.openxmlformats.org/drawingml/2006/main">
            <a:r>
              <a:t>Speaker notes for the six-slide class presentation. Use the slides as brief prompts and leave time for children to build, operate and explain. This is a robotics session with a small prepared Python recipe.</a:t>
            </a:r>
          </a:p>
          <a:p xmlns:a="http://schemas.openxmlformats.org/drawingml/2006/main">
            <a:r>
              <a:t/>
            </a:r>
          </a:p>
          <a:p xmlns:a="http://schemas.openxmlformats.org/drawingml/2006/main">
            <a:r>
              <a:t>Class setup</a:t>
            </a:r>
          </a:p>
          <a:p xmlns:a="http://schemas.openxmlformats.org/drawingml/2006/main">
            <a:r>
              <a:t/>
            </a:r>
          </a:p>
          <a:p xmlns:a="http://schemas.openxmlformats.org/drawingml/2006/main">
            <a:r>
              <a:t>12 children in grades 5–6 form four teams of three: T1/T2 share Kit A and T3/T4 share Kit B. Four student instructors cover two robot stations and two build tables; a fifth or sixth can float. The adult lead oversees the room and YMCA procedures. Bring four available laptops: two remain connected to robots and two show build references. Printed build cards make the build activity work with two laptops too.</a:t>
            </a:r>
          </a:p>
          <a:p xmlns:a="http://schemas.openxmlformats.org/drawingml/2006/main">
            <a:r>
              <a:t/>
            </a:r>
          </a:p>
          <a:p xmlns:a="http://schemas.openxmlformats.org/drawingml/2006/main">
            <a:r>
              <a:t>Learning goal Each child uses measured bright and dark readings to choose a threshold and explain a repeated sensor check.</a:t>
            </a:r>
          </a:p>
          <a:p xmlns:a="http://schemas.openxmlformats.org/drawingml/2006/main">
            <a:r>
              <a:t/>
            </a:r>
          </a:p>
          <a:p xmlns:a="http://schemas.openxmlformats.org/drawingml/2006/main">
            <a:r>
              <a:t>Minimum success The robot stops on a wide dark floor marker in at least one of two trials, and the team explains its chosen threshold using observations.</a:t>
            </a:r>
          </a:p>
          <a:p xmlns:a="http://schemas.openxmlformats.org/drawingml/2006/main">
            <a:r>
              <a:t/>
            </a:r>
          </a:p>
          <a:p xmlns:a="http://schemas.openxmlformats.org/drawingml/2006/main">
            <a:r>
              <a:t>Prepare Mount sensor roughly 1–2 cm above the surface as a starting setup, then bench-adjust until bright and dark readings clearly differ. Open W05_marker.py. Put the marker about 25 cm ahead of the sensor starting position. Retest under room lighting. Prepare two mentor examples and four labeled team build packs. Rehearse attachment clearance, a hand test and a quick swap. Show the hub color guide.</a:t>
            </a:r>
          </a:p>
          <a:p xmlns:a="http://schemas.openxmlformats.org/drawingml/2006/main">
            <a:r>
              <a:t/>
            </a:r>
          </a:p>
          <a:p xmlns:a="http://schemas.openxmlformats.org/drawingml/2006/main">
            <a:r>
              <a:t>Materials and files Print and pack from the matching checklist in 01_Instructor/Class_Preparation. Use the team sheet and build card. Keep the original two bases assembled, A left/B right, auxiliary motor unplugged; add C/D only as the lessons require. Hardware rehearsal remains required.</a:t>
            </a:r>
          </a:p>
          <a:p xmlns:a="http://schemas.openxmlformats.org/drawingml/2006/main">
            <a:r>
              <a:t/>
            </a:r>
          </a:p>
          <a:p xmlns:a="http://schemas.openxmlformats.org/drawingml/2006/main">
            <a:r>
              <a:t>Slide 1 The floor tells the robot</a:t>
            </a:r>
          </a:p>
          <a:p xmlns:a="http://schemas.openxmlformats.org/drawingml/2006/main">
            <a:r>
              <a:t/>
            </a:r>
          </a:p>
          <a:p xmlns:a="http://schemas.openxmlformats.org/drawingml/2006/main">
            <a:r>
              <a:t>Timing 0–5 minutes</a:t>
            </a:r>
          </a:p>
          <a:p xmlns:a="http://schemas.openxmlformats.org/drawingml/2006/main">
            <a:r>
              <a:t/>
            </a:r>
          </a:p>
          <a:p xmlns:a="http://schemas.openxmlformats.org/drawingml/2006/main">
            <a:r>
              <a:t>Say “Today’s challenge is a floor marker delivery stop. You will predict, test, and use evidence to explain your choice. All three teammates will operate and explain.”</a:t>
            </a:r>
          </a:p>
          <a:p xmlns:a="http://schemas.openxmlformats.org/drawingml/2006/main">
            <a:r>
              <a:t/>
            </a:r>
          </a:p>
          <a:p xmlns:a="http://schemas.openxmlformats.org/drawingml/2006/main">
            <a:r>
              <a:t>Ask before explaining What did the distance sensor provide, and who decided to stop?</a:t>
            </a:r>
          </a:p>
          <a:p xmlns:a="http://schemas.openxmlformats.org/drawingml/2006/main">
            <a:r>
              <a:t/>
            </a:r>
          </a:p>
          <a:p xmlns:a="http://schemas.openxmlformats.org/drawingml/2006/main">
            <a:r>
              <a:t>Listen for The sensor provided a reading; the program compared it with a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Todays robot challenge</a:t>
            </a:r>
          </a:p>
          <a:p xmlns:a="http://schemas.openxmlformats.org/drawingml/2006/main">
            <a:r>
              <a:t/>
            </a:r>
          </a:p>
          <a:p xmlns:a="http://schemas.openxmlformats.org/drawingml/2006/main">
            <a:r>
              <a:t>Timing 5–10 minutes</a:t>
            </a:r>
          </a:p>
          <a:p xmlns:a="http://schemas.openxmlformats.org/drawingml/2006/main">
            <a:r>
              <a:t/>
            </a:r>
          </a:p>
          <a:p xmlns:a="http://schemas.openxmlformats.org/drawingml/2006/main">
            <a:r>
              <a:t>Purpose Each student uses measured bright and dark readings to choose a threshold and explain a repeated sensor check.</a:t>
            </a:r>
          </a:p>
          <a:p xmlns:a="http://schemas.openxmlformats.org/drawingml/2006/main">
            <a:r>
              <a:t/>
            </a:r>
          </a:p>
          <a:p xmlns:a="http://schemas.openxmlformats.org/drawingml/2006/main">
            <a:r>
              <a:t>Do and explain Hold the robot still over light and dark surfaces. Show reflection values, whose scale is 0–100. Choose a threshold between observed readings. This lesson detects one stop marker, not a line-following route.</a:t>
            </a:r>
          </a:p>
          <a:p xmlns:a="http://schemas.openxmlformats.org/drawingml/2006/main">
            <a:r>
              <a:t/>
            </a:r>
          </a:p>
          <a:p xmlns:a="http://schemas.openxmlformats.org/drawingml/2006/main">
            <a:r>
              <a:t>Suggested words “Our useful result today is this: The robot stops on a wide dark floor marker in at least one of two trials, and the team explains its chosen threshold using observations. A test that misses still gives us information if we record it accurately.”</a:t>
            </a:r>
          </a:p>
          <a:p xmlns:a="http://schemas.openxmlformats.org/drawingml/2006/main">
            <a:r>
              <a:t/>
            </a:r>
          </a:p>
          <a:p xmlns:a="http://schemas.openxmlformats.org/drawingml/2006/main">
            <a:r>
              <a:t>Ask “What did the robot do? What evidence could we record? What must stay the same when we compare the next run?” Let a different student answer each question.</a:t>
            </a:r>
          </a:p>
          <a:p xmlns:a="http://schemas.openxmlformats.org/drawingml/2006/main">
            <a:r>
              <a:t/>
            </a:r>
          </a:p>
          <a:p xmlns:a="http://schemas.openxmlformats.org/drawingml/2006/main">
            <a:r>
              <a:t>If the example fails Always stops: sensor starts on dark tape or threshold is too high. Never stops: tape lacks contrast, sensor is too high, threshold is too low, or 24 steps cannot reach the marker. Check a stationary reading first. Allow one quick reset, then use the prepared stationary or paper explanation. Student testing time should not become a repair demonstration.</a:t>
            </a:r>
          </a:p>
          <a:p xmlns:a="http://schemas.openxmlformats.org/drawingml/2006/main">
            <a:r>
              <a:t/>
            </a:r>
          </a:p>
          <a:p xmlns:a="http://schemas.openxmlformats.org/drawingml/2006/main">
            <a:r>
              <a:t>Hub check Read the light on the correct button: steady green center means powered on with a compatible OS and at least 20% battery; flashing orange center means charge; flashing red center means stop, power off and cool for 15 minutes. White center needs a compatible OS; flashing purple center means updating. Blue is the connection button: flashing means waiting for Bluetooth, steady means connected. A display letter is a program output, not a battery or connection status. See the full SPIKE Hub Color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Calibration and repeated decisions and prediction</a:t>
            </a:r>
          </a:p>
          <a:p xmlns:a="http://schemas.openxmlformats.org/drawingml/2006/main">
            <a:r>
              <a:t/>
            </a:r>
          </a:p>
          <a:p xmlns:a="http://schemas.openxmlformats.org/drawingml/2006/main">
            <a:r>
              <a:t>Timing 10–14 minutes</a:t>
            </a:r>
          </a:p>
          <a:p xmlns:a="http://schemas.openxmlformats.org/drawingml/2006/main">
            <a:r>
              <a:t/>
            </a:r>
          </a:p>
          <a:p xmlns:a="http://schemas.openxmlformats.org/drawingml/2006/main">
            <a:r>
              <a:t>threshold = 40</a:t>
            </a:r>
          </a:p>
          <a:p xmlns:a="http://schemas.openxmlformats.org/drawingml/2006/main">
            <a:r>
              <a:t>reading = color_sensor.reflection(port.D)</a:t>
            </a:r>
          </a:p>
          <a:p xmlns:a="http://schemas.openxmlformats.org/drawingml/2006/main">
            <a:r>
              <a:t>if reading &lt; threshold:</a:t>
            </a:r>
          </a:p>
          <a:p xmlns:a="http://schemas.openxmlformats.org/drawingml/2006/main">
            <a:r>
              <a:t>    await signal("M")</a:t>
            </a:r>
          </a:p>
          <a:p xmlns:a="http://schemas.openxmlformats.org/drawingml/2006/main">
            <a:r>
              <a:t/>
            </a:r>
          </a:p>
          <a:p xmlns:a="http://schemas.openxmlformats.org/drawingml/2006/main">
            <a:r>
              <a:t>Say “Reflection tells us how much light comes back from the surface. We will measure our materials and choose a dividing number.”</a:t>
            </a:r>
          </a:p>
          <a:p xmlns:a="http://schemas.openxmlformats.org/drawingml/2006/main">
            <a:r>
              <a:t/>
            </a:r>
          </a:p>
          <a:p xmlns:a="http://schemas.openxmlformats.org/drawingml/2006/main">
            <a:r>
              <a:t>Point The slide shows reading &lt; threshold. The comparison is strict: a reading exactly equal to the threshold does not count as dark. The scale is 0–100, not millimeters.</a:t>
            </a:r>
          </a:p>
          <a:p xmlns:a="http://schemas.openxmlformats.org/drawingml/2006/main">
            <a:r>
              <a:t/>
            </a:r>
          </a:p>
          <a:p xmlns:a="http://schemas.openxmlformats.org/drawingml/2006/main">
            <a:r>
              <a:t>Keep the claim accurate This program detects a stop strip; it does not steer along a line. The marker must be wide enough to be sampled between movements. Keep the limit and use a clear runout. The helper accepts thresholds 1–99.</a:t>
            </a:r>
          </a:p>
          <a:p xmlns:a="http://schemas.openxmlformats.org/drawingml/2006/main">
            <a:r>
              <a:t/>
            </a:r>
          </a:p>
          <a:p xmlns:a="http://schemas.openxmlformats.org/drawingml/2006/main">
            <a:r>
              <a:t>Ask If dark reads 12 and light reads 76, is 44 a useful threshold? What happens if the threshold is below both readings?</a:t>
            </a:r>
          </a:p>
          <a:p xmlns:a="http://schemas.openxmlformats.org/drawingml/2006/main">
            <a:r>
              <a:t/>
            </a:r>
          </a:p>
          <a:p xmlns:a="http://schemas.openxmlformats.org/drawingml/2006/main">
            <a:r>
              <a:t>Expected reasoning 44 lies between 12 and 76. A threshold below both readings never recognizes either as dark. For 20 and 70, 45 is a reasonable starting threshold, then test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Our robot and build jobs</a:t>
            </a:r>
          </a:p>
          <a:p xmlns:a="http://schemas.openxmlformats.org/drawingml/2006/main">
            <a:r>
              <a:t/>
            </a:r>
          </a:p>
          <a:p xmlns:a="http://schemas.openxmlformats.org/drawingml/2006/main">
            <a:r>
              <a:t>Timing 14–38 then retests minutes</a:t>
            </a:r>
          </a:p>
          <a:p xmlns:a="http://schemas.openxmlformats.org/drawingml/2006/main">
            <a:r>
              <a:t/>
            </a:r>
          </a:p>
          <a:p xmlns:a="http://schemas.openxmlformats.org/drawingml/2006/main">
            <a:r>
              <a:t>Station map 14–26: T1/T3 use robots and T2/T4 build. 26–38: teams switch stations. 38–44: T1/T3 retest while the other teams finish builds. 44–50: T2/T4 retest. Rotate roles at 18, 22, 30, 34, 40, 42, 46 and 48 minutes. Each team has 18 robot minutes, giving each child about six minutes as driver plus handling, observing and building. Transitions occur within these blocks.</a:t>
            </a:r>
          </a:p>
          <a:p xmlns:a="http://schemas.openxmlformats.org/drawingml/2006/main">
            <a:r>
              <a:t/>
            </a:r>
          </a:p>
          <a:p xmlns:a="http://schemas.openxmlformats.org/drawingml/2006/main">
            <a:r>
              <a:t>Jobs At the robot, the driver edits and starts after “clear.” The navigator reads the step, predicts, positions the stopped robot and payload, fits an approved attachment and checks the lane. The observer watches, measures and records one number, tick or phrase. Rotate all three jobs every four minutes in the first turn and every two minutes in the retest. At the build table, rotate builder, designer/parts manager and tester/reporter on the same timer. Everyone contributes hands-on work.</a:t>
            </a:r>
          </a:p>
          <a:p xmlns:a="http://schemas.openxmlformats.org/drawingml/2006/main">
            <a:r>
              <a:t/>
            </a:r>
          </a:p>
          <a:p xmlns:a="http://schemas.openxmlformats.org/drawingml/2006/main">
            <a:r>
              <a:t>Robot steps 1. Read the stationary sensor over the light surface and dark marker. Record each twice. Choose a value between the two clusters of readings. 2. Enter that value as threshold. Place the sensor behind the marker at the marked start. Run the bounded marker routine, which checks before each short movement. 3. Observe whether the robot stops with its sensor above the tape. Record the stop reason: marker or limit. Keep a clear runout beyond the strip. 4. Swap roles and repeat from the same start. If it misses, check sensor height, threshold, tape width, and start distance in that order. Change one thing. 5. Use the final turn to test the revised setting and explain how a measured threshold differs from a guessed number.</a:t>
            </a:r>
          </a:p>
          <a:p xmlns:a="http://schemas.openxmlformats.org/drawingml/2006/main">
            <a:r>
              <a:t/>
            </a:r>
          </a:p>
          <a:p xmlns:a="http://schemas.openxmlformats.org/drawingml/2006/main">
            <a:r>
              <a:t>Build A road with a delivery marker. Build a flat road section with one clear dark stopping band and a small delivery platform beside it. Join flat tiles without raised edges in the wheel path. Add one wide dark band across the sensor path and a delivery platform off the lane. Slide the footprint template through the route and remove catches or loose tape. Test: Flat route, one visible marker and clear wheel/sensor paths. Mentor verifies the marker is wide enough for the tested movement step.</a:t>
            </a:r>
          </a:p>
          <a:p xmlns:a="http://schemas.openxmlformats.org/drawingml/2006/main">
            <a:r>
              <a:t/>
            </a:r>
          </a:p>
          <a:p xmlns:a="http://schemas.openxmlformats.org/drawingml/2006/main">
            <a:r>
              <a:t>Connection to robot Robot teams measure the actual bright/dark readings. Use those measurements to choose the threshold; a colored decoration is not automatically a reliable marker.</a:t>
            </a:r>
          </a:p>
          <a:p xmlns:a="http://schemas.openxmlformats.org/drawingml/2006/main">
            <a:r>
              <a:t/>
            </a:r>
          </a:p>
          <a:p xmlns:a="http://schemas.openxmlformats.org/drawingml/2006/main">
            <a:r>
              <a:t>Coaching Ask for an observation before suggesting a change. Help with one connection or edit, then return control. Typing can be assisted; the child still chooses, predicts and starts the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Evidence from our test</a:t>
            </a:r>
          </a:p>
          <a:p xmlns:a="http://schemas.openxmlformats.org/drawingml/2006/main">
            <a:r>
              <a:t/>
            </a:r>
          </a:p>
          <a:p xmlns:a="http://schemas.openxmlformats.org/drawingml/2006/main">
            <a:r>
              <a:t>Timing 38–50 minutes in two six-minute retests.</a:t>
            </a:r>
          </a:p>
          <a:p xmlns:a="http://schemas.openxmlformats.org/drawingml/2006/main">
            <a:r>
              <a:t/>
            </a:r>
          </a:p>
          <a:p xmlns:a="http://schemas.openxmlformats.org/drawingml/2006/main">
            <a:r>
              <a:t>Evidence At the robot: each child makes a prediction and takes a driver turn. Keep one number, tick or short phrase per trial. At the build table: show the model and its hand-test result. Two bright readings, two dark readings, chosen threshold, and two run outcomes. Individual exit: explain a threshold for dark 20 and bright 70.</a:t>
            </a:r>
          </a:p>
          <a:p xmlns:a="http://schemas.openxmlformats.org/drawingml/2006/main">
            <a:r>
              <a:t/>
            </a:r>
          </a:p>
          <a:p xmlns:a="http://schemas.openxmlformats.org/drawingml/2006/main">
            <a:r>
              <a:t>Ask What changed? What stayed the same? What did the real run show? Record a tick, short phrase or number at the robot. The build table tests the model by hand rather than repeating a worksheet.</a:t>
            </a:r>
          </a:p>
          <a:p xmlns:a="http://schemas.openxmlformats.org/drawingml/2006/main">
            <a:r>
              <a:t/>
            </a:r>
          </a:p>
          <a:p xmlns:a="http://schemas.openxmlformats.org/drawingml/2006/main">
            <a:r>
              <a:t>Troubleshooting Always stops: sensor starts on dark tape or threshold is too high. Never stops: tape lacks contrast, sensor is too high, threshold is too low, or 24 steps cannot reach the marker. Check a stationary reading first.</a:t>
            </a:r>
          </a:p>
          <a:p xmlns:a="http://schemas.openxmlformats.org/drawingml/2006/main">
            <a:r>
              <a:t/>
            </a:r>
          </a:p>
          <a:p xmlns:a="http://schemas.openxmlformats.org/drawingml/2006/main">
            <a:r>
              <a:t>Support Use a number line and ask students to choose any value clearly between dark and bright. Mentor pre-mounts the bracket and helps type the condition.</a:t>
            </a:r>
          </a:p>
          <a:p xmlns:a="http://schemas.openxmlformats.org/drawingml/2006/main">
            <a:r>
              <a:t/>
            </a:r>
          </a:p>
          <a:p xmlns:a="http://schemas.openxmlformats.org/drawingml/2006/main">
            <a:r>
              <a:t>Extension Compare results with the room lights or surface changed. Recalibrate and explain why the old threshold may fail. An advanced student can count steps without removing the 24-step limit.</a:t>
            </a:r>
          </a:p>
          <a:p xmlns:a="http://schemas.openxmlformats.org/drawingml/2006/main">
            <a:r>
              <a:t/>
            </a:r>
          </a:p>
          <a:p xmlns:a="http://schemas.openxmlformats.org/drawingml/2006/main">
            <a:r>
              <a:t>If needed Use reflected light intensity on D. Set found false. Repeat 24 times: if not found, check reading; if below threshold, set found true; else move a small increment. End with a marker or limit signal. Use the same measured threshold if the block reports the same 0–100 scale.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What we learned and noticed</a:t>
            </a:r>
          </a:p>
          <a:p xmlns:a="http://schemas.openxmlformats.org/drawingml/2006/main">
            <a:r>
              <a:t/>
            </a:r>
          </a:p>
          <a:p xmlns:a="http://schemas.openxmlformats.org/drawingml/2006/main">
            <a:r>
              <a:t>Timing 50–54 minutes for reflection; 54–60 for saving, packing and pickup.</a:t>
            </a:r>
          </a:p>
          <a:p xmlns:a="http://schemas.openxmlformats.org/drawingml/2006/main">
            <a:r>
              <a:t/>
            </a:r>
          </a:p>
          <a:p xmlns:a="http://schemas.openxmlformats.org/drawingml/2006/main">
            <a:r>
              <a:t>Ask each child What did you learn about detecting a marker? What did you observe on light and dark surfaces? What would you change in the road or next test?</a:t>
            </a:r>
          </a:p>
          <a:p xmlns:a="http://schemas.openxmlformats.org/drawingml/2006/main">
            <a:r>
              <a:t/>
            </a:r>
          </a:p>
          <a:p xmlns:a="http://schemas.openxmlformats.org/drawingml/2006/main">
            <a:r>
              <a:t>Facilitate Run two pod conversations in parallel. Give each of the six children about 20–30 seconds for one chosen prompt. Invite a concrete observation from the robot or build. Accept pointing, a demonstration or a short sentence.</a:t>
            </a:r>
          </a:p>
          <a:p xmlns:a="http://schemas.openxmlformats.org/drawingml/2006/main">
            <a:r>
              <a:t/>
            </a:r>
          </a:p>
          <a:p xmlns:a="http://schemas.openxmlformats.org/drawingml/2006/main">
            <a:r>
              <a:t>Listen for 44 lies between 12 and 76. A threshold below both readings never recognizes either as dark. For 20 and 70, 45 is a reasonable starting threshold, then test it.</a:t>
            </a:r>
          </a:p>
          <a:p xmlns:a="http://schemas.openxmlformats.org/drawingml/2006/main">
            <a:r>
              <a:t/>
            </a:r>
          </a:p>
          <a:p xmlns:a="http://schemas.openxmlformats.org/drawingml/2006/main">
            <a:r>
              <a:t>Close Save T1–T4 projects, stop and park both robots, remove only approved temporary attachments, store four labeled builds and count parts. Follow YMCA pickup procedures.</a:t>
            </a:r>
          </a:p>
          <a:p xmlns:a="http://schemas.openxmlformats.org/drawingml/2006/main">
            <a:r>
              <a:t/>
            </a:r>
          </a:p>
          <a:p xmlns:a="http://schemas.openxmlformats.org/drawingml/2006/main">
            <a:r>
              <a:t>Optional connection Sensor calibration helps a program work on a real playing field.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97b9c9c2b64f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92bc04930c4a3f" /><Relationship Type="http://schemas.openxmlformats.org/officeDocument/2006/relationships/slideLayout" Target="/ppt/slideLayouts/slideLayout1.xml" Id="R0caad9cdc65b47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aad9cdc65b47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105c9946a364083" /><Relationship Type="http://schemas.openxmlformats.org/officeDocument/2006/relationships/notesSlide" Target="/ppt/notesSlides/notesSlide1.xml" Id="R39f97a7f690f40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d9c35dcac24988" /><Relationship Type="http://schemas.openxmlformats.org/officeDocument/2006/relationships/notesSlide" Target="/ppt/notesSlides/notesSlide2.xml" Id="R57fd1eac685c47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03680f5c33143bd" /><Relationship Type="http://schemas.openxmlformats.org/officeDocument/2006/relationships/notesSlide" Target="/ppt/notesSlides/notesSlide3.xml" Id="Rbe61ba73466643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25b7f73b6274aef" /><Relationship Type="http://schemas.openxmlformats.org/officeDocument/2006/relationships/notesSlide" Target="/ppt/notesSlides/notesSlide4.xml" Id="R4e70e548e53c4e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d57b829aa0d44ed" /><Relationship Type="http://schemas.openxmlformats.org/officeDocument/2006/relationships/notesSlide" Target="/ppt/notesSlides/notesSlide5.xml" Id="Rdee4a0b2fb7140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4ad40c567c54c1e" /><Relationship Type="http://schemas.openxmlformats.org/officeDocument/2006/relationships/notesSlide" Target="/ppt/notesSlides/notesSlide6.xml" Id="R07fe9973ad474ede" /></Relationships>
</file>

<file path=ppt/slides/slide1.xml><?xml version="1.0" encoding="utf-8"?>
<p:sld xmlns:p="http://schemas.openxmlformats.org/presentationml/2006/main">
  <p:cSld>
    <p:bg>
      <p:bgPr>
        <a:solidFill xmlns:a="http://schemas.openxmlformats.org/drawingml/2006/main">
          <a:srgbClr val="17304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5E3B086-0B28-4048-823E-8217FB86EE78}"/>
              </a:ext>
            </a:extLst>
          </p:cNvPr>
          <p:cNvSpPr>
            <a:spLocks xmlns:a="http://schemas.openxmlformats.org/drawingml/2006/main" noGrp="1"/>
          </p:cNvSpPr>
          <p:nvPr/>
        </p:nvSpPr>
        <p:spPr>
          <a:xfrm xmlns:a="http://schemas.openxmlformats.org/drawingml/2006/main">
            <a:off x="762000" y="1257300"/>
            <a:ext cx="10572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100" b="1">
                <a:solidFill>
                  <a:srgbClr val="FFFFFF"/>
                </a:solidFill>
                <a:latin typeface="Arial"/>
                <a:ea typeface="Arial"/>
                <a:cs typeface="Arial"/>
              </a:defRPr>
            </a:pPr>
            <a:r>
              <a:rPr sz="5100" b="1">
                <a:solidFill>
                  <a:srgbClr val="FFFFFF"/>
                </a:solidFill>
                <a:latin typeface="Arial"/>
                <a:ea typeface="Arial"/>
                <a:cs typeface="Arial"/>
              </a:rPr>
              <a:t>The floor tells the robot</a:t>
            </a:r>
          </a:p>
        </p:txBody>
      </p:sp>
      <p:sp>
        <p:nvSpPr>
          <p:cNvPr id="2" name="">
            <a:extLst xmlns:a="http://schemas.openxmlformats.org/drawingml/2006/main">
              <a:ext uri="{FF2B5EF4-FFF2-40B4-BE49-F238E27FC236}">
                <a16:creationId xmlns:a16="http://schemas.microsoft.com/office/drawing/2014/main" id="{F916C526-A9F8-4CBF-A950-C798E2BBC931}"/>
              </a:ext>
            </a:extLst>
          </p:cNvPr>
          <p:cNvSpPr>
            <a:spLocks xmlns:a="http://schemas.openxmlformats.org/drawingml/2006/main" noGrp="1"/>
          </p:cNvSpPr>
          <p:nvPr/>
        </p:nvSpPr>
        <p:spPr>
          <a:xfrm xmlns:a="http://schemas.openxmlformats.org/drawingml/2006/main">
            <a:off x="800100" y="4000500"/>
            <a:ext cx="10382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9DDADD"/>
                </a:solidFill>
                <a:latin typeface="Arial"/>
                <a:ea typeface="Arial"/>
                <a:cs typeface="Arial"/>
              </a:defRPr>
            </a:pPr>
            <a:r>
              <a:rPr sz="2475" b="0">
                <a:solidFill>
                  <a:srgbClr val="9DDADD"/>
                </a:solidFill>
                <a:latin typeface="Arial"/>
                <a:ea typeface="Arial"/>
                <a:cs typeface="Arial"/>
              </a:rPr>
              <a:t>A dark marker identifies a delivery stop</a:t>
            </a:r>
          </a:p>
        </p:txBody>
      </p:sp>
      <p:sp>
        <p:nvSpPr>
          <p:cNvPr id="3" name="">
            <a:extLst xmlns:a="http://schemas.openxmlformats.org/drawingml/2006/main">
              <a:ext uri="{FF2B5EF4-FFF2-40B4-BE49-F238E27FC236}">
                <a16:creationId xmlns:a16="http://schemas.microsoft.com/office/drawing/2014/main" id="{86BD6EF5-9EDA-472C-B866-16DD8ACD9299}"/>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B9D4DC"/>
                </a:solidFill>
                <a:latin typeface="Arial"/>
                <a:ea typeface="Arial"/>
                <a:cs typeface="Arial"/>
              </a:defRPr>
            </a:pPr>
            <a:r>
              <a:rPr sz="1425" b="0">
                <a:solidFill>
                  <a:srgbClr val="B9D4DC"/>
                </a:solidFill>
                <a:latin typeface="Arial"/>
                <a:ea typeface="Arial"/>
                <a:cs typeface="Arial"/>
              </a:rPr>
              <a:t>Week 5 · MechaRAMS at the YMCA</a:t>
            </a:r>
          </a:p>
        </p:txBody>
      </p:sp>
    </p:spTree>
    <p:extLst>
      <p:ext uri="{BB962C8B-B14F-4D97-AF65-F5344CB8AC3E}">
        <p14:creationId xmlns:p14="http://schemas.microsoft.com/office/powerpoint/2010/main" val="1140909592"/>
      </p:ext>
    </p:extLst>
  </p:cSld>
</p:sld>
</file>

<file path=ppt/slides/slide2.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D55F2BD-4411-4680-A50D-AEDF2C6E93F7}"/>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Today’s robot challenge</a:t>
            </a:r>
          </a:p>
        </p:txBody>
      </p:sp>
      <p:sp>
        <p:nvSpPr>
          <p:cNvPr id="2" name="">
            <a:extLst xmlns:a="http://schemas.openxmlformats.org/drawingml/2006/main">
              <a:ext uri="{FF2B5EF4-FFF2-40B4-BE49-F238E27FC236}">
                <a16:creationId xmlns:a16="http://schemas.microsoft.com/office/drawing/2014/main" id="{42A4068C-3167-49F9-8F21-2D40CBAC4696}"/>
              </a:ext>
            </a:extLst>
          </p:cNvPr>
          <p:cNvSpPr>
            <a:spLocks xmlns:a="http://schemas.openxmlformats.org/drawingml/2006/main" noGrp="1"/>
          </p:cNvSpPr>
          <p:nvPr/>
        </p:nvSpPr>
        <p:spPr>
          <a:xfrm xmlns:a="http://schemas.openxmlformats.org/drawingml/2006/main">
            <a:off x="762000" y="1952625"/>
            <a:ext cx="1047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Bright and dark readings</a:t>
            </a:r>
          </a:p>
        </p:txBody>
      </p:sp>
      <p:sp>
        <p:nvSpPr>
          <p:cNvPr id="3" name="">
            <a:extLst xmlns:a="http://schemas.openxmlformats.org/drawingml/2006/main">
              <a:ext uri="{FF2B5EF4-FFF2-40B4-BE49-F238E27FC236}">
                <a16:creationId xmlns:a16="http://schemas.microsoft.com/office/drawing/2014/main" id="{B25AB337-626B-4D5A-85AC-ACF276F281B6}"/>
              </a:ext>
            </a:extLst>
          </p:cNvPr>
          <p:cNvSpPr>
            <a:spLocks xmlns:a="http://schemas.openxmlformats.org/drawingml/2006/main" noGrp="1"/>
          </p:cNvSpPr>
          <p:nvPr/>
        </p:nvSpPr>
        <p:spPr>
          <a:xfrm xmlns:a="http://schemas.openxmlformats.org/drawingml/2006/main">
            <a:off x="762000" y="3057525"/>
            <a:ext cx="1047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A threshold between the readings</a:t>
            </a:r>
          </a:p>
        </p:txBody>
      </p:sp>
      <p:sp>
        <p:nvSpPr>
          <p:cNvPr id="4" name="">
            <a:extLst xmlns:a="http://schemas.openxmlformats.org/drawingml/2006/main">
              <a:ext uri="{FF2B5EF4-FFF2-40B4-BE49-F238E27FC236}">
                <a16:creationId xmlns:a16="http://schemas.microsoft.com/office/drawing/2014/main" id="{4E7B760D-12EA-4A5D-960B-C0456DEDB25F}"/>
              </a:ext>
            </a:extLst>
          </p:cNvPr>
          <p:cNvSpPr>
            <a:spLocks xmlns:a="http://schemas.openxmlformats.org/drawingml/2006/main" noGrp="1"/>
          </p:cNvSpPr>
          <p:nvPr/>
        </p:nvSpPr>
        <p:spPr>
          <a:xfrm xmlns:a="http://schemas.openxmlformats.org/drawingml/2006/main">
            <a:off x="762000" y="4162425"/>
            <a:ext cx="104775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A wide marker and a repeated test</a:t>
            </a:r>
          </a:p>
        </p:txBody>
      </p:sp>
      <p:sp>
        <p:nvSpPr>
          <p:cNvPr id="6" name="">
            <a:extLst xmlns:a="http://schemas.openxmlformats.org/drawingml/2006/main">
              <a:ext uri="{FF2B5EF4-FFF2-40B4-BE49-F238E27FC236}">
                <a16:creationId xmlns:a16="http://schemas.microsoft.com/office/drawing/2014/main" id="{E00475AF-9309-45DF-BE59-7B52075D3E8C}"/>
              </a:ext>
            </a:extLst>
          </p:cNvPr>
          <p:cNvSpPr>
            <a:spLocks xmlns:a="http://schemas.openxmlformats.org/drawingml/2006/main" noGrp="1"/>
          </p:cNvSpPr>
          <p:nvPr/>
        </p:nvSpPr>
        <p:spPr>
          <a:xfrm xmlns:a="http://schemas.openxmlformats.org/drawingml/2006/main">
            <a:off x="762000" y="56864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17713A"/>
                </a:solidFill>
                <a:latin typeface="Arial"/>
                <a:ea typeface="Arial"/>
                <a:cs typeface="Arial"/>
              </a:defRPr>
            </a:defPPr>
          </a:lstStyle>
          <a:p xmlns:a="http://schemas.openxmlformats.org/drawingml/2006/main">
            <a:pPr>
              <a:buNone/>
              <a:defRPr sz="1575" b="1">
                <a:solidFill>
                  <a:srgbClr val="17713A"/>
                </a:solidFill>
                <a:latin typeface="Arial"/>
                <a:ea typeface="Arial"/>
                <a:cs typeface="Arial"/>
              </a:defRPr>
            </a:pPr>
            <a:r>
              <a:rPr sz="1575" b="1">
                <a:solidFill>
                  <a:srgbClr val="17713A"/>
                </a:solidFill>
                <a:latin typeface="Arial"/>
                <a:ea typeface="Arial"/>
                <a:cs typeface="Arial"/>
              </a:rPr>
              <a:t>GREEN steady: on</a:t>
            </a:r>
          </a:p>
        </p:txBody>
      </p:sp>
      <p:sp>
        <p:nvSpPr>
          <p:cNvPr id="7" name="">
            <a:extLst xmlns:a="http://schemas.openxmlformats.org/drawingml/2006/main">
              <a:ext uri="{FF2B5EF4-FFF2-40B4-BE49-F238E27FC236}">
                <a16:creationId xmlns:a16="http://schemas.microsoft.com/office/drawing/2014/main" id="{C839567B-596D-4CE0-9A5D-6B4E30774A4B}"/>
              </a:ext>
            </a:extLst>
          </p:cNvPr>
          <p:cNvSpPr>
            <a:spLocks xmlns:a="http://schemas.openxmlformats.org/drawingml/2006/main" noGrp="1"/>
          </p:cNvSpPr>
          <p:nvPr/>
        </p:nvSpPr>
        <p:spPr>
          <a:xfrm xmlns:a="http://schemas.openxmlformats.org/drawingml/2006/main">
            <a:off x="4381500" y="56864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915500"/>
                </a:solidFill>
                <a:latin typeface="Arial"/>
                <a:ea typeface="Arial"/>
                <a:cs typeface="Arial"/>
              </a:defRPr>
            </a:defPPr>
          </a:lstStyle>
          <a:p xmlns:a="http://schemas.openxmlformats.org/drawingml/2006/main">
            <a:pPr>
              <a:buNone/>
              <a:defRPr sz="1575" b="1">
                <a:solidFill>
                  <a:srgbClr val="915500"/>
                </a:solidFill>
                <a:latin typeface="Arial"/>
                <a:ea typeface="Arial"/>
                <a:cs typeface="Arial"/>
              </a:defRPr>
            </a:pPr>
            <a:r>
              <a:rPr sz="1575" b="1">
                <a:solidFill>
                  <a:srgbClr val="915500"/>
                </a:solidFill>
                <a:latin typeface="Arial"/>
                <a:ea typeface="Arial"/>
                <a:cs typeface="Arial"/>
              </a:rPr>
              <a:t>ORANGE flashing: charge</a:t>
            </a:r>
          </a:p>
        </p:txBody>
      </p:sp>
      <p:sp>
        <p:nvSpPr>
          <p:cNvPr id="8" name="">
            <a:extLst xmlns:a="http://schemas.openxmlformats.org/drawingml/2006/main">
              <a:ext uri="{FF2B5EF4-FFF2-40B4-BE49-F238E27FC236}">
                <a16:creationId xmlns:a16="http://schemas.microsoft.com/office/drawing/2014/main" id="{BCCE6CC8-4A0D-4A32-8D2D-8FC4E4741FFE}"/>
              </a:ext>
            </a:extLst>
          </p:cNvPr>
          <p:cNvSpPr>
            <a:spLocks xmlns:a="http://schemas.openxmlformats.org/drawingml/2006/main" noGrp="1"/>
          </p:cNvSpPr>
          <p:nvPr/>
        </p:nvSpPr>
        <p:spPr>
          <a:xfrm xmlns:a="http://schemas.openxmlformats.org/drawingml/2006/main">
            <a:off x="8001000" y="5686425"/>
            <a:ext cx="352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1">
                <a:solidFill>
                  <a:srgbClr val="B1292D"/>
                </a:solidFill>
                <a:latin typeface="Arial"/>
                <a:ea typeface="Arial"/>
                <a:cs typeface="Arial"/>
              </a:defRPr>
            </a:defPPr>
          </a:lstStyle>
          <a:p xmlns:a="http://schemas.openxmlformats.org/drawingml/2006/main">
            <a:pPr>
              <a:buNone/>
              <a:defRPr sz="1575" b="1">
                <a:solidFill>
                  <a:srgbClr val="B1292D"/>
                </a:solidFill>
                <a:latin typeface="Arial"/>
                <a:ea typeface="Arial"/>
                <a:cs typeface="Arial"/>
              </a:defRPr>
            </a:pPr>
            <a:r>
              <a:rPr sz="1575" b="1">
                <a:solidFill>
                  <a:srgbClr val="B1292D"/>
                </a:solidFill>
                <a:latin typeface="Arial"/>
                <a:ea typeface="Arial"/>
                <a:cs typeface="Arial"/>
              </a:rPr>
              <a:t>RED flashing: stop + mentor</a:t>
            </a:r>
          </a:p>
        </p:txBody>
      </p:sp>
      <p:sp>
        <p:nvSpPr>
          <p:cNvPr id="9" name="">
            <a:extLst xmlns:a="http://schemas.openxmlformats.org/drawingml/2006/main">
              <a:ext uri="{FF2B5EF4-FFF2-40B4-BE49-F238E27FC236}">
                <a16:creationId xmlns:a16="http://schemas.microsoft.com/office/drawing/2014/main" id="{4FD638C8-9503-4B72-A5B0-BB8EB246E949}"/>
              </a:ext>
            </a:extLst>
          </p:cNvPr>
          <p:cNvSpPr>
            <a:spLocks xmlns:a="http://schemas.openxmlformats.org/drawingml/2006/main" noGrp="1"/>
          </p:cNvSpPr>
          <p:nvPr/>
        </p:nvSpPr>
        <p:spPr>
          <a:xfrm xmlns:a="http://schemas.openxmlformats.org/drawingml/2006/main">
            <a:off x="762000" y="620077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36A77"/>
                </a:solidFill>
                <a:latin typeface="Arial"/>
                <a:ea typeface="Arial"/>
                <a:cs typeface="Arial"/>
              </a:defRPr>
            </a:defPPr>
          </a:lstStyle>
          <a:p xmlns:a="http://schemas.openxmlformats.org/drawingml/2006/main">
            <a:pPr>
              <a:buNone/>
              <a:defRPr sz="1425" b="0">
                <a:solidFill>
                  <a:srgbClr val="536A77"/>
                </a:solidFill>
                <a:latin typeface="Arial"/>
                <a:ea typeface="Arial"/>
                <a:cs typeface="Arial"/>
              </a:defRPr>
            </a:pPr>
            <a:r>
              <a:rPr sz="1425" b="0">
                <a:solidFill>
                  <a:srgbClr val="536A77"/>
                </a:solidFill>
                <a:latin typeface="Arial"/>
                <a:ea typeface="Arial"/>
                <a:cs typeface="Arial"/>
              </a:rPr>
              <a:t>Center button lights. A letter on the display is your program’s output.</a:t>
            </a:r>
          </a:p>
        </p:txBody>
      </p:sp>
    </p:spTree>
    <p:extLst>
      <p:ext uri="{BB962C8B-B14F-4D97-AF65-F5344CB8AC3E}">
        <p14:creationId xmlns:p14="http://schemas.microsoft.com/office/powerpoint/2010/main" val="712859357"/>
      </p:ext>
    </p:extLst>
  </p:cSld>
</p:sld>
</file>

<file path=ppt/slides/slide3.xml><?xml version="1.0" encoding="utf-8"?>
<p:sld xmlns:p="http://schemas.openxmlformats.org/presentationml/2006/main">
  <p:cSld>
    <p:bg>
      <p:bgPr>
        <a:solidFill xmlns:a="http://schemas.openxmlformats.org/drawingml/2006/main">
          <a:srgbClr val="17304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C9EA60F-89ED-4F0D-956E-14AA161B90AA}"/>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FFFFFF"/>
                </a:solidFill>
                <a:latin typeface="Arial"/>
                <a:ea typeface="Arial"/>
                <a:cs typeface="Arial"/>
              </a:defRPr>
            </a:defPPr>
          </a:lstStyle>
          <a:p xmlns:a="http://schemas.openxmlformats.org/drawingml/2006/main">
            <a:pPr>
              <a:buNone/>
              <a:defRPr sz="3600" b="1">
                <a:solidFill>
                  <a:srgbClr val="FFFFFF"/>
                </a:solidFill>
                <a:latin typeface="Arial"/>
                <a:ea typeface="Arial"/>
                <a:cs typeface="Arial"/>
              </a:defRPr>
            </a:pPr>
            <a:r>
              <a:rPr sz="3600" b="1">
                <a:solidFill>
                  <a:srgbClr val="FFFFFF"/>
                </a:solidFill>
                <a:latin typeface="Arial"/>
                <a:ea typeface="Arial"/>
                <a:cs typeface="Arial"/>
              </a:rPr>
              <a:t>Calibration and repeated decisions</a:t>
            </a:r>
          </a:p>
        </p:txBody>
      </p:sp>
      <p:sp>
        <p:nvSpPr>
          <p:cNvPr id="2" name="">
            <a:extLst xmlns:a="http://schemas.openxmlformats.org/drawingml/2006/main">
              <a:ext uri="{FF2B5EF4-FFF2-40B4-BE49-F238E27FC236}">
                <a16:creationId xmlns:a16="http://schemas.microsoft.com/office/drawing/2014/main" id="{80548046-4205-4747-A81A-98A6AC2C9442}"/>
              </a:ext>
            </a:extLst>
          </p:cNvPr>
          <p:cNvSpPr>
            <a:spLocks xmlns:a="http://schemas.openxmlformats.org/drawingml/2006/main" noGrp="1"/>
          </p:cNvSpPr>
          <p:nvPr/>
        </p:nvSpPr>
        <p:spPr>
          <a:xfrm xmlns:a="http://schemas.openxmlformats.org/drawingml/2006/main">
            <a:off x="781050" y="1666875"/>
            <a:ext cx="10572750" cy="2505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FFFFFF"/>
                </a:solidFill>
                <a:latin typeface="Consolas"/>
                <a:ea typeface="Consolas"/>
                <a:cs typeface="Consolas"/>
              </a:defRPr>
            </a:defPPr>
          </a:lstStyle>
          <a:p xmlns:a="http://schemas.openxmlformats.org/drawingml/2006/main">
            <a:pPr>
              <a:buNone/>
              <a:defRPr sz="2325" b="0">
                <a:solidFill>
                  <a:srgbClr val="FFFFFF"/>
                </a:solidFill>
                <a:latin typeface="Consolas"/>
                <a:ea typeface="Consolas"/>
                <a:cs typeface="Consolas"/>
              </a:defRPr>
            </a:pPr>
            <a:r>
              <a:rPr sz="2325" b="0">
                <a:solidFill>
                  <a:srgbClr val="FFFFFF"/>
                </a:solidFill>
                <a:latin typeface="Consolas"/>
                <a:ea typeface="Consolas"/>
                <a:cs typeface="Consolas"/>
              </a:rPr>
              <a:t>threshold = 40</a:t>
            </a:r>
          </a:p>
          <a:p xmlns:a="http://schemas.openxmlformats.org/drawingml/2006/main">
            <a:pPr>
              <a:buNone/>
              <a:defRPr sz="2325" b="0">
                <a:solidFill>
                  <a:srgbClr val="FFFFFF"/>
                </a:solidFill>
                <a:latin typeface="Consolas"/>
                <a:ea typeface="Consolas"/>
                <a:cs typeface="Consolas"/>
              </a:defRPr>
            </a:pPr>
            <a:r>
              <a:rPr sz="2325" b="0">
                <a:solidFill>
                  <a:srgbClr val="FFFFFF"/>
                </a:solidFill>
                <a:latin typeface="Consolas"/>
                <a:ea typeface="Consolas"/>
                <a:cs typeface="Consolas"/>
              </a:rPr>
              <a:t>reading = color_sensor.reflection(port.D)</a:t>
            </a:r>
          </a:p>
          <a:p xmlns:a="http://schemas.openxmlformats.org/drawingml/2006/main">
            <a:pPr>
              <a:buNone/>
              <a:defRPr sz="2325" b="0">
                <a:solidFill>
                  <a:srgbClr val="FFFFFF"/>
                </a:solidFill>
                <a:latin typeface="Consolas"/>
                <a:ea typeface="Consolas"/>
                <a:cs typeface="Consolas"/>
              </a:defRPr>
            </a:pPr>
            <a:r>
              <a:rPr sz="2325" b="0">
                <a:solidFill>
                  <a:srgbClr val="FFFFFF"/>
                </a:solidFill>
                <a:latin typeface="Consolas"/>
                <a:ea typeface="Consolas"/>
                <a:cs typeface="Consolas"/>
              </a:rPr>
              <a:t>if reading &lt; threshold:</a:t>
            </a:r>
          </a:p>
          <a:p xmlns:a="http://schemas.openxmlformats.org/drawingml/2006/main">
            <a:pPr>
              <a:buNone/>
              <a:defRPr sz="2325" b="0">
                <a:solidFill>
                  <a:srgbClr val="FFFFFF"/>
                </a:solidFill>
                <a:latin typeface="Consolas"/>
                <a:ea typeface="Consolas"/>
                <a:cs typeface="Consolas"/>
              </a:defRPr>
            </a:pPr>
            <a:r>
              <a:rPr sz="2325" b="0">
                <a:solidFill>
                  <a:srgbClr val="FFFFFF"/>
                </a:solidFill>
                <a:latin typeface="Consolas"/>
                <a:ea typeface="Consolas"/>
                <a:cs typeface="Consolas"/>
              </a:rPr>
              <a:t>    await signal("M")</a:t>
            </a:r>
          </a:p>
        </p:txBody>
      </p:sp>
      <p:sp>
        <p:nvSpPr>
          <p:cNvPr id="3" name="">
            <a:extLst xmlns:a="http://schemas.openxmlformats.org/drawingml/2006/main">
              <a:ext uri="{FF2B5EF4-FFF2-40B4-BE49-F238E27FC236}">
                <a16:creationId xmlns:a16="http://schemas.microsoft.com/office/drawing/2014/main" id="{47686DCE-CCDA-4835-8832-58AFD862D2DD}"/>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B9D4DC"/>
                </a:solidFill>
                <a:latin typeface="Arial"/>
                <a:ea typeface="Arial"/>
                <a:cs typeface="Arial"/>
              </a:defRPr>
            </a:defPPr>
          </a:lstStyle>
          <a:p xmlns:a="http://schemas.openxmlformats.org/drawingml/2006/main">
            <a:pPr>
              <a:buNone/>
              <a:defRPr sz="1425" b="0">
                <a:solidFill>
                  <a:srgbClr val="B9D4DC"/>
                </a:solidFill>
                <a:latin typeface="Arial"/>
                <a:ea typeface="Arial"/>
                <a:cs typeface="Arial"/>
              </a:defRPr>
            </a:pPr>
            <a:r>
              <a:rPr sz="1425" b="0">
                <a:solidFill>
                  <a:srgbClr val="B9D4DC"/>
                </a:solidFill>
                <a:latin typeface="Arial"/>
                <a:ea typeface="Arial"/>
                <a:cs typeface="Arial"/>
              </a:rPr>
              <a:t>Reading fragment from the complete supplied project</a:t>
            </a:r>
          </a:p>
        </p:txBody>
      </p:sp>
      <p:sp>
        <p:nvSpPr>
          <p:cNvPr id="5" name="">
            <a:extLst xmlns:a="http://schemas.openxmlformats.org/drawingml/2006/main">
              <a:ext uri="{FF2B5EF4-FFF2-40B4-BE49-F238E27FC236}">
                <a16:creationId xmlns:a16="http://schemas.microsoft.com/office/drawing/2014/main" id="{2597664F-AF2A-4686-A6E8-3DAABA3406B9}"/>
              </a:ext>
            </a:extLst>
          </p:cNvPr>
          <p:cNvSpPr>
            <a:spLocks xmlns:a="http://schemas.openxmlformats.org/drawingml/2006/main" noGrp="1"/>
          </p:cNvSpPr>
          <p:nvPr/>
        </p:nvSpPr>
        <p:spPr>
          <a:xfrm xmlns:a="http://schemas.openxmlformats.org/drawingml/2006/main">
            <a:off x="781050" y="43148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9DDADD"/>
                </a:solidFill>
                <a:latin typeface="Arial"/>
                <a:ea typeface="Arial"/>
                <a:cs typeface="Arial"/>
              </a:defRPr>
            </a:defPPr>
          </a:lstStyle>
          <a:p xmlns:a="http://schemas.openxmlformats.org/drawingml/2006/main">
            <a:pPr>
              <a:buNone/>
              <a:defRPr sz="2100" b="1">
                <a:solidFill>
                  <a:srgbClr val="9DDADD"/>
                </a:solidFill>
                <a:latin typeface="Arial"/>
                <a:ea typeface="Arial"/>
                <a:cs typeface="Arial"/>
              </a:defRPr>
            </a:pPr>
            <a:r>
              <a:rPr sz="2100" b="1">
                <a:solidFill>
                  <a:srgbClr val="9DDADD"/>
                </a:solidFill>
                <a:latin typeface="Arial"/>
                <a:ea typeface="Arial"/>
                <a:cs typeface="Arial"/>
              </a:rPr>
              <a:t>Our prediction</a:t>
            </a:r>
          </a:p>
        </p:txBody>
      </p:sp>
      <p:sp>
        <p:nvSpPr>
          <p:cNvPr id="6" name="">
            <a:extLst xmlns:a="http://schemas.openxmlformats.org/drawingml/2006/main">
              <a:ext uri="{FF2B5EF4-FFF2-40B4-BE49-F238E27FC236}">
                <a16:creationId xmlns:a16="http://schemas.microsoft.com/office/drawing/2014/main" id="{76A80F6F-296A-4E6D-BCDD-95B0537D644A}"/>
              </a:ext>
            </a:extLst>
          </p:cNvPr>
          <p:cNvSpPr>
            <a:spLocks xmlns:a="http://schemas.openxmlformats.org/drawingml/2006/main" noGrp="1"/>
          </p:cNvSpPr>
          <p:nvPr/>
        </p:nvSpPr>
        <p:spPr>
          <a:xfrm xmlns:a="http://schemas.openxmlformats.org/drawingml/2006/main">
            <a:off x="781050" y="477202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Dark is 12 and light is 76. Is 44 a useful threshold?</a:t>
            </a:r>
          </a:p>
        </p:txBody>
      </p:sp>
      <p:sp>
        <p:nvSpPr>
          <p:cNvPr id="7" name="">
            <a:extLst xmlns:a="http://schemas.openxmlformats.org/drawingml/2006/main">
              <a:ext uri="{FF2B5EF4-FFF2-40B4-BE49-F238E27FC236}">
                <a16:creationId xmlns:a16="http://schemas.microsoft.com/office/drawing/2014/main" id="{9E42E89B-3BFB-48E3-B120-29D0FB35E5E6}"/>
              </a:ext>
            </a:extLst>
          </p:cNvPr>
          <p:cNvSpPr>
            <a:spLocks xmlns:a="http://schemas.openxmlformats.org/drawingml/2006/main" noGrp="1"/>
          </p:cNvSpPr>
          <p:nvPr/>
        </p:nvSpPr>
        <p:spPr>
          <a:xfrm xmlns:a="http://schemas.openxmlformats.org/drawingml/2006/main">
            <a:off x="781050" y="5400675"/>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FFFFFF"/>
                </a:solidFill>
                <a:latin typeface="Arial"/>
                <a:ea typeface="Arial"/>
                <a:cs typeface="Arial"/>
              </a:defRPr>
            </a:defPPr>
          </a:lstStyle>
          <a:p xmlns:a="http://schemas.openxmlformats.org/drawingml/2006/main">
            <a:pPr>
              <a:buNone/>
              <a:defRPr sz="2025" b="0">
                <a:solidFill>
                  <a:srgbClr val="FFFFFF"/>
                </a:solidFill>
                <a:latin typeface="Arial"/>
                <a:ea typeface="Arial"/>
                <a:cs typeface="Arial"/>
              </a:defRPr>
            </a:pPr>
            <a:r>
              <a:rPr sz="2025" b="0">
                <a:solidFill>
                  <a:srgbClr val="FFFFFF"/>
                </a:solidFill>
                <a:latin typeface="Arial"/>
                <a:ea typeface="Arial"/>
                <a:cs typeface="Arial"/>
              </a:rPr>
              <a:t>What if the threshold is below both readings?</a:t>
            </a:r>
          </a:p>
        </p:txBody>
      </p:sp>
    </p:spTree>
    <p:extLst>
      <p:ext uri="{BB962C8B-B14F-4D97-AF65-F5344CB8AC3E}">
        <p14:creationId xmlns:p14="http://schemas.microsoft.com/office/powerpoint/2010/main" val="479480293"/>
      </p:ext>
    </p:extLst>
  </p:cSld>
</p:sld>
</file>

<file path=ppt/slides/slide4.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3E60AE-B1E1-4D64-8950-23D3F9CC096C}"/>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73044"/>
                </a:solidFill>
                <a:latin typeface="Arial"/>
                <a:ea typeface="Arial"/>
                <a:cs typeface="Arial"/>
              </a:defRPr>
            </a:defPPr>
          </a:lstStyle>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Our robot and build jobs</a:t>
            </a:r>
          </a:p>
        </p:txBody>
      </p:sp>
      <p:sp>
        <p:nvSpPr>
          <p:cNvPr id="2" name="">
            <a:extLst xmlns:a="http://schemas.openxmlformats.org/drawingml/2006/main">
              <a:ext uri="{FF2B5EF4-FFF2-40B4-BE49-F238E27FC236}">
                <a16:creationId xmlns:a16="http://schemas.microsoft.com/office/drawing/2014/main" id="{39EC8EE6-5743-4DA1-82B3-0F375F9CA442}"/>
              </a:ext>
            </a:extLst>
          </p:cNvPr>
          <p:cNvSpPr>
            <a:spLocks xmlns:a="http://schemas.openxmlformats.org/drawingml/2006/main" noGrp="1"/>
          </p:cNvSpPr>
          <p:nvPr/>
        </p:nvSpPr>
        <p:spPr>
          <a:xfrm xmlns:a="http://schemas.openxmlformats.org/drawingml/2006/main">
            <a:off x="762000" y="18478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Driver edits and starts after “clear.”</a:t>
            </a:r>
          </a:p>
        </p:txBody>
      </p:sp>
      <p:sp>
        <p:nvSpPr>
          <p:cNvPr id="3" name="">
            <a:extLst xmlns:a="http://schemas.openxmlformats.org/drawingml/2006/main">
              <a:ext uri="{FF2B5EF4-FFF2-40B4-BE49-F238E27FC236}">
                <a16:creationId xmlns:a16="http://schemas.microsoft.com/office/drawing/2014/main" id="{038A3620-8186-4723-B90E-F499EFB1B520}"/>
              </a:ext>
            </a:extLst>
          </p:cNvPr>
          <p:cNvSpPr>
            <a:spLocks xmlns:a="http://schemas.openxmlformats.org/drawingml/2006/main" noGrp="1"/>
          </p:cNvSpPr>
          <p:nvPr/>
        </p:nvSpPr>
        <p:spPr>
          <a:xfrm xmlns:a="http://schemas.openxmlformats.org/drawingml/2006/main">
            <a:off x="762000" y="27813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Navigator predicts and resets the stopped robot.</a:t>
            </a:r>
          </a:p>
        </p:txBody>
      </p:sp>
      <p:sp>
        <p:nvSpPr>
          <p:cNvPr id="4" name="">
            <a:extLst xmlns:a="http://schemas.openxmlformats.org/drawingml/2006/main">
              <a:ext uri="{FF2B5EF4-FFF2-40B4-BE49-F238E27FC236}">
                <a16:creationId xmlns:a16="http://schemas.microsoft.com/office/drawing/2014/main" id="{CEE2686F-52F6-47E8-B4B1-194B1178CFFA}"/>
              </a:ext>
            </a:extLst>
          </p:cNvPr>
          <p:cNvSpPr>
            <a:spLocks xmlns:a="http://schemas.openxmlformats.org/drawingml/2006/main" noGrp="1"/>
          </p:cNvSpPr>
          <p:nvPr/>
        </p:nvSpPr>
        <p:spPr>
          <a:xfrm xmlns:a="http://schemas.openxmlformats.org/drawingml/2006/main">
            <a:off x="762000" y="37147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Observer watches, measures and records.</a:t>
            </a:r>
          </a:p>
        </p:txBody>
      </p:sp>
      <p:sp>
        <p:nvSpPr>
          <p:cNvPr id="5" name="">
            <a:extLst xmlns:a="http://schemas.openxmlformats.org/drawingml/2006/main">
              <a:ext uri="{FF2B5EF4-FFF2-40B4-BE49-F238E27FC236}">
                <a16:creationId xmlns:a16="http://schemas.microsoft.com/office/drawing/2014/main" id="{EBA92FAD-8BDF-49BA-93C0-CCCD6D09723D}"/>
              </a:ext>
            </a:extLst>
          </p:cNvPr>
          <p:cNvSpPr>
            <a:spLocks xmlns:a="http://schemas.openxmlformats.org/drawingml/2006/main" noGrp="1"/>
          </p:cNvSpPr>
          <p:nvPr/>
        </p:nvSpPr>
        <p:spPr>
          <a:xfrm xmlns:a="http://schemas.openxmlformats.org/drawingml/2006/main">
            <a:off x="762000" y="464820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3044"/>
                </a:solidFill>
                <a:latin typeface="Arial"/>
                <a:ea typeface="Arial"/>
                <a:cs typeface="Arial"/>
              </a:defRPr>
            </a:defPPr>
          </a:lstStyle>
          <a:p xmlns:a="http://schemas.openxmlformats.org/drawingml/2006/main">
            <a:pPr>
              <a:buNone/>
              <a:defRPr sz="2175" b="0">
                <a:solidFill>
                  <a:srgbClr val="173044"/>
                </a:solidFill>
                <a:latin typeface="Arial"/>
                <a:ea typeface="Arial"/>
                <a:cs typeface="Arial"/>
              </a:defRPr>
            </a:pPr>
            <a:r>
              <a:rPr sz="2175" b="0">
                <a:solidFill>
                  <a:srgbClr val="173044"/>
                </a:solidFill>
                <a:latin typeface="Arial"/>
                <a:ea typeface="Arial"/>
                <a:cs typeface="Arial"/>
              </a:rPr>
              <a:t>Other team builds. Everyone rotates jobs.</a:t>
            </a:r>
          </a:p>
        </p:txBody>
      </p:sp>
      <p:sp>
        <p:nvSpPr>
          <p:cNvPr id="7" name="">
            <a:extLst xmlns:a="http://schemas.openxmlformats.org/drawingml/2006/main">
              <a:ext uri="{FF2B5EF4-FFF2-40B4-BE49-F238E27FC236}">
                <a16:creationId xmlns:a16="http://schemas.microsoft.com/office/drawing/2014/main" id="{7D5D0A45-A7A8-4D63-8BEB-D6F8CA3EB424}"/>
              </a:ext>
            </a:extLst>
          </p:cNvPr>
          <p:cNvSpPr>
            <a:spLocks xmlns:a="http://schemas.openxmlformats.org/drawingml/2006/main" noGrp="1"/>
          </p:cNvSpPr>
          <p:nvPr/>
        </p:nvSpPr>
        <p:spPr>
          <a:xfrm xmlns:a="http://schemas.openxmlformats.org/drawingml/2006/main">
            <a:off x="762000" y="6181725"/>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0">
                <a:solidFill>
                  <a:srgbClr val="536A77"/>
                </a:solidFill>
                <a:latin typeface="Arial"/>
                <a:ea typeface="Arial"/>
                <a:cs typeface="Arial"/>
              </a:defRPr>
            </a:defPPr>
          </a:lstStyle>
          <a:p xmlns:a="http://schemas.openxmlformats.org/drawingml/2006/main">
            <a:pPr>
              <a:buNone/>
              <a:defRPr sz="1425" b="0">
                <a:solidFill>
                  <a:srgbClr val="536A77"/>
                </a:solidFill>
                <a:latin typeface="Arial"/>
                <a:ea typeface="Arial"/>
                <a:cs typeface="Arial"/>
              </a:defRPr>
            </a:pPr>
            <a:r>
              <a:rPr sz="1425" b="0">
                <a:solidFill>
                  <a:srgbClr val="536A77"/>
                </a:solidFill>
                <a:latin typeface="Arial"/>
                <a:ea typeface="Arial"/>
                <a:cs typeface="Arial"/>
              </a:rPr>
              <a:t>Robot turns: rotate every 4 minutes. Retests: every 2 minutes.</a:t>
            </a:r>
          </a:p>
        </p:txBody>
      </p:sp>
    </p:spTree>
    <p:extLst>
      <p:ext uri="{BB962C8B-B14F-4D97-AF65-F5344CB8AC3E}">
        <p14:creationId xmlns:p14="http://schemas.microsoft.com/office/powerpoint/2010/main" val="1368350623"/>
      </p:ext>
    </p:extLst>
  </p:cSld>
</p:sld>
</file>

<file path=ppt/slides/slide5.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F99DA4-BB46-4150-8729-4DA6BC03B00D}"/>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Evidence from our test</a:t>
            </a:r>
          </a:p>
        </p:txBody>
      </p:sp>
      <p:sp>
        <p:nvSpPr>
          <p:cNvPr id="2" name="">
            <a:extLst xmlns:a="http://schemas.openxmlformats.org/drawingml/2006/main">
              <a:ext uri="{FF2B5EF4-FFF2-40B4-BE49-F238E27FC236}">
                <a16:creationId xmlns:a16="http://schemas.microsoft.com/office/drawing/2014/main" id="{F2FBB427-075F-4240-AE2D-28D44C2834A7}"/>
              </a:ext>
            </a:extLst>
          </p:cNvPr>
          <p:cNvSpPr>
            <a:spLocks xmlns:a="http://schemas.openxmlformats.org/drawingml/2006/main" noGrp="1"/>
          </p:cNvSpPr>
          <p:nvPr/>
        </p:nvSpPr>
        <p:spPr>
          <a:xfrm xmlns:a="http://schemas.openxmlformats.org/drawingml/2006/main">
            <a:off x="762000" y="19526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We changed ____________________.</a:t>
            </a:r>
          </a:p>
        </p:txBody>
      </p:sp>
      <p:sp>
        <p:nvSpPr>
          <p:cNvPr id="3" name="">
            <a:extLst xmlns:a="http://schemas.openxmlformats.org/drawingml/2006/main">
              <a:ext uri="{FF2B5EF4-FFF2-40B4-BE49-F238E27FC236}">
                <a16:creationId xmlns:a16="http://schemas.microsoft.com/office/drawing/2014/main" id="{524AB78F-0535-4806-A174-799A5315F8EA}"/>
              </a:ext>
            </a:extLst>
          </p:cNvPr>
          <p:cNvSpPr>
            <a:spLocks xmlns:a="http://schemas.openxmlformats.org/drawingml/2006/main" noGrp="1"/>
          </p:cNvSpPr>
          <p:nvPr/>
        </p:nvSpPr>
        <p:spPr>
          <a:xfrm xmlns:a="http://schemas.openxmlformats.org/drawingml/2006/main">
            <a:off x="762000" y="28479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We predicted ____________________.</a:t>
            </a:r>
          </a:p>
        </p:txBody>
      </p:sp>
      <p:sp>
        <p:nvSpPr>
          <p:cNvPr id="4" name="">
            <a:extLst xmlns:a="http://schemas.openxmlformats.org/drawingml/2006/main">
              <a:ext uri="{FF2B5EF4-FFF2-40B4-BE49-F238E27FC236}">
                <a16:creationId xmlns:a16="http://schemas.microsoft.com/office/drawing/2014/main" id="{B74E50E9-49CD-4D6C-B264-746922A9699B}"/>
              </a:ext>
            </a:extLst>
          </p:cNvPr>
          <p:cNvSpPr>
            <a:spLocks xmlns:a="http://schemas.openxmlformats.org/drawingml/2006/main" noGrp="1"/>
          </p:cNvSpPr>
          <p:nvPr/>
        </p:nvSpPr>
        <p:spPr>
          <a:xfrm xmlns:a="http://schemas.openxmlformats.org/drawingml/2006/main">
            <a:off x="762000" y="37433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We observed ____________________.</a:t>
            </a:r>
          </a:p>
        </p:txBody>
      </p:sp>
      <p:sp>
        <p:nvSpPr>
          <p:cNvPr id="5" name="">
            <a:extLst xmlns:a="http://schemas.openxmlformats.org/drawingml/2006/main">
              <a:ext uri="{FF2B5EF4-FFF2-40B4-BE49-F238E27FC236}">
                <a16:creationId xmlns:a16="http://schemas.microsoft.com/office/drawing/2014/main" id="{3600172B-7DC9-4239-8BC7-AB3E56D8AA04}"/>
              </a:ext>
            </a:extLst>
          </p:cNvPr>
          <p:cNvSpPr>
            <a:spLocks xmlns:a="http://schemas.openxmlformats.org/drawingml/2006/main" noGrp="1"/>
          </p:cNvSpPr>
          <p:nvPr/>
        </p:nvSpPr>
        <p:spPr>
          <a:xfrm xmlns:a="http://schemas.openxmlformats.org/drawingml/2006/main">
            <a:off x="762000" y="46386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73044"/>
                </a:solidFill>
                <a:latin typeface="Arial"/>
                <a:ea typeface="Arial"/>
                <a:cs typeface="Arial"/>
              </a:defRPr>
            </a:pPr>
            <a:r>
              <a:rPr sz="2400" b="0">
                <a:solidFill>
                  <a:srgbClr val="173044"/>
                </a:solidFill>
                <a:latin typeface="Arial"/>
                <a:ea typeface="Arial"/>
                <a:cs typeface="Arial"/>
              </a:rPr>
              <a:t>Our next test would ____________________.</a:t>
            </a:r>
          </a:p>
        </p:txBody>
      </p:sp>
    </p:spTree>
    <p:extLst>
      <p:ext uri="{BB962C8B-B14F-4D97-AF65-F5344CB8AC3E}">
        <p14:creationId xmlns:p14="http://schemas.microsoft.com/office/powerpoint/2010/main" val="1347827769"/>
      </p:ext>
    </p:extLst>
  </p:cSld>
</p:sld>
</file>

<file path=ppt/slides/slide6.xml><?xml version="1.0" encoding="utf-8"?>
<p:sld xmlns:p="http://schemas.openxmlformats.org/presentationml/2006/main">
  <p:cSld>
    <p:bg>
      <p:bgPr>
        <a:solidFill xmlns:a="http://schemas.openxmlformats.org/drawingml/2006/main">
          <a:srgbClr val="FB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373B2EB-F711-439F-9DDD-E0C4FAF1E9E3}"/>
              </a:ext>
            </a:extLst>
          </p:cNvPr>
          <p:cNvSpPr>
            <a:spLocks xmlns:a="http://schemas.openxmlformats.org/drawingml/2006/main" noGrp="1"/>
          </p:cNvSpPr>
          <p:nvPr/>
        </p:nvSpPr>
        <p:spPr>
          <a:xfrm xmlns:a="http://schemas.openxmlformats.org/drawingml/2006/main">
            <a:off x="685800" y="4572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73044"/>
                </a:solidFill>
                <a:latin typeface="Arial"/>
                <a:ea typeface="Arial"/>
                <a:cs typeface="Arial"/>
              </a:defRPr>
            </a:defPPr>
          </a:lstStyle>
          <a:p xmlns:a="http://schemas.openxmlformats.org/drawingml/2006/main">
            <a:pPr>
              <a:buNone/>
              <a:defRPr sz="3600" b="1">
                <a:solidFill>
                  <a:srgbClr val="173044"/>
                </a:solidFill>
                <a:latin typeface="Arial"/>
                <a:ea typeface="Arial"/>
                <a:cs typeface="Arial"/>
              </a:defRPr>
            </a:pPr>
            <a:r>
              <a:rPr sz="3600" b="1">
                <a:solidFill>
                  <a:srgbClr val="173044"/>
                </a:solidFill>
                <a:latin typeface="Arial"/>
                <a:ea typeface="Arial"/>
                <a:cs typeface="Arial"/>
              </a:rPr>
              <a:t>What we learned and noticed</a:t>
            </a:r>
          </a:p>
        </p:txBody>
      </p:sp>
      <p:sp>
        <p:nvSpPr>
          <p:cNvPr id="2" name="">
            <a:extLst xmlns:a="http://schemas.openxmlformats.org/drawingml/2006/main">
              <a:ext uri="{FF2B5EF4-FFF2-40B4-BE49-F238E27FC236}">
                <a16:creationId xmlns:a16="http://schemas.microsoft.com/office/drawing/2014/main" id="{5EFA1CB1-ACD6-4174-B2A1-F8243B8F8E9D}"/>
              </a:ext>
            </a:extLst>
          </p:cNvPr>
          <p:cNvSpPr>
            <a:spLocks xmlns:a="http://schemas.openxmlformats.org/drawingml/2006/main" noGrp="1"/>
          </p:cNvSpPr>
          <p:nvPr/>
        </p:nvSpPr>
        <p:spPr>
          <a:xfrm xmlns:a="http://schemas.openxmlformats.org/drawingml/2006/main">
            <a:off x="762000" y="1743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3044"/>
                </a:solidFill>
                <a:latin typeface="Arial"/>
                <a:ea typeface="Arial"/>
                <a:cs typeface="Arial"/>
              </a:defRPr>
            </a:defPPr>
          </a:lstStyle>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What did you learn about detecting a marker?</a:t>
            </a:r>
          </a:p>
        </p:txBody>
      </p:sp>
      <p:sp>
        <p:nvSpPr>
          <p:cNvPr id="3" name="">
            <a:extLst xmlns:a="http://schemas.openxmlformats.org/drawingml/2006/main">
              <a:ext uri="{FF2B5EF4-FFF2-40B4-BE49-F238E27FC236}">
                <a16:creationId xmlns:a16="http://schemas.microsoft.com/office/drawing/2014/main" id="{88864B98-01D4-4B4C-993E-23719D1AADA5}"/>
              </a:ext>
            </a:extLst>
          </p:cNvPr>
          <p:cNvSpPr>
            <a:spLocks xmlns:a="http://schemas.openxmlformats.org/drawingml/2006/main" noGrp="1"/>
          </p:cNvSpPr>
          <p:nvPr/>
        </p:nvSpPr>
        <p:spPr>
          <a:xfrm xmlns:a="http://schemas.openxmlformats.org/drawingml/2006/main">
            <a:off x="762000" y="2886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3044"/>
                </a:solidFill>
                <a:latin typeface="Arial"/>
                <a:ea typeface="Arial"/>
                <a:cs typeface="Arial"/>
              </a:defRPr>
            </a:defPPr>
          </a:lstStyle>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What did you observe on light and dark surfaces?</a:t>
            </a:r>
          </a:p>
        </p:txBody>
      </p:sp>
      <p:sp>
        <p:nvSpPr>
          <p:cNvPr id="4" name="">
            <a:extLst xmlns:a="http://schemas.openxmlformats.org/drawingml/2006/main">
              <a:ext uri="{FF2B5EF4-FFF2-40B4-BE49-F238E27FC236}">
                <a16:creationId xmlns:a16="http://schemas.microsoft.com/office/drawing/2014/main" id="{D3E6A290-FF95-4477-A4B0-2EBA9AE4C8CB}"/>
              </a:ext>
            </a:extLst>
          </p:cNvPr>
          <p:cNvSpPr>
            <a:spLocks xmlns:a="http://schemas.openxmlformats.org/drawingml/2006/main" noGrp="1"/>
          </p:cNvSpPr>
          <p:nvPr/>
        </p:nvSpPr>
        <p:spPr>
          <a:xfrm xmlns:a="http://schemas.openxmlformats.org/drawingml/2006/main">
            <a:off x="762000" y="4029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0">
                <a:solidFill>
                  <a:srgbClr val="173044"/>
                </a:solidFill>
                <a:latin typeface="Arial"/>
                <a:ea typeface="Arial"/>
                <a:cs typeface="Arial"/>
              </a:defRPr>
            </a:defPPr>
          </a:lstStyle>
          <a:p xmlns:a="http://schemas.openxmlformats.org/drawingml/2006/main">
            <a:pPr>
              <a:buNone/>
              <a:defRPr sz="2550" b="0">
                <a:solidFill>
                  <a:srgbClr val="173044"/>
                </a:solidFill>
                <a:latin typeface="Arial"/>
                <a:ea typeface="Arial"/>
                <a:cs typeface="Arial"/>
              </a:defRPr>
            </a:pPr>
            <a:r>
              <a:rPr sz="2550" b="0">
                <a:solidFill>
                  <a:srgbClr val="173044"/>
                </a:solidFill>
                <a:latin typeface="Arial"/>
                <a:ea typeface="Arial"/>
                <a:cs typeface="Arial"/>
              </a:rPr>
              <a:t>What would you change in the road or next test?</a:t>
            </a:r>
          </a:p>
        </p:txBody>
      </p:sp>
      <p:sp>
        <p:nvSpPr>
          <p:cNvPr id="6" name="">
            <a:extLst xmlns:a="http://schemas.openxmlformats.org/drawingml/2006/main">
              <a:ext uri="{FF2B5EF4-FFF2-40B4-BE49-F238E27FC236}">
                <a16:creationId xmlns:a16="http://schemas.microsoft.com/office/drawing/2014/main" id="{DEA4FE62-9C45-470B-8785-AA388AB3A23C}"/>
              </a:ext>
            </a:extLst>
          </p:cNvPr>
          <p:cNvSpPr>
            <a:spLocks xmlns:a="http://schemas.openxmlformats.org/drawingml/2006/main" noGrp="1"/>
          </p:cNvSpPr>
          <p:nvPr/>
        </p:nvSpPr>
        <p:spPr>
          <a:xfrm xmlns:a="http://schemas.openxmlformats.org/drawingml/2006/main">
            <a:off x="762000" y="57150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006E75"/>
                </a:solidFill>
                <a:latin typeface="Arial"/>
                <a:ea typeface="Arial"/>
                <a:cs typeface="Arial"/>
              </a:defRPr>
            </a:defPPr>
          </a:lstStyle>
          <a:p xmlns:a="http://schemas.openxmlformats.org/drawingml/2006/main">
            <a:pPr>
              <a:buNone/>
              <a:defRPr sz="2025" b="0">
                <a:solidFill>
                  <a:srgbClr val="006E75"/>
                </a:solidFill>
                <a:latin typeface="Arial"/>
                <a:ea typeface="Arial"/>
                <a:cs typeface="Arial"/>
              </a:defRPr>
            </a:pPr>
            <a:r>
              <a:rPr sz="2025" b="0">
                <a:solidFill>
                  <a:srgbClr val="006E75"/>
                </a:solidFill>
                <a:latin typeface="Arial"/>
                <a:ea typeface="Arial"/>
                <a:cs typeface="Arial"/>
              </a:rPr>
              <a:t>Save your team project. Store your build. Reset the robot and parts.</a:t>
            </a:r>
          </a:p>
        </p:txBody>
      </p:sp>
    </p:spTree>
    <p:extLst>
      <p:ext uri="{BB962C8B-B14F-4D97-AF65-F5344CB8AC3E}">
        <p14:creationId xmlns:p14="http://schemas.microsoft.com/office/powerpoint/2010/main" val="9359481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2026-10-25T23:31:45.5510000Z</dcterms:created>
  <dcterms:modified xsi:type="dcterms:W3CDTF">2026-10-25T23:31:45.5510000Z</dcterms:modified>
</coreProperties>
</file>