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133fd5438743fd" /><Relationship Type="http://schemas.openxmlformats.org/officeDocument/2006/relationships/extended-properties" Target="/docProps/app.xml" Id="Rb8d91a9ca2034ecd" /><Relationship Type="http://schemas.openxmlformats.org/officeDocument/2006/relationships/officeDocument" Target="/ppt/presentation.xml" Id="R6d01bc56c7a14d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2e32ec17d1424d"/>
  </p:sldMasterIdLst>
  <p:notesMasterIdLst>
    <p:notesMasterId xmlns:r="http://schemas.openxmlformats.org/officeDocument/2006/relationships" r:id="R91324d22329042f5"/>
  </p:notesMasterIdLst>
  <p:sldIdLst>
    <p:sldId xmlns:r="http://schemas.openxmlformats.org/officeDocument/2006/relationships" id="256" r:id="Rd9077120e2db44a9"/>
    <p:sldId xmlns:r="http://schemas.openxmlformats.org/officeDocument/2006/relationships" id="257" r:id="Ref6b9aa3cf304d4e"/>
    <p:sldId xmlns:r="http://schemas.openxmlformats.org/officeDocument/2006/relationships" id="258" r:id="R1d99a1e253674b0a"/>
    <p:sldId xmlns:r="http://schemas.openxmlformats.org/officeDocument/2006/relationships" id="259" r:id="R54e07c81727442b8"/>
    <p:sldId xmlns:r="http://schemas.openxmlformats.org/officeDocument/2006/relationships" id="260" r:id="R2841b18ed4db4bdc"/>
    <p:sldId xmlns:r="http://schemas.openxmlformats.org/officeDocument/2006/relationships" id="261" r:id="R41be7f6c19904a34"/>
    <p:sldId xmlns:r="http://schemas.openxmlformats.org/officeDocument/2006/relationships" id="262" r:id="R036b92177dfa47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431a4e014a4271" /><Relationship Type="http://schemas.openxmlformats.org/officeDocument/2006/relationships/slideMaster" Target="/ppt/slideMasters/slideMaster1.xml" Id="R072e32ec17d1424d" /><Relationship Type="http://schemas.openxmlformats.org/officeDocument/2006/relationships/notesMaster" Target="/ppt/notesMasters/notesMaster1.xml" Id="R91324d22329042f5" /><Relationship Type="http://schemas.openxmlformats.org/officeDocument/2006/relationships/presProps" Target="/ppt/presProps.xml" Id="R994d39f3ab174655" /><Relationship Type="http://schemas.openxmlformats.org/officeDocument/2006/relationships/tableStyles" Target="/ppt/tableStyles.xml" Id="R61d8f187b3724228" /><Relationship Type="http://schemas.openxmlformats.org/officeDocument/2006/relationships/slide" Target="/ppt/slides/slide1.xml" Id="Rd9077120e2db44a9" /><Relationship Type="http://schemas.openxmlformats.org/officeDocument/2006/relationships/slide" Target="/ppt/slides/slide2.xml" Id="Ref6b9aa3cf304d4e" /><Relationship Type="http://schemas.openxmlformats.org/officeDocument/2006/relationships/slide" Target="/ppt/slides/slide3.xml" Id="R1d99a1e253674b0a" /><Relationship Type="http://schemas.openxmlformats.org/officeDocument/2006/relationships/slide" Target="/ppt/slides/slide4.xml" Id="R54e07c81727442b8" /><Relationship Type="http://schemas.openxmlformats.org/officeDocument/2006/relationships/slide" Target="/ppt/slides/slide5.xml" Id="R2841b18ed4db4bdc" /><Relationship Type="http://schemas.openxmlformats.org/officeDocument/2006/relationships/slide" Target="/ppt/slides/slide6.xml" Id="R41be7f6c19904a34" /><Relationship Type="http://schemas.openxmlformats.org/officeDocument/2006/relationships/slide" Target="/ppt/slides/slide7.xml" Id="R036b92177dfa47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d51495f62745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544aa7187844b4" /><Relationship Type="http://schemas.openxmlformats.org/officeDocument/2006/relationships/notesMaster" Target="/ppt/notesMasters/notesMaster1.xml" Id="Re06137dd3b2342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60add4f8344165" /><Relationship Type="http://schemas.openxmlformats.org/officeDocument/2006/relationships/notesMaster" Target="/ppt/notesMasters/notesMaster1.xml" Id="Rdbdacc29715543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d838e185bb428d" /><Relationship Type="http://schemas.openxmlformats.org/officeDocument/2006/relationships/notesMaster" Target="/ppt/notesMasters/notesMaster1.xml" Id="R58bd6099533443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e338608a564568" /><Relationship Type="http://schemas.openxmlformats.org/officeDocument/2006/relationships/notesMaster" Target="/ppt/notesMasters/notesMaster1.xml" Id="R7901d5e201e04d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87c343b5a94f93" /><Relationship Type="http://schemas.openxmlformats.org/officeDocument/2006/relationships/notesMaster" Target="/ppt/notesMasters/notesMaster1.xml" Id="Rb675bf214cee45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9b448ac37c4eec" /><Relationship Type="http://schemas.openxmlformats.org/officeDocument/2006/relationships/notesMaster" Target="/ppt/notesMasters/notesMaster1.xml" Id="R126ae06bae334c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91c0416f5349cd" /><Relationship Type="http://schemas.openxmlformats.org/officeDocument/2006/relationships/notesMaster" Target="/ppt/notesMasters/notesMaster1.xml" Id="R727324ae39364d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0–5 minutes: welcome and retrieval. Could a strip on the floor tell a delivery robot where to stop?</a:t>
            </a:r>
          </a:p>
          <a:p xmlns:a="http://schemas.openxmlformats.org/drawingml/2006/main">
            <a:r>
              <a:t>Learning goal: Each student uses measured bright and dark readings to choose a threshold and explain a repeated sensor check.</a:t>
            </a:r>
          </a:p>
          <a:p xmlns:a="http://schemas.openxmlformats.org/drawingml/2006/main">
            <a:r>
              <a:t>Minimum success: The robot stops on a wide dark floor marker in at least one of two trials, and the pair explains its chosen threshold using observations.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5–10 minutes, or 7–12 in week 8. Hold the robot still over light and dark surfaces. Show reflection values, whose scale is 0–100. Choose a threshold between observed readings. This lesson detects one stop marker, not a line-following route.</a:t>
            </a:r>
          </a:p>
          <a:p xmlns:a="http://schemas.openxmlformats.org/drawingml/2006/main">
            <a:r>
              <a:t>Preparation: Mount sensor roughly 1–2 cm above the surface as a starting setup, then bench-adjust until bright and dark readings clearly differ. Open W05_marker.py. Put the marker about 25 cm ahead of the sensor starting position. Retest under room lighting.</a:t>
            </a:r>
          </a:p>
          <a:p xmlns:a="http://schemas.openxmlformats.org/drawingml/2006/main">
            <a:r>
              <a:t>The core challenge uses an assembled base and the supplied complete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discussion fragment. It belongs in the supplied project, not in an empty file. The student function is named student_recipe. Hold the robot still over light and dark surfaces. Show reflection values, whose scale is 0–100. Choose a threshold between observed readings. This lesson detects one stop marker, not a line-following route.</a:t>
            </a:r>
          </a:p>
          <a:p xmlns:a="http://schemas.openxmlformats.org/drawingml/2006/main">
            <a:r>
              <a:t>Expected reasoning: 44 lies between 12 and 76. A threshold below both readings never recognizes either as dark. For 20 and 70, 45 is a reasonable starting threshold, then test it.</a:t>
            </a:r>
          </a:p>
          <a:p xmlns:a="http://schemas.openxmlformats.org/drawingml/2006/main">
            <a:r>
              <a:t>Technical references: https://spike.legoeducation.com/prime/modal/help/lls-help-python ; https://tuftsceeo.github.io/SPIKEPythonDocs/SPIKE3.html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10–15 minutes in the standard lesson. If dark reads 12 and light reads 76, is 44 a useful threshold? What happens if the threshold is below both readings?</a:t>
            </a:r>
          </a:p>
          <a:p xmlns:a="http://schemas.openxmlformats.org/drawingml/2006/main">
            <a:r>
              <a:t>Do not reveal the answer immediately. Ask students to point to a line or a measured value. Expected reasoning: 44 lies between 12 and 76. A threshold below both readings never recognizes either as dark. For 20 and 70, 45 is a reasonable starting threshold, then test it.</a:t>
            </a:r>
          </a:p>
          <a:p xmlns:a="http://schemas.openxmlformats.org/drawingml/2006/main">
            <a:r>
              <a:t>Support: Use a number line and ask students to choose any value clearly between dark and bright. Mentor pre-mounts the bracket and helps type the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Robot and planning rotations. 1. Read the stationary sensor over the light surface and dark marker. Record each twice. Choose a value between the two clusters of readings.</a:t>
            </a:r>
          </a:p>
          <a:p xmlns:a="http://schemas.openxmlformats.org/drawingml/2006/main">
            <a:r>
              <a:t>2. Enter that value as threshold. Place the sensor behind the marker at the marked start. Run the bounded marker routine, which checks before each short movement.</a:t>
            </a:r>
          </a:p>
          <a:p xmlns:a="http://schemas.openxmlformats.org/drawingml/2006/main">
            <a:r>
              <a:t>3. Observe whether the robot stops with its sensor above the tape. Record the stop reason: marker or limit. Keep a clear runout beyond the strip.</a:t>
            </a:r>
          </a:p>
          <a:p xmlns:a="http://schemas.openxmlformats.org/drawingml/2006/main">
            <a:r>
              <a:t>4. Swap roles and repeat from the same start. If it misses, check sensor height, threshold, tape width, and start distance in that order. Change one thing.</a:t>
            </a:r>
          </a:p>
          <a:p xmlns:a="http://schemas.openxmlformats.org/drawingml/2006/main">
            <a:r>
              <a:t>5. Use the final turn to test the revised setting and explain how a measured threshold differs from a guessed number.</a:t>
            </a:r>
          </a:p>
          <a:p xmlns:a="http://schemas.openxmlformats.org/drawingml/2006/main">
            <a:r>
              <a:t>Off-robot task: Sort sample reflection values by a proposed threshold. Calculate or estimate the midpoint of bright and dark readings. Draw the position of the sensor when the robot should stop.</a:t>
            </a:r>
          </a:p>
          <a:p xmlns:a="http://schemas.openxmlformats.org/drawingml/2006/main">
            <a:r>
              <a:t>Week 8 schedule: 12–24 rehearsals, 24–28 setup, 28–44 demos. Otherwise 15–27 first pair, 27–39 second 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39–49 minutes for improvement in standard lessons. Two bright readings, two dark readings, chosen threshold, and two run outcomes. Individual exit: explain a threshold for dark 20 and bright 70.</a:t>
            </a:r>
          </a:p>
          <a:p xmlns:a="http://schemas.openxmlformats.org/drawingml/2006/main">
            <a:r>
              <a:t>Troubleshooting: Always stops: sensor starts on dark tape or threshold is too high. Never stops: tape lacks contrast, sensor is too high, threshold is too low, or 24 steps cannot reach the marker. Check a stationary reading first.</a:t>
            </a:r>
          </a:p>
          <a:p xmlns:a="http://schemas.openxmlformats.org/drawingml/2006/main">
            <a:r>
              <a:t>Optional extension: Compare results with the room lights or surface changed. Recalibrate and explain why the old threshold may fail. An advanced student can count steps without removing the 24-step limit.</a:t>
            </a:r>
          </a:p>
          <a:p xmlns:a="http://schemas.openxmlformats.org/drawingml/2006/main">
            <a:r>
              <a:t>If Python becomes a barrier, preserve the concept using this fallback: Use reflected light intensity on D. Set found false. Repeat 24 times: if not found, check reading; if below threshold, set found true; else move a small increment. End with a marker or limit signal. Use the same measured threshold if the block reports the same 0–100 scale.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49–54 minutes: individual explanation. Reserve 54–60 for saving and reset. 44 lies between 12 and 76. A threshold below both readings never recognizes either as dark. For 20 and 70, 45 is a reasonable starting threshold, then test it.</a:t>
            </a:r>
          </a:p>
          <a:p xmlns:a="http://schemas.openxmlformats.org/drawingml/2006/main">
            <a:r>
              <a:t>Sensor calibration helps a program work on a real playing field.</a:t>
            </a:r>
          </a:p>
          <a:p xmlns:a="http://schemas.openxmlformats.org/drawingml/2006/main">
            <a:r>
              <a:t>Keep invitations to future activities optional and parent-mediated. Do not equate club attendance with FRC membership.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d678a8a8d549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785cb2926e4b82" /><Relationship Type="http://schemas.openxmlformats.org/officeDocument/2006/relationships/slideLayout" Target="/ppt/slideLayouts/slideLayout1.xml" Id="R5beb14b406b046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eb14b406b046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df9abd8204888" /><Relationship Type="http://schemas.openxmlformats.org/officeDocument/2006/relationships/notesSlide" Target="/ppt/notesSlides/notesSlide1.xml" Id="R04346db1664e40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e92a4d5c8431b" /><Relationship Type="http://schemas.openxmlformats.org/officeDocument/2006/relationships/notesSlide" Target="/ppt/notesSlides/notesSlide2.xml" Id="R4e723f911bd641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2e5937aed4f2b" /><Relationship Type="http://schemas.openxmlformats.org/officeDocument/2006/relationships/notesSlide" Target="/ppt/notesSlides/notesSlide3.xml" Id="R1d24bd88dc78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8c3f9521d4d1a" /><Relationship Type="http://schemas.openxmlformats.org/officeDocument/2006/relationships/notesSlide" Target="/ppt/notesSlides/notesSlide4.xml" Id="Ra965c128c25349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5cb63cba44036" /><Relationship Type="http://schemas.openxmlformats.org/officeDocument/2006/relationships/notesSlide" Target="/ppt/notesSlides/notesSlide5.xml" Id="Rdd093bd5171a46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56f68f9a042a9" /><Relationship Type="http://schemas.openxmlformats.org/officeDocument/2006/relationships/notesSlide" Target="/ppt/notesSlides/notesSlide6.xml" Id="Ra87df3e6435845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a3f0a9ac14c3f" /><Relationship Type="http://schemas.openxmlformats.org/officeDocument/2006/relationships/notesSlide" Target="/ppt/notesSlides/notesSlide7.xml" Id="Rba7ea9188aa542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0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3B086-0B28-4048-823E-8217FB86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572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floor tells the robot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6C526-A9F8-4CBF-A950-C798E2BB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10382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9DDADD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9DDADD"/>
                </a:solidFill>
                <a:latin typeface="Arial"/>
                <a:ea typeface="Arial"/>
                <a:cs typeface="Arial"/>
              </a:rPr>
              <a:t>A dark marker identifies a delivery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D6EF5-9EDA-472C-B866-16DD8ACD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81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D4D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9D4DC"/>
                </a:solidFill>
                <a:latin typeface="Arial"/>
                <a:ea typeface="Arial"/>
                <a:cs typeface="Arial"/>
              </a:rPr>
              <a:t>Week 5 · MechaRAMS at the YMCA</a:t>
            </a:r>
          </a:p>
        </p:txBody>
      </p:sp>
    </p:spTree>
    <p:extLst>
      <p:ext uri="{BB962C8B-B14F-4D97-AF65-F5344CB8AC3E}">
        <p14:creationId xmlns:p14="http://schemas.microsoft.com/office/powerpoint/2010/main" val="11409095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5F2BD-4411-4680-A50D-AEDF2C6E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Today’s robot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4068C-3167-49F9-8F21-2D40CBAC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Bright and dark readings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AB337-626B-4D5A-85AC-ACF276F2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57525"/>
            <a:ext cx="1047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threshold between the readings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B760D-12EA-4A5D-960B-C0456DED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62425"/>
            <a:ext cx="1047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wide marker and a repeated test</a:t>
            </a:r>
          </a:p>
        </p:txBody>
      </p:sp>
    </p:spTree>
    <p:extLst>
      <p:ext uri="{BB962C8B-B14F-4D97-AF65-F5344CB8AC3E}">
        <p14:creationId xmlns:p14="http://schemas.microsoft.com/office/powerpoint/2010/main" val="7128593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30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EA60F-89ED-4F0D-956E-14AA161B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Calibration and repeated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48046-4205-4747-A81A-98A6AC2C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105727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3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threshold = 40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3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reading = color_sensor.reflection(port.D)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3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reading &lt; threshold: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3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await signal("M")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86DCE-CCDA-4835-8832-58AFD862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81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D4D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9D4DC"/>
                </a:solidFill>
                <a:latin typeface="Arial"/>
                <a:ea typeface="Arial"/>
                <a:cs typeface="Arial"/>
              </a:rPr>
              <a:t>Reading fragment from a complete supplied Python project</a:t>
            </a:r>
          </a:p>
        </p:txBody>
      </p:sp>
    </p:spTree>
    <p:extLst>
      <p:ext uri="{BB962C8B-B14F-4D97-AF65-F5344CB8AC3E}">
        <p14:creationId xmlns:p14="http://schemas.microsoft.com/office/powerpoint/2010/main" val="4794802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E3B94-F9DC-49A1-B61D-9D8AB4A8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A prediction before the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53B5F-6A35-4564-96BC-89AAE9F7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Dark: 12. Light: 76. Is 44 a useful threshold?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7F572-D53C-43A9-8207-91A20267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0477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What if the threshold is below both readings?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ACC57-7C50-4F8E-91BB-E0D47FBA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81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6A7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A77"/>
                </a:solidFill>
                <a:latin typeface="Arial"/>
                <a:ea typeface="Arial"/>
                <a:cs typeface="Arial"/>
              </a:rPr>
              <a:t>Both partners explain a prediction before anyone presses Run.</a:t>
            </a:r>
          </a:p>
        </p:txBody>
      </p:sp>
    </p:spTree>
    <p:extLst>
      <p:ext uri="{BB962C8B-B14F-4D97-AF65-F5344CB8AC3E}">
        <p14:creationId xmlns:p14="http://schemas.microsoft.com/office/powerpoint/2010/main" val="4889797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E60AE-B1E1-4D64-8950-23D3F9CC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Your work with a partner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C8EE6-5743-4DA1-82B3-0F375F9C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Driver: edit and start after the lane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A3620-8186-4723-B90E-F499EFB1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Navigator: predict, check, and record.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2686F-52F6-47E8-B4B1-194B1178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Swap roles halfway through your robot turn.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92FAD-8BDF-49BA-93C0-CCCD6D09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Away from the robot: complete the worksheet task.</a:t>
            </a:r>
          </a:p>
        </p:txBody>
      </p:sp>
    </p:spTree>
    <p:extLst>
      <p:ext uri="{BB962C8B-B14F-4D97-AF65-F5344CB8AC3E}">
        <p14:creationId xmlns:p14="http://schemas.microsoft.com/office/powerpoint/2010/main" val="13683506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F99DA4-BB46-4150-8729-4DA6BC03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Evidence from our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FBB427-075F-4240-AE2D-28D44C28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We changed ____________________.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AB78F-0535-4806-A174-799A5315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479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We predicted ____________________.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E50E9-49CD-4D6C-B264-746922A9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433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We observed ____________________.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0172B-7DC9-4239-8BC7-AB3E56D8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386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Our next test would ____________________.</a:t>
            </a:r>
          </a:p>
        </p:txBody>
      </p:sp>
    </p:spTree>
    <p:extLst>
      <p:ext uri="{BB962C8B-B14F-4D97-AF65-F5344CB8AC3E}">
        <p14:creationId xmlns:p14="http://schemas.microsoft.com/office/powerpoint/2010/main" val="13478277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3B2EB-F711-439F-9DDD-E0C4FAF1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What you can explain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A1CB1-ACD6-4174-B2A1-F8243B8F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0477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Why might another room need a different threshold?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64B98-01D4-4B4C-993E-23719D1A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006E7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6E75"/>
                </a:solidFill>
                <a:latin typeface="Arial"/>
                <a:ea typeface="Arial"/>
                <a:cs typeface="Arial"/>
              </a:rPr>
              <a:t>Save your project. Reset the robot and parts for the next pair.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6A290-FF95-4477-A4B0-2EBA9AE4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81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6A7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A77"/>
                </a:solidFill>
                <a:latin typeface="Arial"/>
                <a:ea typeface="Arial"/>
                <a:cs typeface="Arial"/>
              </a:rPr>
              <a:t>Sensor calibration helps a program work on a real playing field.</a:t>
            </a:r>
          </a:p>
        </p:txBody>
      </p:sp>
    </p:spTree>
    <p:extLst>
      <p:ext uri="{BB962C8B-B14F-4D97-AF65-F5344CB8AC3E}">
        <p14:creationId xmlns:p14="http://schemas.microsoft.com/office/powerpoint/2010/main" val="9359481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2026-10-02T02:43:52.7040000Z</dcterms:created>
  <dcterms:modified xsi:type="dcterms:W3CDTF">2026-10-02T02:43:52.7040000Z</dcterms:modified>
</coreProperties>
</file>