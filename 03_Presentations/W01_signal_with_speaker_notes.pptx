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3fc943addc94b71" /><Relationship Type="http://schemas.openxmlformats.org/officeDocument/2006/relationships/extended-properties" Target="/docProps/app.xml" Id="R7c9b3e45b82e416e" /><Relationship Type="http://schemas.openxmlformats.org/officeDocument/2006/relationships/officeDocument" Target="/ppt/presentation.xml" Id="Rdb3ecec01721495d" /></Relationships>
</file>

<file path=ppt/presentation.xml><?xml version="1.0" encoding="utf-8"?>
<p:presentation xmlns:p="http://schemas.openxmlformats.org/presentationml/2006/main">
  <p:sldMasterIdLst>
    <p:sldMasterId xmlns:r="http://schemas.openxmlformats.org/officeDocument/2006/relationships" id="2147483648" r:id="R77c968bfceb44155"/>
  </p:sldMasterIdLst>
  <p:notesMasterIdLst>
    <p:notesMasterId xmlns:r="http://schemas.openxmlformats.org/officeDocument/2006/relationships" r:id="R57da316ac32c48e2"/>
  </p:notesMasterIdLst>
  <p:sldIdLst>
    <p:sldId xmlns:r="http://schemas.openxmlformats.org/officeDocument/2006/relationships" id="256" r:id="R12a7a91135fe4690"/>
    <p:sldId xmlns:r="http://schemas.openxmlformats.org/officeDocument/2006/relationships" id="257" r:id="R364307d9c9b84390"/>
    <p:sldId xmlns:r="http://schemas.openxmlformats.org/officeDocument/2006/relationships" id="258" r:id="Rfb617a0f87494be8"/>
    <p:sldId xmlns:r="http://schemas.openxmlformats.org/officeDocument/2006/relationships" id="259" r:id="R40cd45d1d2804d6b"/>
    <p:sldId xmlns:r="http://schemas.openxmlformats.org/officeDocument/2006/relationships" id="260" r:id="R6127b3448a0049f5"/>
    <p:sldId xmlns:r="http://schemas.openxmlformats.org/officeDocument/2006/relationships" id="261" r:id="R70c8b364143f4d43"/>
    <p:sldId xmlns:r="http://schemas.openxmlformats.org/officeDocument/2006/relationships" id="262" r:id="Rf2dcf27d3cad459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ee261a232f477b" /><Relationship Type="http://schemas.openxmlformats.org/officeDocument/2006/relationships/slideMaster" Target="/ppt/slideMasters/slideMaster1.xml" Id="R77c968bfceb44155" /><Relationship Type="http://schemas.openxmlformats.org/officeDocument/2006/relationships/notesMaster" Target="/ppt/notesMasters/notesMaster1.xml" Id="R57da316ac32c48e2" /><Relationship Type="http://schemas.openxmlformats.org/officeDocument/2006/relationships/presProps" Target="/ppt/presProps.xml" Id="R42fb7575454e41df" /><Relationship Type="http://schemas.openxmlformats.org/officeDocument/2006/relationships/tableStyles" Target="/ppt/tableStyles.xml" Id="R50471478152b419c" /><Relationship Type="http://schemas.openxmlformats.org/officeDocument/2006/relationships/slide" Target="/ppt/slides/slide1.xml" Id="R12a7a91135fe4690" /><Relationship Type="http://schemas.openxmlformats.org/officeDocument/2006/relationships/slide" Target="/ppt/slides/slide2.xml" Id="R364307d9c9b84390" /><Relationship Type="http://schemas.openxmlformats.org/officeDocument/2006/relationships/slide" Target="/ppt/slides/slide3.xml" Id="Rfb617a0f87494be8" /><Relationship Type="http://schemas.openxmlformats.org/officeDocument/2006/relationships/slide" Target="/ppt/slides/slide4.xml" Id="R40cd45d1d2804d6b" /><Relationship Type="http://schemas.openxmlformats.org/officeDocument/2006/relationships/slide" Target="/ppt/slides/slide5.xml" Id="R6127b3448a0049f5" /><Relationship Type="http://schemas.openxmlformats.org/officeDocument/2006/relationships/slide" Target="/ppt/slides/slide6.xml" Id="R70c8b364143f4d43" /><Relationship Type="http://schemas.openxmlformats.org/officeDocument/2006/relationships/slide" Target="/ppt/slides/slide7.xml" Id="Rf2dcf27d3cad459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d77fa9939441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e1684f5f7f47ad" /><Relationship Type="http://schemas.openxmlformats.org/officeDocument/2006/relationships/notesMaster" Target="/ppt/notesMasters/notesMaster1.xml" Id="R0d264840f3d3423c" /></Relationships>
</file>

<file path=ppt/notesSlides/_rels/notesSlide2.xml.rels>&#65279;<?xml version="1.0" encoding="utf-8"?><Relationships xmlns="http://schemas.openxmlformats.org/package/2006/relationships"><Relationship Type="http://schemas.openxmlformats.org/officeDocument/2006/relationships/slide" Target="/ppt/slides/slide2.xml" Id="R6b26c27f41404c40" /><Relationship Type="http://schemas.openxmlformats.org/officeDocument/2006/relationships/notesMaster" Target="/ppt/notesMasters/notesMaster1.xml" Id="Ra0291df478ec4d72" /></Relationships>
</file>

<file path=ppt/notesSlides/_rels/notesSlide3.xml.rels>&#65279;<?xml version="1.0" encoding="utf-8"?><Relationships xmlns="http://schemas.openxmlformats.org/package/2006/relationships"><Relationship Type="http://schemas.openxmlformats.org/officeDocument/2006/relationships/slide" Target="/ppt/slides/slide3.xml" Id="Rd8d1cea35446431f" /><Relationship Type="http://schemas.openxmlformats.org/officeDocument/2006/relationships/notesMaster" Target="/ppt/notesMasters/notesMaster1.xml" Id="R8cfaf6a5ccab4670"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503274d0ef4463" /><Relationship Type="http://schemas.openxmlformats.org/officeDocument/2006/relationships/notesMaster" Target="/ppt/notesMasters/notesMaster1.xml" Id="Re065a90cb92d496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8660bc15f4d453d" /><Relationship Type="http://schemas.openxmlformats.org/officeDocument/2006/relationships/notesMaster" Target="/ppt/notesMasters/notesMaster1.xml" Id="R9c04ec1c40384a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c976c0542442c7" /><Relationship Type="http://schemas.openxmlformats.org/officeDocument/2006/relationships/notesMaster" Target="/ppt/notesMasters/notesMaster1.xml" Id="Rb1053c82aeeb40f9" /></Relationships>
</file>

<file path=ppt/notesSlides/_rels/notesSlide7.xml.rels>&#65279;<?xml version="1.0" encoding="utf-8"?><Relationships xmlns="http://schemas.openxmlformats.org/package/2006/relationships"><Relationship Type="http://schemas.openxmlformats.org/officeDocument/2006/relationships/slide" Target="/ppt/slides/slide7.xml" Id="R184ea0491848451c" /><Relationship Type="http://schemas.openxmlformats.org/officeDocument/2006/relationships/notesMaster" Target="/ppt/notesMasters/notesMaster1.xml" Id="Rb90469bdd4d349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Meet your robot</a:t>
            </a:r>
          </a:p>
          <a:p xmlns:a="http://schemas.openxmlformats.org/drawingml/2006/main">
            <a:r>
              <a:t>0:00–5:00 — welcome and individual baseline</a:t>
            </a:r>
          </a:p>
          <a:p xmlns:a="http://schemas.openxmlformats.org/drawingml/2006/main">
            <a:r>
              <a:t/>
            </a:r>
          </a:p>
          <a:p xmlns:a="http://schemas.openxmlformats.org/drawingml/2006/main">
            <a:r>
              <a:t>YES: PREASSEMBLE BOTH SPIKE TEACHING BASES</a:t>
            </a:r>
          </a:p>
          <a:p xmlns:a="http://schemas.openxmlformats.org/drawingml/2006/main">
            <a:r>
              <a:t>Build one official LEGO Practice Driving Base per SPIKE Prime kit before the first session. The supplied PDF has 37 pages and numbered steps 1–34. Keep the bases assembled throughout the course. R3PTAR is a separate EV3 demonstration robot; it does not replace either student base.</a:t>
            </a:r>
          </a:p>
          <a:p xmlns:a="http://schemas.openxmlformats.org/drawingml/2006/main">
            <a:r>
              <a:t/>
            </a:r>
          </a:p>
          <a:p xmlns:a="http://schemas.openxmlformats.org/drawingml/2006/main">
            <a:r>
              <a:t>BUILD FILE</a:t>
            </a:r>
          </a:p>
          <a:p xmlns:a="http://schemas.openxmlformats.org/drawingml/2006/main">
            <a:r>
              <a:t>Local: 06_References/LEGO_Practice_Driving_Base.pdf</a:t>
            </a:r>
          </a:p>
          <a:p xmlns:a="http://schemas.openxmlformats.org/drawingml/2006/main">
            <a:r>
              <a:t>GitHub: https://github.com/FRC999/YMCA-SPIKE-education/blob/main/06_References/LEGO_Practice_Driving_Base.pdf</a:t>
            </a:r>
          </a:p>
          <a:p xmlns:a="http://schemas.openxmlformats.org/drawingml/2006/main">
            <a:r>
              <a:t/>
            </a:r>
          </a:p>
          <a:p xmlns:a="http://schemas.openxmlformats.org/drawingml/2006/main">
            <a:r>
              <a:t>WEEK 1 CONFIGURATION</a:t>
            </a:r>
          </a:p>
          <a:p xmlns:a="http://schemas.openxmlformats.org/drawingml/2006/main">
            <a:r>
              <a:t>Label the front. Looking from behind the robot toward its front, connect the left wheel motor to A and the right wheel motor to B. This curriculum wiring overrides different connections in the official build PDF. The auxiliary attachment motor can remain mechanically installed but electrically unplugged, with its cable secured. Distance sensor C and downward color sensor D are for later lessons and are not required for Week 1. The first-session program imports their modules but does not read those sensors in its recipe.</a:t>
            </a:r>
          </a:p>
          <a:p xmlns:a="http://schemas.openxmlformats.org/drawingml/2006/main">
            <a:r>
              <a:t/>
            </a:r>
          </a:p>
          <a:p xmlns:a="http://schemas.openxmlformats.org/drawingml/2006/main">
            <a:r>
              <a:t>BEFORE STUDENTS ARRIVE</a:t>
            </a:r>
          </a:p>
          <a:p xmlns:a="http://schemas.openxmlformats.org/drawingml/2006/main">
            <a:r>
              <a:t>Charge and label the hubs A/B. Check both bases roll freely. Load the complete W01_signal.py into SPIKE App 3 Python on the actual teaching devices, and preserve a known-good copy. Run 00_mentor_smoke_test.py with wheels raised, then rehearse the Week 1 sequence in each clear lane. Confirm the physical forward direction, actual stop controls, connection to the intended hub, and saving workflow. Have the baseline questions and Week 1 workbook/task card printed. Prepare four pair IDs for the eight-student plan.</a:t>
            </a:r>
          </a:p>
          <a:p xmlns:a="http://schemas.openxmlformats.org/drawingml/2006/main">
            <a:r>
              <a:t/>
            </a:r>
          </a:p>
          <a:p xmlns:a="http://schemas.openxmlformats.org/drawingml/2006/main">
            <a:r>
              <a:t>DEMONSTRATION TIMING</a:t>
            </a:r>
          </a:p>
          <a:p xmlns:a="http://schemas.openxmlformats.org/drawingml/2006/main">
            <a:r>
              <a:t>R3PTAR must be assembled, programmed, and rehearsed separately before the session. In this first-hour run of show, use approximately three minutes for R3PTAR and two minutes to connect the demonstration to SPIKE and run the starter. Both fit within the original 5–10 minute demonstration slot. This is a tighter first-session allocation than the standalone five-minute EV3 rehearsal script in the general prep tracker. If R3PTAR is not reliable, use the SPIKE starter demonstration and proceed.</a:t>
            </a:r>
          </a:p>
          <a:p xmlns:a="http://schemas.openxmlformats.org/drawingml/2006/main">
            <a:r>
              <a:t/>
            </a:r>
          </a:p>
          <a:p xmlns:a="http://schemas.openxmlformats.org/drawingml/2006/main">
            <a:r>
              <a:t>HOW TO USE THESE NOTES</a:t>
            </a:r>
          </a:p>
          <a:p xmlns:a="http://schemas.openxmlformats.org/drawingml/2006/main">
            <a:r>
              <a:t>The seven headings match the existing Week 1 slides. Quoted passages are suggested words, not a script that must be read verbatim. Directions and troubleshooting are for mentors. Leave the activity slide visible while pairs work; the slide deck is not a sixty-minute lecture. The revised PowerPoint contains the same detailed text in its speaker-notes pane. Use Presenter View on the instructor screen when available; rehearse the display setup before students arrive.</a:t>
            </a:r>
          </a:p>
          <a:p xmlns:a="http://schemas.openxmlformats.org/drawingml/2006/main">
            <a:r>
              <a:t/>
            </a:r>
          </a:p>
          <a:p xmlns:a="http://schemas.openxmlformats.org/drawingml/2006/main">
            <a:r>
              <a:t/>
            </a:r>
          </a:p>
          <a:p xmlns:a="http://schemas.openxmlformats.org/drawingml/2006/main">
            <a:r>
              <a:t>PURPOSE</a:t>
            </a:r>
          </a:p>
          <a:p xmlns:a="http://schemas.openxmlformats.org/drawingml/2006/main">
            <a:r>
              <a:t>Welcome beginners, establish that both partners will participate, and collect the baseline before teaching the answers.</a:t>
            </a:r>
          </a:p>
          <a:p xmlns:a="http://schemas.openxmlformats.org/drawingml/2006/main">
            <a:r>
              <a:t/>
            </a:r>
          </a:p>
          <a:p xmlns:a="http://schemas.openxmlformats.org/drawingml/2006/main">
            <a:r>
              <a:t>SAY</a:t>
            </a:r>
          </a:p>
          <a:p xmlns:a="http://schemas.openxmlformats.org/drawingml/2006/main">
            <a:r>
              <a:t>“Welcome to MechaRAMS robotics at the YMCA. Today you will give a robot a signal and its first short movement. You do not need to know Python already. You will make a prediction, try it, and explain what happened. Each of you will get a turn.”</a:t>
            </a:r>
          </a:p>
          <a:p xmlns:a="http://schemas.openxmlformats.org/drawingml/2006/main">
            <a:r>
              <a:t/>
            </a:r>
          </a:p>
          <a:p xmlns:a="http://schemas.openxmlformats.org/drawingml/2006/main">
            <a:r>
              <a:t>DO — 0:00–1:00</a:t>
            </a:r>
          </a:p>
          <a:p xmlns:a="http://schemas.openxmlformats.org/drawingml/2006/main">
            <a:r>
              <a:t>Introduce the adult lead and kit mentors briefly. Seat students in their assigned pairs. For eight students, pairs 1 and 2 share Kit A; pairs 3 and 4 share Kit B. Keep the robots stopped while students settle.</a:t>
            </a:r>
          </a:p>
          <a:p xmlns:a="http://schemas.openxmlformats.org/drawingml/2006/main">
            <a:r>
              <a:t/>
            </a:r>
          </a:p>
          <a:p xmlns:a="http://schemas.openxmlformats.org/drawingml/2006/main">
            <a:r>
              <a:t>DO — 1:00–4:30</a:t>
            </a:r>
          </a:p>
          <a:p xmlns:a="http://schemas.openxmlformats.org/drawingml/2006/main">
            <a:r>
              <a:t>Give the four individual baseline questions from the student workbook. Say: “This is a starting snapshot, not a grade. Some questions are about things we have not learned yet. Write what you think; ‘not sure yet’ is fine.” Students answer independently. Read a question aloud or allow an oral/pointing response when needed, without giving hints. Mentors collect responses using student IDs. Do not discuss the answers yet or display the code slide during this check.</a:t>
            </a:r>
          </a:p>
          <a:p xmlns:a="http://schemas.openxmlformats.org/drawingml/2006/main">
            <a:r>
              <a:t/>
            </a:r>
          </a:p>
          <a:p xmlns:a="http://schemas.openxmlformats.org/drawingml/2006/main">
            <a:r>
              <a:t>DO — 4:30–5:00</a:t>
            </a:r>
          </a:p>
          <a:p xmlns:a="http://schemas.openxmlformats.org/drawingml/2006/main">
            <a:r>
              <a:t>Set the operating rule: “One person starts the program after their partner checks the lane. Everyone keeps hands clear while it moves. If anything is wrong, say ‘stop’ and the mentor will help stop it.” Mentors should already know the actual app and hub stop controls.</a:t>
            </a:r>
          </a:p>
          <a:p xmlns:a="http://schemas.openxmlformats.org/drawingml/2006/main">
            <a:r>
              <a:t/>
            </a:r>
          </a:p>
          <a:p xmlns:a="http://schemas.openxmlformats.org/drawingml/2006/main">
            <a:r>
              <a:t>TRANSITION</a:t>
            </a:r>
          </a:p>
          <a:p xmlns:a="http://schemas.openxmlformats.org/drawingml/2006/main">
            <a:r>
              <a:t>“First, let’s see a robot with a more elaborate body. Watch what makes it react.” Move to slide 2. Do not let introductions or baseline discussion consume the demonstration slot.</a:t>
            </a:r>
          </a:p>
          <a:p xmlns:a="http://schemas.openxmlformats.org/drawingml/2006/main">
            <a:r>
              <a:t/>
            </a:r>
          </a:p>
          <a:p xmlns:a="http://schemas.openxmlformats.org/drawingml/2006/main">
            <a:r>
              <a:t>MENTOR REMINDER</a:t>
            </a:r>
          </a:p>
          <a:p xmlns:a="http://schemas.openxmlformats.org/drawingml/2006/main">
            <a:r>
              <a:t>The detailed run of show assumes eight students and two kit mentors plus the adult lead. If the confirmed enrollment differs, adjust group assignments before class, not during the 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Today’s robot challenge</a:t>
            </a:r>
          </a:p>
          <a:p xmlns:a="http://schemas.openxmlformats.org/drawingml/2006/main">
            <a:r>
              <a:t>5:00–10:00 — R3PTAR demonstration and SPIKE connection</a:t>
            </a:r>
          </a:p>
          <a:p xmlns:a="http://schemas.openxmlformats.org/drawingml/2006/main">
            <a:r>
              <a:t/>
            </a:r>
          </a:p>
          <a:p xmlns:a="http://schemas.openxmlformats.org/drawingml/2006/main">
            <a:r>
              <a:t>PURPOSE</a:t>
            </a:r>
          </a:p>
          <a:p xmlns:a="http://schemas.openxmlformats.org/drawingml/2006/main">
            <a:r>
              <a:t>Create excitement, then make the connection to what students can accomplish today with the two SPIKE bases.</a:t>
            </a:r>
          </a:p>
          <a:p xmlns:a="http://schemas.openxmlformats.org/drawingml/2006/main">
            <a:r>
              <a:t/>
            </a:r>
          </a:p>
          <a:p xmlns:a="http://schemas.openxmlformats.org/drawingml/2006/main">
            <a:r>
              <a:t>DO — 5:00–8:00: AUTONOMOUS R3PTAR</a:t>
            </a:r>
          </a:p>
          <a:p xmlns:a="http://schemas.openxmlformats.org/drawingml/2006/main">
            <a:r>
              <a:t>Use the tested, assembled EV3 snake in its clear floor area. A mentor stays within reach of the stop control. Start its program once. Demonstrate the agreed behavior only if it has passed rehearsal: creep forward, detect the cardboard target, hiss and strike, retract, back away, turn, and resume when clear. Keep the target and hands outside the mechanism. A taped floor boundary is a visual cue for people; this program does not automatically recognize it.</a:t>
            </a:r>
          </a:p>
          <a:p xmlns:a="http://schemas.openxmlformats.org/drawingml/2006/main">
            <a:r>
              <a:t/>
            </a:r>
          </a:p>
          <a:p xmlns:a="http://schemas.openxmlformats.org/drawingml/2006/main">
            <a:r>
              <a:t>SAY / ASK</a:t>
            </a:r>
          </a:p>
          <a:p xmlns:a="http://schemas.openxmlformats.org/drawingml/2006/main">
            <a:r>
              <a:t>“Watch closely. What changed just before the snake reacted?” Take one or two responses. If students say it saw the cardboard, follow with: “Yes—the sensor supplied a reading. The program used that reading to choose an action. The motors made the movement.”</a:t>
            </a:r>
          </a:p>
          <a:p xmlns:a="http://schemas.openxmlformats.org/drawingml/2006/main">
            <a:r>
              <a:t>“Predict what happens when I bring the target back.” Repeat once if the first run was reliable. Emphasize that no one is steering it with a remote during this demonstration. Do not suggest that it recognizes people or thinks like an animal.</a:t>
            </a:r>
          </a:p>
          <a:p xmlns:a="http://schemas.openxmlformats.org/drawingml/2006/main">
            <a:r>
              <a:t/>
            </a:r>
          </a:p>
          <a:p xmlns:a="http://schemas.openxmlformats.org/drawingml/2006/main">
            <a:r>
              <a:t>DO — 8:00–10:00: CONNECT TO SPIKE</a:t>
            </a:r>
          </a:p>
          <a:p xmlns:a="http://schemas.openxmlformats.org/drawingml/2006/main">
            <a:r>
              <a:t>Park and stop R3PTAR. Point to the base pictured on the slide and then the actual teaching robot. Show the hub, display, two drive motors, and wheels. Say: “This robot looks simpler, but you will use the same idea: give it instructions, predict, and test. Our challenge is a one-letter welcome signal, a short forward move, and explaining the order.”</a:t>
            </a:r>
          </a:p>
          <a:p xmlns:a="http://schemas.openxmlformats.org/drawingml/2006/main">
            <a:r>
              <a:t>Run the prepared SPIKE starter once in a clear lane: show Y, wait, then move. Students watch; do not make this a code lecture yet. The wheel direction and stop controls must have been checked before class.</a:t>
            </a:r>
          </a:p>
          <a:p xmlns:a="http://schemas.openxmlformats.org/drawingml/2006/main">
            <a:r>
              <a:t/>
            </a:r>
          </a:p>
          <a:p xmlns:a="http://schemas.openxmlformats.org/drawingml/2006/main">
            <a:r>
              <a:t>IF THE DEMO FAILS</a:t>
            </a:r>
          </a:p>
          <a:p xmlns:a="http://schemas.openxmlformats.org/drawingml/2006/main">
            <a:r>
              <a:t>Give R3PTAR no more than one quick reset. Say: “Our demonstration needs a repair. We can still investigate how instructions control a robot.” Stop and park it, then continue with the SPIKE demonstration. If SPIKE motion is unavailable, demonstrate the letter and wait sequence with wheels raised. Keep the lesson moving; students should not watch a long repair.</a:t>
            </a:r>
          </a:p>
          <a:p xmlns:a="http://schemas.openxmlformats.org/drawingml/2006/main">
            <a:r>
              <a:t/>
            </a:r>
          </a:p>
          <a:p xmlns:a="http://schemas.openxmlformats.org/drawingml/2006/main">
            <a:r>
              <a:t>TRANSITION</a:t>
            </a:r>
          </a:p>
          <a:p xmlns:a="http://schemas.openxmlformats.org/drawingml/2006/main">
            <a:r>
              <a:t>“Let’s look at the three instructions that made that happen.”</a:t>
            </a:r>
          </a:p>
          <a:p xmlns:a="http://schemas.openxmlformats.org/drawingml/2006/main">
            <a:r>
              <a:t/>
            </a:r>
          </a:p>
          <a:p xmlns:a="http://schemas.openxmlformats.org/drawingml/2006/main">
            <a:r>
              <a:t>SOURCE / IMAGE CREDIT</a:t>
            </a:r>
          </a:p>
          <a:p xmlns:a="http://schemas.openxmlformats.org/drawingml/2006/main">
            <a:r>
              <a:t>Official LEGO practice driving base and image: https://education.lego.com/en-us/lessons/prime-competition-ready/training-camp-1-driving-around/</a:t>
            </a:r>
          </a:p>
          <a:p xmlns:a="http://schemas.openxmlformats.org/drawingml/2006/main">
            <a:r>
              <a:t>R3PTAR model: https://www.lego.com/en-us/product/lego-mindstorms-ev3-31313</a:t>
            </a:r>
          </a:p>
          <a:p xmlns:a="http://schemas.openxmlformats.org/drawingml/2006/main">
            <a:r>
              <a:t>The moving R3PTAR sequence is our planned demonstration behavior and must be tested before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Sequence and a function call</a:t>
            </a:r>
          </a:p>
          <a:p xmlns:a="http://schemas.openxmlformats.org/drawingml/2006/main">
            <a:r>
              <a:t>10:00–12:00 — read the three recipe lines</a:t>
            </a:r>
          </a:p>
          <a:p xmlns:a="http://schemas.openxmlformats.org/drawingml/2006/main">
            <a:r>
              <a:t/>
            </a:r>
          </a:p>
          <a:p xmlns:a="http://schemas.openxmlformats.org/drawingml/2006/main">
            <a:r>
              <a:t>PURPOSE</a:t>
            </a:r>
          </a:p>
          <a:p xmlns:a="http://schemas.openxmlformats.org/drawingml/2006/main">
            <a:r>
              <a:t>Make the small editable recipe understandable without asking students to understand the whole support program.</a:t>
            </a:r>
          </a:p>
          <a:p xmlns:a="http://schemas.openxmlformats.org/drawingml/2006/main">
            <a:r>
              <a:t/>
            </a:r>
          </a:p>
          <a:p xmlns:a="http://schemas.openxmlformats.org/drawingml/2006/main">
            <a:r>
              <a:t>POINT AND SAY</a:t>
            </a:r>
          </a:p>
          <a:p xmlns:a="http://schemas.openxmlformats.org/drawingml/2006/main">
            <a:r>
              <a:t>“Python is text that tells the robot what to do. The complete project has some helper code prepared for you. Today we only edit the three lines in the student recipe.”</a:t>
            </a:r>
          </a:p>
          <a:p xmlns:a="http://schemas.openxmlformats.org/drawingml/2006/main">
            <a:r>
              <a:t>Point to await signal("Y"): “This asks our helper to show the letter Y on the hub display. The quotation marks tell Python that Y is text. You can choose a different letter, but keep the quotation marks.”</a:t>
            </a:r>
          </a:p>
          <a:p xmlns:a="http://schemas.openxmlformats.org/drawingml/2006/main">
            <a:r>
              <a:t>Point to await pause(500): “This asks it to wait 500 milliseconds—half a second.”</a:t>
            </a:r>
          </a:p>
          <a:p xmlns:a="http://schemas.openxmlformats.org/drawingml/2006/main">
            <a:r>
              <a:t>Point to await drive(90): “This asks the drive wheels to turn through 90 degrees, one quarter of a wheel rotation. That is not 90 centimeters, and it is not a 90-degree turn of the robot.”</a:t>
            </a:r>
          </a:p>
          <a:p xmlns:a="http://schemas.openxmlformats.org/drawingml/2006/main">
            <a:r>
              <a:t>“Read these from top to bottom. Here, await means wait for that action to finish before going to the next line.” This is a useful explanation for this sequential recipe; there is no need to teach asynchronous programming today.</a:t>
            </a:r>
          </a:p>
          <a:p xmlns:a="http://schemas.openxmlformats.org/drawingml/2006/main">
            <a:r>
              <a:t/>
            </a:r>
          </a:p>
          <a:p xmlns:a="http://schemas.openxmlformats.org/drawingml/2006/main">
            <a:r>
              <a:t>DO</a:t>
            </a:r>
          </a:p>
          <a:p xmlns:a="http://schemas.openxmlformats.org/drawingml/2006/main">
            <a:r>
              <a:t>Trace the three lines with your finger or pointer. In the actual SPIKE project, briefly show the STUDENT RECIPE START and END comments inside student_recipe. Explain that these comments mark the editing area. The full W01_signal.py file must already be loaded; the fragment on this slide is not a complete standalone project.</a:t>
            </a:r>
          </a:p>
          <a:p xmlns:a="http://schemas.openxmlformats.org/drawingml/2006/main">
            <a:r>
              <a:t/>
            </a:r>
          </a:p>
          <a:p xmlns:a="http://schemas.openxmlformats.org/drawingml/2006/main">
            <a:r>
              <a:t>ASK</a:t>
            </a:r>
          </a:p>
          <a:p xmlns:a="http://schemas.openxmlformats.org/drawingml/2006/main">
            <a:r>
              <a:t>“Which instruction chooses the letter? Which one makes the wheels move?” Invite a different student for each answer. Expected answers: signal and drive. Accept pointing as well as speaking.</a:t>
            </a:r>
          </a:p>
          <a:p xmlns:a="http://schemas.openxmlformats.org/drawingml/2006/main">
            <a:r>
              <a:t/>
            </a:r>
          </a:p>
          <a:p xmlns:a="http://schemas.openxmlformats.org/drawingml/2006/main">
            <a:r>
              <a:t>KEEP THE SCOPE SMALL</a:t>
            </a:r>
          </a:p>
          <a:p xmlns:a="http://schemas.openxmlformats.org/drawingml/2006/main">
            <a:r>
              <a:t>Students keep drive(90) unchanged today. Do not introduce imports, motor pairing, the later sensor helpers, or all the lines below the recipe. Functions are named actions here; students do not need to define a new function yet.</a:t>
            </a:r>
          </a:p>
          <a:p xmlns:a="http://schemas.openxmlformats.org/drawingml/2006/main">
            <a:r>
              <a:t/>
            </a:r>
          </a:p>
          <a:p xmlns:a="http://schemas.openxmlformats.org/drawingml/2006/main">
            <a:r>
              <a:t>TRANSITION</a:t>
            </a:r>
          </a:p>
          <a:p xmlns:a="http://schemas.openxmlformats.org/drawingml/2006/main">
            <a:r>
              <a:t>“Before we change anything, let’s make a prediction.”</a:t>
            </a:r>
          </a:p>
          <a:p xmlns:a="http://schemas.openxmlformats.org/drawingml/2006/main">
            <a:r>
              <a:t/>
            </a:r>
          </a:p>
          <a:p xmlns:a="http://schemas.openxmlformats.org/drawingml/2006/main">
            <a:r>
              <a:t>TECHNICAL SOURCE</a:t>
            </a:r>
          </a:p>
          <a:p xmlns:a="http://schemas.openxmlformats.org/drawingml/2006/main">
            <a:r>
              <a:t>Supplied curriculum file: 04_Python/W01_signal.py. Its helpers define the meaning and units of signal, pause, and drive. Current app help: https://spike.legoeducation.com/prime/modal/help/lls-help-python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A prediction before the run</a:t>
            </a:r>
          </a:p>
          <a:p xmlns:a="http://schemas.openxmlformats.org/drawingml/2006/main">
            <a:r>
              <a:t>12:00–15:00 — think, explain, compare</a:t>
            </a:r>
          </a:p>
          <a:p xmlns:a="http://schemas.openxmlformats.org/drawingml/2006/main">
            <a:r>
              <a:t/>
            </a:r>
          </a:p>
          <a:p xmlns:a="http://schemas.openxmlformats.org/drawingml/2006/main">
            <a:r>
              <a:t>PURPOSE</a:t>
            </a:r>
          </a:p>
          <a:p xmlns:a="http://schemas.openxmlformats.org/drawingml/2006/main">
            <a:r>
              <a:t>Have every student reason about order before anyone presses Run.</a:t>
            </a:r>
          </a:p>
          <a:p xmlns:a="http://schemas.openxmlformats.org/drawingml/2006/main">
            <a:r>
              <a:t/>
            </a:r>
          </a:p>
          <a:p xmlns:a="http://schemas.openxmlformats.org/drawingml/2006/main">
            <a:r>
              <a:t>SAY / DO — 12:00–13:00</a:t>
            </a:r>
          </a:p>
          <a:p xmlns:a="http://schemas.openxmlformats.org/drawingml/2006/main">
            <a:r>
              <a:t>“Think on your own for ten seconds: which instruction happens first? Then tell your partner the whole sequence.” Give each partner about twenty seconds to explain. Ask one pair to report. Expected: show Y, wait half a second, then drive.</a:t>
            </a:r>
          </a:p>
          <a:p xmlns:a="http://schemas.openxmlformats.org/drawingml/2006/main">
            <a:r>
              <a:t/>
            </a:r>
          </a:p>
          <a:p xmlns:a="http://schemas.openxmlformats.org/drawingml/2006/main">
            <a:r>
              <a:t>ASK — 13:00–14:00</a:t>
            </a:r>
          </a:p>
          <a:p xmlns:a="http://schemas.openxmlformats.org/drawingml/2006/main">
            <a:r>
              <a:t>“What changes if the last line moves to the top?” Be precise about the operation: MOVE the drive line to the top, leaving the other two in their relative order. The result is drive → signal Y → pause. It is not signal → pause → drive anymore.</a:t>
            </a:r>
          </a:p>
          <a:p xmlns:a="http://schemas.openxmlformats.org/drawingml/2006/main">
            <a:r>
              <a:t>The printed station card uses a different operation: SWAP the first and last actions. That produces drive → pause → signal Y. Both operations explore sequence, but make clear which one students are tracing.</a:t>
            </a:r>
          </a:p>
          <a:p xmlns:a="http://schemas.openxmlformats.org/drawingml/2006/main">
            <a:r>
              <a:t>Ask: “Would the robot travel farther just because we rearranged the lines?” Expected: the drive command still requests 90 wheel degrees; the order changes, not that requested rotation.</a:t>
            </a:r>
          </a:p>
          <a:p xmlns:a="http://schemas.openxmlformats.org/drawingml/2006/main">
            <a:r>
              <a:t/>
            </a:r>
          </a:p>
          <a:p xmlns:a="http://schemas.openxmlformats.org/drawingml/2006/main">
            <a:r>
              <a:t>DO — 14:00–15:00</a:t>
            </a:r>
          </a:p>
          <a:p xmlns:a="http://schemas.openxmlformats.org/drawingml/2006/main">
            <a:r>
              <a:t>Ask students to record or point to their predicted order. Do not run every suggested sequence as a whole-class demo; they will test their ideas during the rotations. Preview the first change: “First choose one letter. Later, with roles switched, we will change the wait from 500 to 1000 milliseconds.”</a:t>
            </a:r>
          </a:p>
          <a:p xmlns:a="http://schemas.openxmlformats.org/drawingml/2006/main">
            <a:r>
              <a:t/>
            </a:r>
          </a:p>
          <a:p xmlns:a="http://schemas.openxmlformats.org/drawingml/2006/main">
            <a:r>
              <a:t>COMMON MISCONCEPTIONS</a:t>
            </a:r>
          </a:p>
          <a:p xmlns:a="http://schemas.openxmlformats.org/drawingml/2006/main">
            <a:r>
              <a:t>If students think Python reads all lines at once, have one partner act out the instructions while the other reads them in order. If they confuse a pause with distance, ask which number appears inside drive. Explain that a longer pause changes waiting time, not the wheel rotation requested by drive(90).</a:t>
            </a:r>
          </a:p>
          <a:p xmlns:a="http://schemas.openxmlformats.org/drawingml/2006/main">
            <a:r>
              <a:t/>
            </a:r>
          </a:p>
          <a:p xmlns:a="http://schemas.openxmlformats.org/drawingml/2006/main">
            <a:r>
              <a:t>TRANSITION</a:t>
            </a:r>
          </a:p>
          <a:p xmlns:a="http://schemas.openxmlformats.org/drawingml/2006/main">
            <a:r>
              <a:t>“Now we will test in pairs. Both people have a job, and both will take the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Your work with a partner</a:t>
            </a:r>
          </a:p>
          <a:p xmlns:a="http://schemas.openxmlformats.org/drawingml/2006/main">
            <a:r>
              <a:t>15:00–39:00 — two twelve-minute rotations</a:t>
            </a:r>
          </a:p>
          <a:p xmlns:a="http://schemas.openxmlformats.org/drawingml/2006/main">
            <a:r>
              <a:t/>
            </a:r>
          </a:p>
          <a:p xmlns:a="http://schemas.openxmlformats.org/drawingml/2006/main">
            <a:r>
              <a:t>PURPOSE</a:t>
            </a:r>
          </a:p>
          <a:p xmlns:a="http://schemas.openxmlformats.org/drawingml/2006/main">
            <a:r>
              <a:t>Give every pair a first robot turn and every student a meaningful operating role. Keep this slide visible while students work.</a:t>
            </a:r>
          </a:p>
          <a:p xmlns:a="http://schemas.openxmlformats.org/drawingml/2006/main">
            <a:r>
              <a:t/>
            </a:r>
          </a:p>
          <a:p xmlns:a="http://schemas.openxmlformats.org/drawingml/2006/main">
            <a:r>
              <a:t>EXPLAIN THE ROLES</a:t>
            </a:r>
          </a:p>
          <a:p xmlns:a="http://schemas.openxmlformats.org/drawingml/2006/main">
            <a:r>
              <a:t>“The driver edits and starts the program after the lane check. The navigator predicts, checks the lane, and records the result. The navigator is not just watching. When the timer says switch, trade jobs.” If typing is a barrier, a student may dictate the edit and control the prediction/run decision while a partner types; both must explain their choices.</a:t>
            </a:r>
          </a:p>
          <a:p xmlns:a="http://schemas.openxmlformats.org/drawingml/2006/main">
            <a:r>
              <a:t/>
            </a:r>
          </a:p>
          <a:p xmlns:a="http://schemas.openxmlformats.org/drawingml/2006/main">
            <a:r>
              <a:t>ROTATION MAP</a:t>
            </a:r>
          </a:p>
          <a:p xmlns:a="http://schemas.openxmlformats.org/drawingml/2006/main">
            <a:r>
              <a:t>15:00–27:00: pairs 1 and 3 use Kits A and B; pairs 2 and 4 do the paper station.</a:t>
            </a:r>
          </a:p>
          <a:p xmlns:a="http://schemas.openxmlformats.org/drawingml/2006/main">
            <a:r>
              <a:t>27:00–39:00: pairs switch stations. Driver/navigator roles switch six minutes into each robot turn, at minutes 21 and 33. Give a one-minute transition warning before minutes 27 and 39.</a:t>
            </a:r>
          </a:p>
          <a:p xmlns:a="http://schemas.openxmlformats.org/drawingml/2006/main">
            <a:r>
              <a:t>With two laptops, leave one at each kit station and use paper away from the robot. With four laptops, pairs may prepare code away from the kit, but should not connect to or run the shared hub remotely.</a:t>
            </a:r>
          </a:p>
          <a:p xmlns:a="http://schemas.openxmlformats.org/drawingml/2006/main">
            <a:r>
              <a:t/>
            </a:r>
          </a:p>
          <a:p xmlns:a="http://schemas.openxmlformats.org/drawingml/2006/main">
            <a:r>
              <a:t>FIRST SIX MINUTES OF EACH ROBOT TURN</a:t>
            </a:r>
          </a:p>
          <a:p xmlns:a="http://schemas.openxmlformats.org/drawingml/2006/main">
            <a:r>
              <a:t>1. Mentor confirms the correct labeled hub and opens that pair’s copy of the full starter.</a:t>
            </a:r>
          </a:p>
          <a:p xmlns:a="http://schemas.openxmlformats.org/drawingml/2006/main">
            <a:r>
              <a:t>2. Students point to the hub, wheels and recipe. Keep the chassis assembled. A removable paper name flag is optional only if it clears wheels and cables.</a:t>
            </a:r>
          </a:p>
          <a:p xmlns:a="http://schemas.openxmlformats.org/drawingml/2006/main">
            <a:r>
              <a:t>3. Driver changes Y to one chosen letter, keeping quotes and indentation. Navigator predicts the sequence.</a:t>
            </a:r>
          </a:p>
          <a:p xmlns:a="http://schemas.openxmlformats.org/drawingml/2006/main">
            <a:r>
              <a:t>4. Run once with wheels raised, then return the robot to the taped start. The entire starter still includes drive(90); a “letter test” does not disable the motors.</a:t>
            </a:r>
          </a:p>
          <a:p xmlns:a="http://schemas.openxmlformats.org/drawingml/2006/main">
            <a:r>
              <a:t>5. Navigator checks the lane; driver runs; pair records the letter and observed action order.</a:t>
            </a:r>
          </a:p>
          <a:p xmlns:a="http://schemas.openxmlformats.org/drawingml/2006/main">
            <a:r>
              <a:t/>
            </a:r>
          </a:p>
          <a:p xmlns:a="http://schemas.openxmlformats.org/drawingml/2006/main">
            <a:r>
              <a:t>SECOND SIX MINUTES</a:t>
            </a:r>
          </a:p>
          <a:p xmlns:a="http://schemas.openxmlformats.org/drawingml/2006/main">
            <a:r>
              <a:t>Switch roles. The new driver changes pause(500) to pause(1000), keeping drive(90). Both predict what will change. Run from the same start and compare: the wait is longer; the requested movement is unchanged. Each student points to one line and explains its effect. Save a pair-specific copy such as W01_P1; do not overwrite the mentor’s known-good starter.</a:t>
            </a:r>
          </a:p>
          <a:p xmlns:a="http://schemas.openxmlformats.org/drawingml/2006/main">
            <a:r>
              <a:t/>
            </a:r>
          </a:p>
          <a:p xmlns:a="http://schemas.openxmlformats.org/drawingml/2006/main">
            <a:r>
              <a:t>AWAY FROM THE ROBOT</a:t>
            </a:r>
          </a:p>
          <a:p xmlns:a="http://schemas.openxmlformats.org/drawingml/2006/main">
            <a:r>
              <a:t>Use the Week 1 station task card: arrange the action cards, trace them aloud, swap the first and last actions, and draw the robot with the hub and a visible output labeled. Partners take turns being the reader and the robot. Record a prediction for the later retest. This is not time to complete the baseline; that happened before the demonstration.</a:t>
            </a:r>
          </a:p>
          <a:p xmlns:a="http://schemas.openxmlformats.org/drawingml/2006/main">
            <a:r>
              <a:t/>
            </a:r>
          </a:p>
          <a:p xmlns:a="http://schemas.openxmlformats.org/drawingml/2006/main">
            <a:r>
              <a:t>MENTOR COACHING</a:t>
            </a:r>
          </a:p>
          <a:p xmlns:a="http://schemas.openxmlformats.org/drawingml/2006/main">
            <a:r>
              <a:t>Ask: “What did you expect? What did you observe? Which single line could explain the difference?” Let students answer before editing. For a syntax error, inspect quotes and indentation; for no response, check the correct hub and whether the program started. For reversed or spinning motion, stop and check the pretested physical setup and A/B wiring. Do not solve a motor configuration problem by inviting random edits to the recipe.</a:t>
            </a:r>
          </a:p>
          <a:p xmlns:a="http://schemas.openxmlformats.org/drawingml/2006/main">
            <a:r>
              <a:t/>
            </a:r>
          </a:p>
          <a:p xmlns:a="http://schemas.openxmlformats.org/drawingml/2006/main">
            <a:r>
              <a:t>MINIMUM SUCCESS</a:t>
            </a:r>
          </a:p>
          <a:p xmlns:a="http://schemas.openxmlformats.org/drawingml/2006/main">
            <a:r>
              <a:t>A chosen letter, one observed sequence, and an explanation from both students. If movement is unavailable, a correctly explained display/wait sequence still supports today’s learning goal.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Evidence from our test</a:t>
            </a:r>
          </a:p>
          <a:p xmlns:a="http://schemas.openxmlformats.org/drawingml/2006/main">
            <a:r>
              <a:t>39:00–49:00 — five-minute retest for each pair</a:t>
            </a:r>
          </a:p>
          <a:p xmlns:a="http://schemas.openxmlformats.org/drawingml/2006/main">
            <a:r>
              <a:t/>
            </a:r>
          </a:p>
          <a:p xmlns:a="http://schemas.openxmlformats.org/drawingml/2006/main">
            <a:r>
              <a:t>PURPOSE</a:t>
            </a:r>
          </a:p>
          <a:p xmlns:a="http://schemas.openxmlformats.org/drawingml/2006/main">
            <a:r>
              <a:t>Use a second short robot turn to connect a deliberate change with evidence. Keep this slide visible during retests.</a:t>
            </a:r>
          </a:p>
          <a:p xmlns:a="http://schemas.openxmlformats.org/drawingml/2006/main">
            <a:r>
              <a:t/>
            </a:r>
          </a:p>
          <a:p xmlns:a="http://schemas.openxmlformats.org/drawingml/2006/main">
            <a:r>
              <a:t>ROTATION MAP</a:t>
            </a:r>
          </a:p>
          <a:p xmlns:a="http://schemas.openxmlformats.org/drawingml/2006/main">
            <a:r>
              <a:t>39:00–44:00: pairs 1 and 3 retest; pairs 2 and 4 prepare their explanation.</a:t>
            </a:r>
          </a:p>
          <a:p xmlns:a="http://schemas.openxmlformats.org/drawingml/2006/main">
            <a:r>
              <a:t>44:00–49:00: pairs 2 and 4 retest; pairs 1 and 3 complete their evidence record. Switch operating roles halfway through each five-minute turn, around 41:30 and 46:30. A brief handoff is enough; do not restart the whole lesson.</a:t>
            </a:r>
          </a:p>
          <a:p xmlns:a="http://schemas.openxmlformats.org/drawingml/2006/main">
            <a:r>
              <a:t/>
            </a:r>
          </a:p>
          <a:p xmlns:a="http://schemas.openxmlformats.org/drawingml/2006/main">
            <a:r>
              <a:t>SAY</a:t>
            </a:r>
          </a:p>
          <a:p xmlns:a="http://schemas.openxmlformats.org/drawingml/2006/main">
            <a:r>
              <a:t>“Choose one small change. Before you run, complete ‘We changed…’ and ‘We predicted…’. Afterward, write what actually happened, even if it was different from the prediction.”</a:t>
            </a:r>
          </a:p>
          <a:p xmlns:a="http://schemas.openxmlformats.org/drawingml/2006/main">
            <a:r>
              <a:t/>
            </a:r>
          </a:p>
          <a:p xmlns:a="http://schemas.openxmlformats.org/drawingml/2006/main">
            <a:r>
              <a:t>SUITABLE RETESTS</a:t>
            </a:r>
          </a:p>
          <a:p xmlns:a="http://schemas.openxmlformats.org/drawingml/2006/main">
            <a:r>
              <a:t>Change only the letter; change the pause; or move the signal line after the drive line. Keep drive(90), the start position, and the test lane unchanged. If rearranging code is difficult, students can arrange paper cards and ask the mentor for a minimal typing assist while they direct the edit.</a:t>
            </a:r>
          </a:p>
          <a:p xmlns:a="http://schemas.openxmlformats.org/drawingml/2006/main">
            <a:r>
              <a:t/>
            </a:r>
          </a:p>
          <a:p xmlns:a="http://schemas.openxmlformats.org/drawingml/2006/main">
            <a:r>
              <a:t>MODEL AN EVIDENCE STATEMENT</a:t>
            </a:r>
          </a:p>
          <a:p xmlns:a="http://schemas.openxmlformats.org/drawingml/2006/main">
            <a:r>
              <a:t>“We changed the pause from 500 to 1000. We predicted a longer wait before moving. We observed that the letter appeared, the robot waited longer, and then it moved.” Do not claim that a longer pause makes the robot travel farther. Avoid a precise distance claim unless the pair measured it.</a:t>
            </a:r>
          </a:p>
          <a:p xmlns:a="http://schemas.openxmlformats.org/drawingml/2006/main">
            <a:r>
              <a:t/>
            </a:r>
          </a:p>
          <a:p xmlns:a="http://schemas.openxmlformats.org/drawingml/2006/main">
            <a:r>
              <a:t>ASK EACH PARTNER</a:t>
            </a:r>
          </a:p>
          <a:p xmlns:a="http://schemas.openxmlformats.org/drawingml/2006/main">
            <a:r>
              <a:t>“Show me the line you changed.” “What stayed the same?” “Did the observed order match your prediction?” If a result was unexpected, ask for the next useful test rather than calling the whole attempt a failure.</a:t>
            </a:r>
          </a:p>
          <a:p xmlns:a="http://schemas.openxmlformats.org/drawingml/2006/main">
            <a:r>
              <a:t/>
            </a:r>
          </a:p>
          <a:p xmlns:a="http://schemas.openxmlformats.org/drawingml/2006/main">
            <a:r>
              <a:t>IF STUDENTS FINISH EARLY</a:t>
            </a:r>
          </a:p>
          <a:p xmlns:a="http://schemas.openxmlformats.org/drawingml/2006/main">
            <a:r>
              <a:t>They may add a second one-letter signal after the movement and explain why its position matters. Keep the support code and motor speed unchanged. There is no speed competition.</a:t>
            </a:r>
          </a:p>
          <a:p xmlns:a="http://schemas.openxmlformats.org/drawingml/2006/main">
            <a:r>
              <a:t/>
            </a:r>
          </a:p>
          <a:p xmlns:a="http://schemas.openxmlformats.org/drawingml/2006/main">
            <a:r>
              <a:t>IF TROUBLESHOOTING TAKES OVER</a:t>
            </a:r>
          </a:p>
          <a:p xmlns:a="http://schemas.openxmlformats.org/drawingml/2006/main">
            <a:r>
              <a:t>Restore the prepared starter and preserve a successful simple run. Use the mentor-tested Word Blocks equivalent only if that fallback was prepared before class: display text → wait 0.5 seconds → straight move for 0.25 wheel rotations at a tested slow speed, with A/B movement motors. Do not build an unfamiliar fallback live.</a:t>
            </a:r>
          </a:p>
          <a:p xmlns:a="http://schemas.openxmlformats.org/drawingml/2006/main">
            <a:r>
              <a:t/>
            </a:r>
          </a:p>
          <a:p xmlns:a="http://schemas.openxmlformats.org/drawingml/2006/main">
            <a:r>
              <a:t>TRANSITION AT 49:00</a:t>
            </a:r>
          </a:p>
          <a:p xmlns:a="http://schemas.openxmlformats.org/drawingml/2006/main">
            <a:r>
              <a:t>“Stop the robots. Now each person will explain one idea they can use again next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What you can explain now</a:t>
            </a:r>
          </a:p>
          <a:p xmlns:a="http://schemas.openxmlformats.org/drawingml/2006/main">
            <a:r>
              <a:t>49:00–60:00 — individual explanation, saving and reset</a:t>
            </a:r>
          </a:p>
          <a:p xmlns:a="http://schemas.openxmlformats.org/drawingml/2006/main">
            <a:r>
              <a:t/>
            </a:r>
          </a:p>
          <a:p xmlns:a="http://schemas.openxmlformats.org/drawingml/2006/main">
            <a:r>
              <a:t>PURPOSE</a:t>
            </a:r>
          </a:p>
          <a:p xmlns:a="http://schemas.openxmlformats.org/drawingml/2006/main">
            <a:r>
              <a:t>Check individual understanding and end with an orderly save and pack-up. The learning check is at minutes 49–54; the final six minutes are protected for cleanup.</a:t>
            </a:r>
          </a:p>
          <a:p xmlns:a="http://schemas.openxmlformats.org/drawingml/2006/main">
            <a:r>
              <a:t/>
            </a:r>
          </a:p>
          <a:p xmlns:a="http://schemas.openxmlformats.org/drawingml/2006/main">
            <a:r>
              <a:t>ASK — 49:00–54:00</a:t>
            </a:r>
          </a:p>
          <a:p xmlns:a="http://schemas.openxmlformats.org/drawingml/2006/main">
            <a:r>
              <a:t>“Which line caused the robot to move?” Expected: await drive(90).</a:t>
            </a:r>
          </a:p>
          <a:p xmlns:a="http://schemas.openxmlformats.org/drawingml/2006/main">
            <a:r>
              <a:t>“What would happen if the signal line came last?” Make the proposed sequence explicit: pause → drive → signal. Expected: the robot waits, moves, then displays the letter. The signal is no longer the first action.</a:t>
            </a:r>
          </a:p>
          <a:p xmlns:a="http://schemas.openxmlformats.org/drawingml/2006/main">
            <a:r>
              <a:t>Have each student finish: “A program is ___, and the line I changed made ___ happen.” Accept “a set of instructions” and a correct example. Invite an oral answer, pointing plus explanation, or a short written response. The mentor should not answer for the student.</a:t>
            </a:r>
          </a:p>
          <a:p xmlns:a="http://schemas.openxmlformats.org/drawingml/2006/main">
            <a:r>
              <a:t/>
            </a:r>
          </a:p>
          <a:p xmlns:a="http://schemas.openxmlformats.org/drawingml/2006/main">
            <a:r>
              <a:t>WITH TWO PODS</a:t>
            </a:r>
          </a:p>
          <a:p xmlns:a="http://schemas.openxmlformats.org/drawingml/2006/main">
            <a:r>
              <a:t>Each mentor listens to the four students in their pod so eight students do not have to speak sequentially to the whole room. Record a brief observation, especially whether each student explained order and had an operating turn. This is an exit reflection, not a coached repeat of the full baseline assessment.</a:t>
            </a:r>
          </a:p>
          <a:p xmlns:a="http://schemas.openxmlformats.org/drawingml/2006/main">
            <a:r>
              <a:t/>
            </a:r>
          </a:p>
          <a:p xmlns:a="http://schemas.openxmlformats.org/drawingml/2006/main">
            <a:r>
              <a:t>CONNECT TO FRC</a:t>
            </a:r>
          </a:p>
          <a:p xmlns:a="http://schemas.openxmlformats.org/drawingml/2006/main">
            <a:r>
              <a:t>Say: “Our bigger competition robots also depend on clear instructions and useful signals. Today you made a prediction, changed code, and checked the result—the same kind of careful testing our team uses.” Keep this connection brief and do not imply that joining the course commits anyone to a team.</a:t>
            </a:r>
          </a:p>
          <a:p xmlns:a="http://schemas.openxmlformats.org/drawingml/2006/main">
            <a:r>
              <a:t/>
            </a:r>
          </a:p>
          <a:p xmlns:a="http://schemas.openxmlformats.org/drawingml/2006/main">
            <a:r>
              <a:t>SAVE AND RESET — 54:00–60:00</a:t>
            </a:r>
          </a:p>
          <a:p xmlns:a="http://schemas.openxmlformats.org/drawingml/2006/main">
            <a:r>
              <a:t>54:00–56:00: mentors help each pair save its project or export using the app’s rehearsed workflow. Keep pair IDs on files and evidence sheets. Restore the known-good project separately.</a:t>
            </a:r>
          </a:p>
          <a:p xmlns:a="http://schemas.openxmlformats.org/drawingml/2006/main">
            <a:r>
              <a:t>56:00–58:00: stop both robots; count loose pieces and remove/store paper flags if needed. Leave both SPIKE chassis assembled. Put personal borrowed pieces in their labeled locations and update the loan log if anything changed.</a:t>
            </a:r>
          </a:p>
          <a:p xmlns:a="http://schemas.openxmlformats.org/drawingml/2006/main">
            <a:r>
              <a:t>58:00–60:00: collect worksheets, put devices and robots in their assigned storage/charging places, and follow the YMCA’s dismissal procedure. A mentor confirms that the EV3 demo is also stopped and secured.</a:t>
            </a:r>
          </a:p>
          <a:p xmlns:a="http://schemas.openxmlformats.org/drawingml/2006/main">
            <a:r>
              <a:t/>
            </a:r>
          </a:p>
          <a:p xmlns:a="http://schemas.openxmlformats.org/drawingml/2006/main">
            <a:r>
              <a:t>CLOSE</a:t>
            </a:r>
          </a:p>
          <a:p xmlns:a="http://schemas.openxmlformats.org/drawingml/2006/main">
            <a:r>
              <a:t>“Next time we will investigate how to deliver the robot to a target. Your prediction and test record will matter again.”</a:t>
            </a:r>
          </a:p>
          <a:p xmlns:a="http://schemas.openxmlformats.org/drawingml/2006/main">
            <a:r>
              <a:t/>
            </a:r>
          </a:p>
          <a:p xmlns:a="http://schemas.openxmlformats.org/drawingml/2006/main">
            <a:r>
              <a:t>AFTER STUDENTS LEAVE</a:t>
            </a:r>
          </a:p>
          <a:p xmlns:a="http://schemas.openxmlformats.org/drawingml/2006/main">
            <a:r>
              <a:t>Back up pair files, record any kit or connection problems, and update SESSION_PREP.md. Charge equipment according to the agreed routine. Do not dismantle the teaching bases between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6d56a6e957461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9855fd23d66451d" /><Relationship Type="http://schemas.openxmlformats.org/officeDocument/2006/relationships/slideLayout" Target="/ppt/slideLayouts/slideLayout1.xml" Id="Rad17d767f0fe4ea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d17d767f0fe4ea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afa1692315d4483" /><Relationship Type="http://schemas.openxmlformats.org/officeDocument/2006/relationships/notesSlide" Target="/ppt/notesSlides/notesSlide1.xml" Id="R3f814270754841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3f1a9954da24c96" /><Relationship Type="http://schemas.openxmlformats.org/officeDocument/2006/relationships/image" Target="/ppt/media/image.png" Id="R4a2f6327ccc349f7" /><Relationship Type="http://schemas.openxmlformats.org/officeDocument/2006/relationships/notesSlide" Target="/ppt/notesSlides/notesSlide2.xml" Id="R663c68b9ff86493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b75c1457ae44bdf" /><Relationship Type="http://schemas.openxmlformats.org/officeDocument/2006/relationships/notesSlide" Target="/ppt/notesSlides/notesSlide3.xml" Id="R196bc1ce9a7a42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b3bf8971c9f4aa9" /><Relationship Type="http://schemas.openxmlformats.org/officeDocument/2006/relationships/notesSlide" Target="/ppt/notesSlides/notesSlide4.xml" Id="R5a69224535a24a9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b6ad0fc099c47e7" /><Relationship Type="http://schemas.openxmlformats.org/officeDocument/2006/relationships/notesSlide" Target="/ppt/notesSlides/notesSlide5.xml" Id="R93df2d3048294ec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b133466b2b44f08" /><Relationship Type="http://schemas.openxmlformats.org/officeDocument/2006/relationships/notesSlide" Target="/ppt/notesSlides/notesSlide6.xml" Id="Rff90018c7f94412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63c46a54aa04072" /><Relationship Type="http://schemas.openxmlformats.org/officeDocument/2006/relationships/notesSlide" Target="/ppt/notesSlides/notesSlide7.xml" Id="R27f90bd6bad9466c"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50CB8989-29D1-499A-953B-5A30AC8A6E4C}"/>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100" b="1">
                <a:solidFill>
                  <a:srgbClr val="FFFFFF"/>
                </a:solidFill>
                <a:latin typeface="Arial"/>
                <a:ea typeface="Arial"/>
                <a:cs typeface="Arial"/>
              </a:defRPr>
            </a:pPr>
            <a:r>
              <a:rPr sz="5100" b="1">
                <a:solidFill>
                  <a:srgbClr val="FFFFFF"/>
                </a:solidFill>
                <a:latin typeface="Arial"/>
                <a:ea typeface="Arial"/>
                <a:cs typeface="Arial"/>
              </a:rPr>
              <a:t>Meet your robot</a:t>
            </a:r>
          </a:p>
        </p:txBody>
      </p:sp>
      <p:sp>
        <p:nvSpPr>
          <p:cNvPr id="2" name="">
            <a:extLst xmlns:a="http://schemas.openxmlformats.org/drawingml/2006/main">
              <a:ext uri="{FF2B5EF4-FFF2-40B4-BE49-F238E27FC236}">
                <a16:creationId xmlns:a16="http://schemas.microsoft.com/office/drawing/2014/main" id="{735C3AF9-1412-4DCD-B592-B3BCD950851D}"/>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9DDADD"/>
                </a:solidFill>
                <a:latin typeface="Arial"/>
                <a:ea typeface="Arial"/>
                <a:cs typeface="Arial"/>
              </a:defRPr>
            </a:pPr>
            <a:r>
              <a:rPr sz="2475" b="0">
                <a:solidFill>
                  <a:srgbClr val="9DDADD"/>
                </a:solidFill>
                <a:latin typeface="Arial"/>
                <a:ea typeface="Arial"/>
                <a:cs typeface="Arial"/>
              </a:rPr>
              <a:t>A signal and a first movement</a:t>
            </a:r>
          </a:p>
        </p:txBody>
      </p:sp>
      <p:sp>
        <p:nvSpPr>
          <p:cNvPr id="3" name="">
            <a:extLst xmlns:a="http://schemas.openxmlformats.org/drawingml/2006/main">
              <a:ext uri="{FF2B5EF4-FFF2-40B4-BE49-F238E27FC236}">
                <a16:creationId xmlns:a16="http://schemas.microsoft.com/office/drawing/2014/main" id="{890EA85B-9107-42B8-94AF-1B347A1A38D8}"/>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Week 1 · MechaRAMS at the YMCA</a:t>
            </a:r>
          </a:p>
        </p:txBody>
      </p:sp>
    </p:spTree>
    <p:extLst>
      <p:ext uri="{BB962C8B-B14F-4D97-AF65-F5344CB8AC3E}">
        <p14:creationId xmlns:p14="http://schemas.microsoft.com/office/powerpoint/2010/main" val="1675300033"/>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24D4AB7-69A6-4949-8E36-E32FB9A6E1E5}"/>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ED42EAD5-A38C-4169-BBE6-0830C4F3963B}"/>
              </a:ext>
            </a:extLst>
          </p:cNvPr>
          <p:cNvSpPr>
            <a:spLocks xmlns:a="http://schemas.openxmlformats.org/drawingml/2006/main" noGrp="1"/>
          </p:cNvSpPr>
          <p:nvPr/>
        </p:nvSpPr>
        <p:spPr>
          <a:xfrm xmlns:a="http://schemas.openxmlformats.org/drawingml/2006/main">
            <a:off x="762000" y="1952625"/>
            <a:ext cx="4667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A one-letter welcome signal</a:t>
            </a:r>
          </a:p>
        </p:txBody>
      </p:sp>
      <p:sp>
        <p:nvSpPr>
          <p:cNvPr id="3" name="">
            <a:extLst xmlns:a="http://schemas.openxmlformats.org/drawingml/2006/main">
              <a:ext uri="{FF2B5EF4-FFF2-40B4-BE49-F238E27FC236}">
                <a16:creationId xmlns:a16="http://schemas.microsoft.com/office/drawing/2014/main" id="{7AF0BF6A-A50E-4DF3-AC52-5C5A62BE6B87}"/>
              </a:ext>
            </a:extLst>
          </p:cNvPr>
          <p:cNvSpPr>
            <a:spLocks xmlns:a="http://schemas.openxmlformats.org/drawingml/2006/main" noGrp="1"/>
          </p:cNvSpPr>
          <p:nvPr/>
        </p:nvSpPr>
        <p:spPr>
          <a:xfrm xmlns:a="http://schemas.openxmlformats.org/drawingml/2006/main">
            <a:off x="762000" y="3000375"/>
            <a:ext cx="4667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A short forward move</a:t>
            </a:r>
          </a:p>
        </p:txBody>
      </p:sp>
      <p:sp>
        <p:nvSpPr>
          <p:cNvPr id="4" name="">
            <a:extLst xmlns:a="http://schemas.openxmlformats.org/drawingml/2006/main">
              <a:ext uri="{FF2B5EF4-FFF2-40B4-BE49-F238E27FC236}">
                <a16:creationId xmlns:a16="http://schemas.microsoft.com/office/drawing/2014/main" id="{B05733F2-A31A-4D68-B80E-0913C09E4719}"/>
              </a:ext>
            </a:extLst>
          </p:cNvPr>
          <p:cNvSpPr>
            <a:spLocks xmlns:a="http://schemas.openxmlformats.org/drawingml/2006/main" noGrp="1"/>
          </p:cNvSpPr>
          <p:nvPr/>
        </p:nvSpPr>
        <p:spPr>
          <a:xfrm xmlns:a="http://schemas.openxmlformats.org/drawingml/2006/main">
            <a:off x="762000" y="4048125"/>
            <a:ext cx="4667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A prediction about the order</a:t>
            </a:r>
          </a:p>
        </p:txBody>
      </p:sp>
      <p:pic>
        <p:nvPicPr>
          <p:cNvPr id="10" name="">
            <a:extLst xmlns:a="http://schemas.openxmlformats.org/drawingml/2006/main">
              <a:ext uri="{FF2B5EF4-FFF2-40B4-BE49-F238E27FC236}">
                <a16:creationId xmlns:a16="http://schemas.microsoft.com/office/drawing/2014/main" id="{37352EA4-B433-4493-91BD-9DB4391D9E0B}"/>
              </a:ext>
            </a:extLst>
          </p:cNvPr>
          <p:cNvPicPr>
            <a:picLocks xmlns:a="http://schemas.openxmlformats.org/drawingml/2006/main" noChangeAspect="1"/>
          </p:cNvPicPr>
          <p:nvPr/>
        </p:nvPicPr>
        <p:blipFill>
          <a:blip xmlns:r="http://schemas.openxmlformats.org/officeDocument/2006/relationships" xmlns:a="http://schemas.openxmlformats.org/drawingml/2006/main" r:embed="R4a2f6327ccc349f7"/>
          <a:stretch xmlns:a="http://schemas.openxmlformats.org/drawingml/2006/main"/>
        </p:blipFill>
        <p:spPr>
          <a:xfrm xmlns:a="http://schemas.openxmlformats.org/drawingml/2006/main">
            <a:off x="5905500" y="1714500"/>
            <a:ext cx="5715000" cy="3810000"/>
          </a:xfrm>
          <a:prstGeom xmlns:a="http://schemas.openxmlformats.org/drawingml/2006/main" prst="rect">
            <a:avLst/>
          </a:prstGeom>
        </p:spPr>
      </p:pic>
    </p:spTree>
    <p:extLst>
      <p:ext uri="{BB962C8B-B14F-4D97-AF65-F5344CB8AC3E}">
        <p14:creationId xmlns:p14="http://schemas.microsoft.com/office/powerpoint/2010/main" val="81967204"/>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20A96F9-4903-43FE-9A46-7C936D2677C4}"/>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FFFFFF"/>
                </a:solidFill>
                <a:latin typeface="Arial"/>
                <a:ea typeface="Arial"/>
                <a:cs typeface="Arial"/>
              </a:defRPr>
            </a:pPr>
            <a:r>
              <a:rPr sz="3600" b="1">
                <a:solidFill>
                  <a:srgbClr val="FFFFFF"/>
                </a:solidFill>
                <a:latin typeface="Arial"/>
                <a:ea typeface="Arial"/>
                <a:cs typeface="Arial"/>
              </a:rPr>
              <a:t>Sequence and a function call</a:t>
            </a:r>
          </a:p>
        </p:txBody>
      </p:sp>
      <p:sp>
        <p:nvSpPr>
          <p:cNvPr id="2" name="">
            <a:extLst xmlns:a="http://schemas.openxmlformats.org/drawingml/2006/main">
              <a:ext uri="{FF2B5EF4-FFF2-40B4-BE49-F238E27FC236}">
                <a16:creationId xmlns:a16="http://schemas.microsoft.com/office/drawing/2014/main" id="{0179892B-E892-4B95-B2A2-B9D57574A633}"/>
              </a:ext>
            </a:extLst>
          </p:cNvPr>
          <p:cNvSpPr>
            <a:spLocks xmlns:a="http://schemas.openxmlformats.org/drawingml/2006/main" noGrp="1"/>
          </p:cNvSpPr>
          <p:nvPr/>
        </p:nvSpPr>
        <p:spPr>
          <a:xfrm xmlns:a="http://schemas.openxmlformats.org/drawingml/2006/main">
            <a:off x="781050" y="1952625"/>
            <a:ext cx="10572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signal("Y")</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pause(500)</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drive(90)</a:t>
            </a:r>
          </a:p>
        </p:txBody>
      </p:sp>
      <p:sp>
        <p:nvSpPr>
          <p:cNvPr id="3" name="">
            <a:extLst xmlns:a="http://schemas.openxmlformats.org/drawingml/2006/main">
              <a:ext uri="{FF2B5EF4-FFF2-40B4-BE49-F238E27FC236}">
                <a16:creationId xmlns:a16="http://schemas.microsoft.com/office/drawing/2014/main" id="{DDF40221-1690-4526-83DC-CE2F7495DEB2}"/>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Reading fragment from a complete supplied Python project</a:t>
            </a:r>
          </a:p>
        </p:txBody>
      </p:sp>
    </p:spTree>
    <p:extLst>
      <p:ext uri="{BB962C8B-B14F-4D97-AF65-F5344CB8AC3E}">
        <p14:creationId xmlns:p14="http://schemas.microsoft.com/office/powerpoint/2010/main" val="242496929"/>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72E5DFE-CCCA-4820-BC03-309F4B3CAC7E}"/>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A prediction before the run</a:t>
            </a:r>
          </a:p>
        </p:txBody>
      </p:sp>
      <p:sp>
        <p:nvSpPr>
          <p:cNvPr id="2" name="">
            <a:extLst xmlns:a="http://schemas.openxmlformats.org/drawingml/2006/main">
              <a:ext uri="{FF2B5EF4-FFF2-40B4-BE49-F238E27FC236}">
                <a16:creationId xmlns:a16="http://schemas.microsoft.com/office/drawing/2014/main" id="{98833B8F-526D-4FC9-A946-E0C89F9F0689}"/>
              </a:ext>
            </a:extLst>
          </p:cNvPr>
          <p:cNvSpPr>
            <a:spLocks xmlns:a="http://schemas.openxmlformats.org/drawingml/2006/main" noGrp="1"/>
          </p:cNvSpPr>
          <p:nvPr/>
        </p:nvSpPr>
        <p:spPr>
          <a:xfrm xmlns:a="http://schemas.openxmlformats.org/drawingml/2006/main">
            <a:off x="762000" y="1952625"/>
            <a:ext cx="10477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0">
                <a:solidFill>
                  <a:srgbClr val="173044"/>
                </a:solidFill>
                <a:latin typeface="Arial"/>
                <a:ea typeface="Arial"/>
                <a:cs typeface="Arial"/>
              </a:defRPr>
            </a:pPr>
            <a:r>
              <a:rPr sz="2625" b="0">
                <a:solidFill>
                  <a:srgbClr val="173044"/>
                </a:solidFill>
                <a:latin typeface="Arial"/>
                <a:ea typeface="Arial"/>
                <a:cs typeface="Arial"/>
              </a:rPr>
              <a:t>Which instruction happens first?</a:t>
            </a:r>
          </a:p>
        </p:txBody>
      </p:sp>
      <p:sp>
        <p:nvSpPr>
          <p:cNvPr id="3" name="">
            <a:extLst xmlns:a="http://schemas.openxmlformats.org/drawingml/2006/main">
              <a:ext uri="{FF2B5EF4-FFF2-40B4-BE49-F238E27FC236}">
                <a16:creationId xmlns:a16="http://schemas.microsoft.com/office/drawing/2014/main" id="{9866B2C4-5961-49FD-9D0F-0B0DE2F9E38B}"/>
              </a:ext>
            </a:extLst>
          </p:cNvPr>
          <p:cNvSpPr>
            <a:spLocks xmlns:a="http://schemas.openxmlformats.org/drawingml/2006/main" noGrp="1"/>
          </p:cNvSpPr>
          <p:nvPr/>
        </p:nvSpPr>
        <p:spPr>
          <a:xfrm xmlns:a="http://schemas.openxmlformats.org/drawingml/2006/main">
            <a:off x="762000" y="3476625"/>
            <a:ext cx="10477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0">
                <a:solidFill>
                  <a:srgbClr val="173044"/>
                </a:solidFill>
                <a:latin typeface="Arial"/>
                <a:ea typeface="Arial"/>
                <a:cs typeface="Arial"/>
              </a:defRPr>
            </a:pPr>
            <a:r>
              <a:rPr sz="2625" b="0">
                <a:solidFill>
                  <a:srgbClr val="173044"/>
                </a:solidFill>
                <a:latin typeface="Arial"/>
                <a:ea typeface="Arial"/>
                <a:cs typeface="Arial"/>
              </a:rPr>
              <a:t>What changes if the last line moves to the top?</a:t>
            </a:r>
          </a:p>
        </p:txBody>
      </p:sp>
      <p:sp>
        <p:nvSpPr>
          <p:cNvPr id="4" name="">
            <a:extLst xmlns:a="http://schemas.openxmlformats.org/drawingml/2006/main">
              <a:ext uri="{FF2B5EF4-FFF2-40B4-BE49-F238E27FC236}">
                <a16:creationId xmlns:a16="http://schemas.microsoft.com/office/drawing/2014/main" id="{D2A2DC79-6064-41EF-A02D-3022C01D321A}"/>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Both partners explain a prediction before anyone presses Run.</a:t>
            </a:r>
          </a:p>
        </p:txBody>
      </p:sp>
    </p:spTree>
    <p:extLst>
      <p:ext uri="{BB962C8B-B14F-4D97-AF65-F5344CB8AC3E}">
        <p14:creationId xmlns:p14="http://schemas.microsoft.com/office/powerpoint/2010/main" val="354303294"/>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0B58D5-391C-495D-997D-ADB177E101B7}"/>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Your work with a partner</a:t>
            </a:r>
          </a:p>
        </p:txBody>
      </p:sp>
      <p:sp>
        <p:nvSpPr>
          <p:cNvPr id="2" name="">
            <a:extLst xmlns:a="http://schemas.openxmlformats.org/drawingml/2006/main">
              <a:ext uri="{FF2B5EF4-FFF2-40B4-BE49-F238E27FC236}">
                <a16:creationId xmlns:a16="http://schemas.microsoft.com/office/drawing/2014/main" id="{D90FE39C-033E-41DF-BC69-02F2B3422760}"/>
              </a:ext>
            </a:extLst>
          </p:cNvPr>
          <p:cNvSpPr>
            <a:spLocks xmlns:a="http://schemas.openxmlformats.org/drawingml/2006/main" noGrp="1"/>
          </p:cNvSpPr>
          <p:nvPr/>
        </p:nvSpPr>
        <p:spPr>
          <a:xfrm xmlns:a="http://schemas.openxmlformats.org/drawingml/2006/main">
            <a:off x="762000" y="19526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Driver: edit and start after the lane check.</a:t>
            </a:r>
          </a:p>
        </p:txBody>
      </p:sp>
      <p:sp>
        <p:nvSpPr>
          <p:cNvPr id="3" name="">
            <a:extLst xmlns:a="http://schemas.openxmlformats.org/drawingml/2006/main">
              <a:ext uri="{FF2B5EF4-FFF2-40B4-BE49-F238E27FC236}">
                <a16:creationId xmlns:a16="http://schemas.microsoft.com/office/drawing/2014/main" id="{FA387FCD-6786-4551-A353-83CCCF3DAB84}"/>
              </a:ext>
            </a:extLst>
          </p:cNvPr>
          <p:cNvSpPr>
            <a:spLocks xmlns:a="http://schemas.openxmlformats.org/drawingml/2006/main" noGrp="1"/>
          </p:cNvSpPr>
          <p:nvPr/>
        </p:nvSpPr>
        <p:spPr>
          <a:xfrm xmlns:a="http://schemas.openxmlformats.org/drawingml/2006/main">
            <a:off x="762000" y="28860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Navigator: predict, check, and record.</a:t>
            </a:r>
          </a:p>
        </p:txBody>
      </p:sp>
      <p:sp>
        <p:nvSpPr>
          <p:cNvPr id="4" name="">
            <a:extLst xmlns:a="http://schemas.openxmlformats.org/drawingml/2006/main">
              <a:ext uri="{FF2B5EF4-FFF2-40B4-BE49-F238E27FC236}">
                <a16:creationId xmlns:a16="http://schemas.microsoft.com/office/drawing/2014/main" id="{5E3D8247-D110-4B29-9A81-EF37210107B7}"/>
              </a:ext>
            </a:extLst>
          </p:cNvPr>
          <p:cNvSpPr>
            <a:spLocks xmlns:a="http://schemas.openxmlformats.org/drawingml/2006/main" noGrp="1"/>
          </p:cNvSpPr>
          <p:nvPr/>
        </p:nvSpPr>
        <p:spPr>
          <a:xfrm xmlns:a="http://schemas.openxmlformats.org/drawingml/2006/main">
            <a:off x="762000" y="38195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Swap roles halfway through your robot turn.</a:t>
            </a:r>
          </a:p>
        </p:txBody>
      </p:sp>
      <p:sp>
        <p:nvSpPr>
          <p:cNvPr id="5" name="">
            <a:extLst xmlns:a="http://schemas.openxmlformats.org/drawingml/2006/main">
              <a:ext uri="{FF2B5EF4-FFF2-40B4-BE49-F238E27FC236}">
                <a16:creationId xmlns:a16="http://schemas.microsoft.com/office/drawing/2014/main" id="{95703C46-DA64-4826-8113-BD23805A64A7}"/>
              </a:ext>
            </a:extLst>
          </p:cNvPr>
          <p:cNvSpPr>
            <a:spLocks xmlns:a="http://schemas.openxmlformats.org/drawingml/2006/main" noGrp="1"/>
          </p:cNvSpPr>
          <p:nvPr/>
        </p:nvSpPr>
        <p:spPr>
          <a:xfrm xmlns:a="http://schemas.openxmlformats.org/drawingml/2006/main">
            <a:off x="762000" y="47529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Away from the robot: complete the worksheet task.</a:t>
            </a:r>
          </a:p>
        </p:txBody>
      </p:sp>
    </p:spTree>
    <p:extLst>
      <p:ext uri="{BB962C8B-B14F-4D97-AF65-F5344CB8AC3E}">
        <p14:creationId xmlns:p14="http://schemas.microsoft.com/office/powerpoint/2010/main" val="745850989"/>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B263C23-3953-4FCB-A065-E9014904B0D5}"/>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ACF76F8A-9139-4F78-805A-552E1AD4AEE9}"/>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50709F86-8F5E-4393-B7B1-51959736751C}"/>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E7226248-2E82-47E8-99E3-BDE4325CF533}"/>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FF650DDB-1B73-4FFE-8B1C-9BB7ADAA06C6}"/>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1503073217"/>
      </p:ext>
    </p:extLst>
  </p:cSld>
</p:sld>
</file>

<file path=ppt/slides/slide7.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6EFB6B0-C338-4C68-A5DB-A23EDE5278CB}"/>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What you can explain now</a:t>
            </a:r>
          </a:p>
        </p:txBody>
      </p:sp>
      <p:sp>
        <p:nvSpPr>
          <p:cNvPr id="2" name="">
            <a:extLst xmlns:a="http://schemas.openxmlformats.org/drawingml/2006/main">
              <a:ext uri="{FF2B5EF4-FFF2-40B4-BE49-F238E27FC236}">
                <a16:creationId xmlns:a16="http://schemas.microsoft.com/office/drawing/2014/main" id="{64C0A97E-FE0E-41C7-BD7C-9C4F7CED1956}"/>
              </a:ext>
            </a:extLst>
          </p:cNvPr>
          <p:cNvSpPr>
            <a:spLocks xmlns:a="http://schemas.openxmlformats.org/drawingml/2006/main" noGrp="1"/>
          </p:cNvSpPr>
          <p:nvPr/>
        </p:nvSpPr>
        <p:spPr>
          <a:xfrm xmlns:a="http://schemas.openxmlformats.org/drawingml/2006/main">
            <a:off x="762000" y="1857375"/>
            <a:ext cx="10477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775" b="0">
                <a:solidFill>
                  <a:srgbClr val="173044"/>
                </a:solidFill>
                <a:latin typeface="Arial"/>
                <a:ea typeface="Arial"/>
                <a:cs typeface="Arial"/>
              </a:defRPr>
            </a:pPr>
            <a:r>
              <a:rPr sz="2775" b="0">
                <a:solidFill>
                  <a:srgbClr val="173044"/>
                </a:solidFill>
                <a:latin typeface="Arial"/>
                <a:ea typeface="Arial"/>
                <a:cs typeface="Arial"/>
              </a:rPr>
              <a:t>Which line caused the robot to move? What would happen if the signal line came last?</a:t>
            </a:r>
          </a:p>
        </p:txBody>
      </p:sp>
      <p:sp>
        <p:nvSpPr>
          <p:cNvPr id="3" name="">
            <a:extLst xmlns:a="http://schemas.openxmlformats.org/drawingml/2006/main">
              <a:ext uri="{FF2B5EF4-FFF2-40B4-BE49-F238E27FC236}">
                <a16:creationId xmlns:a16="http://schemas.microsoft.com/office/drawing/2014/main" id="{FE9CB7B4-7430-4609-BF43-BB1C8ED5A687}"/>
              </a:ext>
            </a:extLst>
          </p:cNvPr>
          <p:cNvSpPr>
            <a:spLocks xmlns:a="http://schemas.openxmlformats.org/drawingml/2006/main" noGrp="1"/>
          </p:cNvSpPr>
          <p:nvPr/>
        </p:nvSpPr>
        <p:spPr>
          <a:xfrm xmlns:a="http://schemas.openxmlformats.org/drawingml/2006/main">
            <a:off x="762000" y="46291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006E75"/>
                </a:solidFill>
                <a:latin typeface="Arial"/>
                <a:ea typeface="Arial"/>
                <a:cs typeface="Arial"/>
              </a:defRPr>
            </a:pPr>
            <a:r>
              <a:rPr sz="2175" b="0">
                <a:solidFill>
                  <a:srgbClr val="006E75"/>
                </a:solidFill>
                <a:latin typeface="Arial"/>
                <a:ea typeface="Arial"/>
                <a:cs typeface="Arial"/>
              </a:rPr>
              <a:t>Save your project. Reset the robot and parts for the next pair.</a:t>
            </a:r>
          </a:p>
        </p:txBody>
      </p:sp>
      <p:sp>
        <p:nvSpPr>
          <p:cNvPr id="4" name="">
            <a:extLst xmlns:a="http://schemas.openxmlformats.org/drawingml/2006/main">
              <a:ext uri="{FF2B5EF4-FFF2-40B4-BE49-F238E27FC236}">
                <a16:creationId xmlns:a16="http://schemas.microsoft.com/office/drawing/2014/main" id="{52E5376A-C513-4479-9E7F-8680FE369141}"/>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FRC robots also need clear status signals and ordered instructions.</a:t>
            </a:r>
          </a:p>
        </p:txBody>
      </p:sp>
    </p:spTree>
    <p:extLst>
      <p:ext uri="{BB962C8B-B14F-4D97-AF65-F5344CB8AC3E}">
        <p14:creationId xmlns:p14="http://schemas.microsoft.com/office/powerpoint/2010/main" val="13517962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2026-10-25T14:21:22.8170000Z</dcterms:created>
  <dcterms:modified xsi:type="dcterms:W3CDTF">2026-10-25T14:21:22.8170000Z</dcterms:modified>
</coreProperties>
</file>