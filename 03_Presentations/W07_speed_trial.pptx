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628de8dd354cd8" /><Relationship Type="http://schemas.openxmlformats.org/officeDocument/2006/relationships/extended-properties" Target="/docProps/app.xml" Id="R8e42198bd8e4463e" /><Relationship Type="http://schemas.openxmlformats.org/officeDocument/2006/relationships/officeDocument" Target="/ppt/presentation.xml" Id="R084db7d35c8c4c5f" /></Relationships>
</file>

<file path=ppt/presentation.xml><?xml version="1.0" encoding="utf-8"?>
<p:presentation xmlns:p="http://schemas.openxmlformats.org/presentationml/2006/main">
  <p:sldMasterIdLst>
    <p:sldMasterId xmlns:r="http://schemas.openxmlformats.org/officeDocument/2006/relationships" id="2147483648" r:id="Rd96041504b814388"/>
  </p:sldMasterIdLst>
  <p:notesMasterIdLst>
    <p:notesMasterId xmlns:r="http://schemas.openxmlformats.org/officeDocument/2006/relationships" r:id="R42fee4bf63b74fe4"/>
  </p:notesMasterIdLst>
  <p:sldIdLst>
    <p:sldId xmlns:r="http://schemas.openxmlformats.org/officeDocument/2006/relationships" id="256" r:id="R13de28c177394fa8"/>
    <p:sldId xmlns:r="http://schemas.openxmlformats.org/officeDocument/2006/relationships" id="257" r:id="Rc8f4bbe310644df5"/>
    <p:sldId xmlns:r="http://schemas.openxmlformats.org/officeDocument/2006/relationships" id="258" r:id="Rad0241776ad44eb2"/>
    <p:sldId xmlns:r="http://schemas.openxmlformats.org/officeDocument/2006/relationships" id="259" r:id="R235e6769e6e14f6c"/>
    <p:sldId xmlns:r="http://schemas.openxmlformats.org/officeDocument/2006/relationships" id="260" r:id="Rb007ffbf4b694f91"/>
    <p:sldId xmlns:r="http://schemas.openxmlformats.org/officeDocument/2006/relationships" id="261" r:id="R61ee1064dba242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08caf795f740ba" /><Relationship Type="http://schemas.openxmlformats.org/officeDocument/2006/relationships/slideMaster" Target="/ppt/slideMasters/slideMaster1.xml" Id="Rd96041504b814388" /><Relationship Type="http://schemas.openxmlformats.org/officeDocument/2006/relationships/notesMaster" Target="/ppt/notesMasters/notesMaster1.xml" Id="R42fee4bf63b74fe4" /><Relationship Type="http://schemas.openxmlformats.org/officeDocument/2006/relationships/presProps" Target="/ppt/presProps.xml" Id="Ra6590f304b5f4b6c" /><Relationship Type="http://schemas.openxmlformats.org/officeDocument/2006/relationships/tableStyles" Target="/ppt/tableStyles.xml" Id="Re910a6b7260f45e7" /><Relationship Type="http://schemas.openxmlformats.org/officeDocument/2006/relationships/slide" Target="/ppt/slides/slide1.xml" Id="R13de28c177394fa8" /><Relationship Type="http://schemas.openxmlformats.org/officeDocument/2006/relationships/slide" Target="/ppt/slides/slide2.xml" Id="Rc8f4bbe310644df5" /><Relationship Type="http://schemas.openxmlformats.org/officeDocument/2006/relationships/slide" Target="/ppt/slides/slide3.xml" Id="Rad0241776ad44eb2" /><Relationship Type="http://schemas.openxmlformats.org/officeDocument/2006/relationships/slide" Target="/ppt/slides/slide4.xml" Id="R235e6769e6e14f6c" /><Relationship Type="http://schemas.openxmlformats.org/officeDocument/2006/relationships/slide" Target="/ppt/slides/slide5.xml" Id="Rb007ffbf4b694f91" /><Relationship Type="http://schemas.openxmlformats.org/officeDocument/2006/relationships/slide" Target="/ppt/slides/slide6.xml" Id="R61ee1064dba242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f2258ad7d54c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5f3946c2b24955" /><Relationship Type="http://schemas.openxmlformats.org/officeDocument/2006/relationships/notesMaster" Target="/ppt/notesMasters/notesMaster1.xml" Id="R7735dc3bd6c345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b82734acab49a5" /><Relationship Type="http://schemas.openxmlformats.org/officeDocument/2006/relationships/notesMaster" Target="/ppt/notesMasters/notesMaster1.xml" Id="Rcdb4f611671a47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7bac2753cf4a2e" /><Relationship Type="http://schemas.openxmlformats.org/officeDocument/2006/relationships/notesMaster" Target="/ppt/notesMasters/notesMaster1.xml" Id="R5eb2dba4125648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6f2f7bd74c4363" /><Relationship Type="http://schemas.openxmlformats.org/officeDocument/2006/relationships/notesMaster" Target="/ppt/notesMasters/notesMaster1.xml" Id="Rcf44483828a849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8fe453d10d4524" /><Relationship Type="http://schemas.openxmlformats.org/officeDocument/2006/relationships/notesMaster" Target="/ppt/notesMasters/notesMaster1.xml" Id="R3bb9c4923bd448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295360b4ec4e2e" /><Relationship Type="http://schemas.openxmlformats.org/officeDocument/2006/relationships/notesMaster" Target="/ppt/notesMasters/notesMaster1.xml" Id="R1ac517dd187a47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a:t>
            </a:r>
          </a:p>
          <a:p xmlns:a="http://schemas.openxmlformats.org/drawingml/2006/main">
            <a:r>
              <a:t/>
            </a:r>
          </a:p>
          <a:p xmlns:a="http://schemas.openxmlformats.org/drawingml/2006/main">
            <a:r>
              <a:t>Week 7 timed delivery</a:t>
            </a:r>
          </a:p>
          <a:p xmlns:a="http://schemas.openxmlformats.org/drawingml/2006/main">
            <a:r>
              <a:t/>
            </a:r>
          </a:p>
          <a:p xmlns:a="http://schemas.openxmlformats.org/drawingml/2006/main">
            <a:r>
              <a:t>Optional six-slide replacement for the community mission. Teach a fast, reliable supply delivery using the same two bases, four teams of three and one-hour rotation schedule. Keep the original Week 7 lesson if this option has not passed rehearsal.</a:t>
            </a:r>
          </a:p>
          <a:p xmlns:a="http://schemas.openxmlformats.org/drawingml/2006/main">
            <a:r>
              <a:t/>
            </a:r>
          </a:p>
          <a:p xmlns:a="http://schemas.openxmlformats.org/drawingml/2006/main">
            <a:r>
              <a:t>Class preparation</a:t>
            </a:r>
          </a:p>
          <a:p xmlns:a="http://schemas.openxmlformats.org/drawingml/2006/main">
            <a:r>
              <a:t/>
            </a:r>
          </a:p>
          <a:p xmlns:a="http://schemas.openxmlformats.org/drawingml/2006/main">
            <a:r>
              <a:t>Learning goal Compare speed and a mechanical design using repeated, controlled trials. Each child operates, predicts and explains a result. We are testing a classroom delivery, not the maximum possible motor speed.</a:t>
            </a:r>
          </a:p>
          <a:p xmlns:a="http://schemas.openxmlformats.org/drawingml/2006/main">
            <a:r>
              <a:t/>
            </a:r>
          </a:p>
          <a:p xmlns:a="http://schemas.openxmlformats.org/drawingml/2006/main">
            <a:r>
              <a:t>Minimum outcome Three baseline runs with the mentor tray and three runs with the team cradle at the same speed, with failures kept in the record. A faster-speed set is an optional stretch. An unsuccessful design still supplies evidence.</a:t>
            </a:r>
          </a:p>
          <a:p xmlns:a="http://schemas.openxmlformats.org/drawingml/2006/main">
            <a:r>
              <a:t/>
            </a:r>
          </a:p>
          <a:p xmlns:a="http://schemas.openxmlformats.org/drawingml/2006/main">
            <a:r>
              <a:t>Prepare Use W07_speed_trial_Checklist.md. Mark two floor lanes at least 150 cm long and 50 cm wide, with a 60 cm timed section and clear runout. Rehearse the loaded run and stopping space on BOTH kits. Keep wheels/chassis unchanged, left motor A/right B, auxiliary motor unplugged. This option requires no sensor.</a:t>
            </a:r>
          </a:p>
          <a:p xmlns:a="http://schemas.openxmlformats.org/drawingml/2006/main">
            <a:r>
              <a:t/>
            </a:r>
          </a:p>
          <a:p xmlns:a="http://schemas.openxmlformats.org/drawingml/2006/main">
            <a:r>
              <a:t>Configure The supplied TRAVEL_DEGREES = 0 intentionally prevents motion. The mentor calibrates 1–1440 wheel degrees for the lane, then holds that value fixed. Begin with APPROVED_SPEEDS = (200,). Add 300, or optionally 400, only after successful loaded rehearsal. Never change mentor limits to make a student run count.</a:t>
            </a:r>
          </a:p>
          <a:p xmlns:a="http://schemas.openxmlformats.org/drawingml/2006/main">
            <a:r>
              <a:t/>
            </a:r>
          </a:p>
          <a:p xmlns:a="http://schemas.openxmlformats.org/drawingml/2006/main">
            <a:r>
              <a:t>Build station Prepare two identical-purpose mentor trays, four equal packs, four actual-base mounting proxies and six lightweight cubes. Children build a removable cradle using spare pieces or card. Leave core chassis parts alone. Fit only to a fully stopped robot after clearance checks.</a:t>
            </a:r>
          </a:p>
          <a:p xmlns:a="http://schemas.openxmlformats.org/drawingml/2006/main">
            <a:r>
              <a:t/>
            </a:r>
          </a:p>
          <a:p xmlns:a="http://schemas.openxmlformats.org/drawingml/2006/main">
            <a:r>
              <a:t>Print and open Print five one-page speed trial sheets, four one-page speed build cards and one attendance sheet: ten required sheets. Open the matching PPTX/PDF, these notes and the complete W07_speed_trial.py. Save four team projects with the correct kit settings. Use two stopwatch devices plus the rotation timer.</a:t>
            </a:r>
          </a:p>
          <a:p xmlns:a="http://schemas.openxmlformats.org/drawingml/2006/main">
            <a:r>
              <a:t/>
            </a:r>
          </a:p>
          <a:p xmlns:a="http://schemas.openxmlformats.org/drawingml/2006/main">
            <a:r>
              <a:t>Mentor rehearsal Practice the timing convention and one failed delivery. One mentor keeps stopwatch timing consistent on each lane. Assign two robot and two build mentors. Results, room fit and approved speeds remain unverified until physically rehearsed; record them in SESSION_PREP.md.</a:t>
            </a:r>
          </a:p>
          <a:p xmlns:a="http://schemas.openxmlformats.org/drawingml/2006/main">
            <a:r>
              <a:t/>
            </a:r>
          </a:p>
          <a:p xmlns:a="http://schemas.openxmlformats.org/drawingml/2006/main">
            <a:r>
              <a:t>Slide 1 Timed delivery</a:t>
            </a:r>
          </a:p>
          <a:p xmlns:a="http://schemas.openxmlformats.org/drawingml/2006/main">
            <a:r>
              <a:t/>
            </a:r>
          </a:p>
          <a:p xmlns:a="http://schemas.openxmlformats.org/drawingml/2006/main">
            <a:r>
              <a:t>Timing 0–5 minutes</a:t>
            </a:r>
          </a:p>
          <a:p xmlns:a="http://schemas.openxmlformats.org/drawingml/2006/main">
            <a:r>
              <a:t/>
            </a:r>
          </a:p>
          <a:p xmlns:a="http://schemas.openxmlformats.org/drawingml/2006/main">
            <a:r>
              <a:t>Say “You asked how fast the robot can go. Today we will find a fast setting that can also deliver its cargo reliably. Engineers use repeated tests to decide whether a change helped.”</a:t>
            </a:r>
          </a:p>
          <a:p xmlns:a="http://schemas.openxmlformats.org/drawingml/2006/main">
            <a:r>
              <a:t/>
            </a:r>
          </a:p>
          <a:p xmlns:a="http://schemas.openxmlformats.org/drawingml/2006/main">
            <a:r>
              <a:t>Connect Ask which earlier tray or guide feature helped control the cube. Accept an observed failure as useful evidence. Name a possible user: a person receiving supplies at a model community center. Students can choose another simple delivery job.</a:t>
            </a:r>
          </a:p>
          <a:p xmlns:a="http://schemas.openxmlformats.org/drawingml/2006/main">
            <a:r>
              <a:t/>
            </a:r>
          </a:p>
          <a:p xmlns:a="http://schemas.openxmlformats.org/drawingml/2006/main">
            <a:r>
              <a:t>Goal Every team will use a mentor tray for baseline trials, build its own cradle, and compare the results. All three children will start runs and explain a choice. Avoid calling one child the coder and another the builder for the whole lesson.</a:t>
            </a:r>
          </a:p>
          <a:p xmlns:a="http://schemas.openxmlformats.org/drawingml/2006/main">
            <a:r>
              <a:t/>
            </a:r>
          </a:p>
          <a:p xmlns:a="http://schemas.openxmlformats.org/drawingml/2006/main">
            <a:r>
              <a:t>Operating routine Review the stop signal and empty lane. No hands enter until the robot fully stops. Test on the floor. If lanes cannot be supervised independently, alternate runs and omit the extra speed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A fast and reliable run</a:t>
            </a:r>
          </a:p>
          <a:p xmlns:a="http://schemas.openxmlformats.org/drawingml/2006/main">
            <a:r>
              <a:t/>
            </a:r>
          </a:p>
          <a:p xmlns:a="http://schemas.openxmlformats.org/drawingml/2006/main">
            <a:r>
              <a:t>Timing 5–10 minutes</a:t>
            </a:r>
          </a:p>
          <a:p xmlns:a="http://schemas.openxmlformats.org/drawingml/2006/main">
            <a:r>
              <a:t/>
            </a:r>
          </a:p>
          <a:p xmlns:a="http://schemas.openxmlformats.org/drawingml/2006/main">
            <a:r>
              <a:t>Demonstrate Show the fixed chassis mark aligned with the start line, the finish 60 cm away, and the clear stopping area. Fit the loaded mentor tray. Run at 200; if 300 was rehearsed, demonstrate it once with the same tray and travel setting. These demonstrations are not the team data.</a:t>
            </a:r>
          </a:p>
          <a:p xmlns:a="http://schemas.openxmlformats.org/drawingml/2006/main">
            <a:r>
              <a:t/>
            </a:r>
          </a:p>
          <a:p xmlns:a="http://schemas.openxmlformats.org/drawingml/2006/main">
            <a:r>
              <a:t>Timing convention The mentor starts a stopwatch at the first physical movement, after the ready signal and pause, and stops it when the fixed chassis mark crosses the finish line. Keep the timer and method consistent across compared runs. The attachment can change length; the chassis reference cannot.</a:t>
            </a:r>
          </a:p>
          <a:p xmlns:a="http://schemas.openxmlformats.org/drawingml/2006/main">
            <a:r>
              <a:t/>
            </a:r>
          </a:p>
          <a:p xmlns:a="http://schemas.openxmlformats.org/drawingml/2006/main">
            <a:r>
              <a:t>Validity Keep observing after crossing. A valid delivery crosses, retains its cube, remains in the lane and stops within the runout. If it does not cross, record DNF. If it crosses but fails another rule, record its time and N. Do not erase or silently replace failed attempts.</a:t>
            </a:r>
          </a:p>
          <a:p xmlns:a="http://schemas.openxmlformats.org/drawingml/2006/main">
            <a:r>
              <a:t/>
            </a:r>
          </a:p>
          <a:p xmlns:a="http://schemas.openxmlformats.org/drawingml/2006/main">
            <a:r>
              <a:t>Ask “If a faster robot drops its supply, has it completed the job?” No. “If its display shows D, did it detect our finish line?” No. D means the commanded movement ended; the people judge the crossing and delivery.</a:t>
            </a:r>
          </a:p>
          <a:p xmlns:a="http://schemas.openxmlformats.org/drawingml/2006/main">
            <a:r>
              <a:t/>
            </a:r>
          </a:p>
          <a:p xmlns:a="http://schemas.openxmlformats.org/drawingml/2006/main">
            <a:r>
              <a:t>If the example fails Stop and check tray fit, alignment, loading and the chosen project. Use one brief reset, then return to the rehearsed 200 setting. If the lane or robot cannot be made reliable, use the prepared original mission rather than spending student turns on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One run with a speed input</a:t>
            </a:r>
          </a:p>
          <a:p xmlns:a="http://schemas.openxmlformats.org/drawingml/2006/main">
            <a:r>
              <a:t/>
            </a:r>
          </a:p>
          <a:p xmlns:a="http://schemas.openxmlformats.org/drawingml/2006/main">
            <a:r>
              <a:t>Timing 10–14 minutes</a:t>
            </a:r>
          </a:p>
          <a:p xmlns:a="http://schemas.openxmlformats.org/drawingml/2006/main">
            <a:r>
              <a:t/>
            </a:r>
          </a:p>
          <a:p xmlns:a="http://schemas.openxmlformats.org/drawingml/2006/main">
            <a:r>
              <a:t>speed = 200</a:t>
            </a:r>
          </a:p>
          <a:p xmlns:a="http://schemas.openxmlformats.org/drawingml/2006/main">
            <a:r>
              <a:t>await signal("R")</a:t>
            </a:r>
          </a:p>
          <a:p xmlns:a="http://schemas.openxmlformats.org/drawingml/2006/main">
            <a:r>
              <a:t>await pause(1000)</a:t>
            </a:r>
          </a:p>
          <a:p xmlns:a="http://schemas.openxmlformats.org/drawingml/2006/main">
            <a:r>
              <a:t>await sprint(speed)</a:t>
            </a:r>
          </a:p>
          <a:p xmlns:a="http://schemas.openxmlformats.org/drawingml/2006/main">
            <a:r>
              <a:t>await signal("D")</a:t>
            </a:r>
          </a:p>
          <a:p xmlns:a="http://schemas.openxmlformats.org/drawingml/2006/main">
            <a:r>
              <a:t/>
            </a:r>
          </a:p>
          <a:p xmlns:a="http://schemas.openxmlformats.org/drawingml/2006/main">
            <a:r>
              <a:t>Say “speed names the number we pass into sprint. The mentor has already calibrated how far the wheels turn. We keep that distance setting the same and change only the approved speed.”</a:t>
            </a:r>
          </a:p>
          <a:p xmlns:a="http://schemas.openxmlformats.org/drawingml/2006/main">
            <a:r>
              <a:t/>
            </a:r>
          </a:p>
          <a:p xmlns:a="http://schemas.openxmlformats.org/drawingml/2006/main">
            <a:r>
              <a:t>Trace Point through ready, pause, one movement and done. await keeps the actions in order. One press starts one run. There is no automatic repeated driving; children reset only after stopping and explicitly start the next trial.</a:t>
            </a:r>
          </a:p>
          <a:p xmlns:a="http://schemas.openxmlformats.org/drawingml/2006/main">
            <a:r>
              <a:t/>
            </a:r>
          </a:p>
          <a:p xmlns:a="http://schemas.openxmlformats.org/drawingml/2006/main">
            <a:r>
              <a:t>Keep units clear 200 means wheel degrees per second, not 200 percent or 200 centimeters per second. The travel setting is wheel degrees. The timed course is centimeters. We record elapsed seconds using a stopwatch. Acceleration, grip and starting from rest mean twice the command need not halve the course time.</a:t>
            </a:r>
          </a:p>
          <a:p xmlns:a="http://schemas.openxmlformats.org/drawingml/2006/main">
            <a:r>
              <a:t/>
            </a:r>
          </a:p>
          <a:p xmlns:a="http://schemas.openxmlformats.org/drawingml/2006/main">
            <a:r>
              <a:t>Prediction “Which line changes the requested speed? What stays the same in a fair comparison?” Expect speed = 200 to become an approved value, with tray, payload, start, floor, kit and travel held fixed. The slide is a recipe fragment; load the complete file.</a:t>
            </a:r>
          </a:p>
          <a:p xmlns:a="http://schemas.openxmlformats.org/drawingml/2006/main">
            <a:r>
              <a:t/>
            </a:r>
          </a:p>
          <a:p xmlns:a="http://schemas.openxmlformats.org/drawingml/2006/main">
            <a:r>
              <a:t>Support A mentor can type while the child chooses and predicts. If 300 is not approved, keep 200 and compare the cradle designs. The program rejects unapproved settings before it drives.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Robot trials and cradle builds</a:t>
            </a:r>
          </a:p>
          <a:p xmlns:a="http://schemas.openxmlformats.org/drawingml/2006/main">
            <a:r>
              <a:t/>
            </a:r>
          </a:p>
          <a:p xmlns:a="http://schemas.openxmlformats.org/drawingml/2006/main">
            <a:r>
              <a:t>Timing 14–38 minutes, followed by two retest blocks</a:t>
            </a:r>
          </a:p>
          <a:p xmlns:a="http://schemas.openxmlformats.org/drawingml/2006/main">
            <a:r>
              <a:t/>
            </a:r>
          </a:p>
          <a:p xmlns:a="http://schemas.openxmlformats.org/drawingml/2006/main">
            <a:r>
              <a:t>Station map 14–26: T1/T3 at robots, T2/T4 building. 26–38: switch. 38–44: T1/T3 retest; 44–50: T2/T4 retest. Rotate jobs at 18, 22, 30, 34, 40, 42, 46 and 48. Transitions are inside the blocks. Each team gets 18 robot minutes.</a:t>
            </a:r>
          </a:p>
          <a:p xmlns:a="http://schemas.openxmlformats.org/drawingml/2006/main">
            <a:r>
              <a:t/>
            </a:r>
          </a:p>
          <a:p xmlns:a="http://schemas.openxmlformats.org/drawingml/2006/main">
            <a:r>
              <a:t>Robot roles Driver edits and starts after “clear.” Navigator predicts, checks the lane and resets the stopped robot. Observer judges cargo/lane success and records the time given by the mentor. The mentor times all compared runs on that lane to reduce timing variation. Rotate the three student roles.</a:t>
            </a:r>
          </a:p>
          <a:p xmlns:a="http://schemas.openxmlformats.org/drawingml/2006/main">
            <a:r>
              <a:t/>
            </a:r>
          </a:p>
          <a:p xmlns:a="http://schemas.openxmlformats.org/drawingml/2006/main">
            <a:r>
              <a:t>First robot turn Use the mentor tray even if the team already built its own. In each four-minute driver turn, run once at 200 and, if ready and time permits, once at the approved comparison speed (normally 300). Reset between runs. Across the three drivers, fill A1–A3 and B1–B3. Use the same higher speed for all B trials. Skip B if setup takes longer.</a:t>
            </a:r>
          </a:p>
          <a:p xmlns:a="http://schemas.openxmlformats.org/drawingml/2006/main">
            <a:r>
              <a:t/>
            </a:r>
          </a:p>
          <a:p xmlns:a="http://schemas.openxmlformats.org/drawingml/2006/main">
            <a:r>
              <a:t>Build task On the mounting proxy, make a low platform, add two rails and an end stop, and brace a weak edge. Tilt gently forward, backward and sideways with the cube. Change one feature and retest. The builder connects, designer manages parts/fit, and tester loads/observes. Rotate every four minutes. All students build.</a:t>
            </a:r>
          </a:p>
          <a:p xmlns:a="http://schemas.openxmlformats.org/drawingml/2006/main">
            <a:r>
              <a:t/>
            </a:r>
          </a:p>
          <a:p xmlns:a="http://schemas.openxmlformats.org/drawingml/2006/main">
            <a:r>
              <a:t>Retest Choose a speed with three valid mentor-tray runs. Fit the inspected team cradle. Keep that speed, travel, cube and starting pose fixed. Each child drives one run, filling C1–C3 during the six-minute retest. Compare C with A if using 200 or with B if using the higher speed. This isolates the design change.</a:t>
            </a:r>
          </a:p>
          <a:p xmlns:a="http://schemas.openxmlformats.org/drawingml/2006/main">
            <a:r>
              <a:t/>
            </a:r>
          </a:p>
          <a:p xmlns:a="http://schemas.openxmlformats.org/drawingml/2006/main">
            <a:r>
              <a:t>Recovery If no baseline speed has three valid runs, prioritize a controlled 200 trial and record the limitation. Do not label an untested speed or tray reliable. A repaired design is a new setting: earlier successes do not transfer to it. Keep the failed record and identify the next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Times and successful deliveries</a:t>
            </a:r>
          </a:p>
          <a:p xmlns:a="http://schemas.openxmlformats.org/drawingml/2006/main">
            <a:r>
              <a:t/>
            </a:r>
          </a:p>
          <a:p xmlns:a="http://schemas.openxmlformats.org/drawingml/2006/main">
            <a:r>
              <a:t>Timing 38–50 minutes within the retest blocks</a:t>
            </a:r>
          </a:p>
          <a:p xmlns:a="http://schemas.openxmlformats.org/drawingml/2006/main">
            <a:r>
              <a:t/>
            </a:r>
          </a:p>
          <a:p xmlns:a="http://schemas.openxmlformats.org/drawingml/2006/main">
            <a:r>
              <a:t>Record Use the one-page trial sheet at the robot. Write times to one decimal place and validity for every attempt. A set uses three runs of one unchanged configuration. A failed or missing trial means that set is not 3/3; keep the data visible.</a:t>
            </a:r>
          </a:p>
          <a:p xmlns:a="http://schemas.openxmlformats.org/drawingml/2006/main">
            <a:r>
              <a:t/>
            </a:r>
          </a:p>
          <a:p xmlns:a="http://schemas.openxmlformats.org/drawingml/2006/main">
            <a:r>
              <a:t>Compare First count successes out of three. Only for a complete 3/3 valid set, add the three times and divide by three. Compare mean times from the same kit and timing method. Close results can be a tie; stopwatch reaction time and real run variation limit precision. Do not rank kits by hundredths.</a:t>
            </a:r>
          </a:p>
          <a:p xmlns:a="http://schemas.openxmlformats.org/drawingml/2006/main">
            <a:r>
              <a:t/>
            </a:r>
          </a:p>
          <a:p xmlns:a="http://schemas.openxmlformats.org/drawingml/2006/main">
            <a:r>
              <a:t>Worked example Invented calculation example, not class results: 3.0 s, 3.2 s and 3.1 s average 3.1 s. A faster-looking set with a dropped cube does not qualify as reliable. Children may use a calculator or have a mentor help with the arithmetic.</a:t>
            </a:r>
          </a:p>
          <a:p xmlns:a="http://schemas.openxmlformats.org/drawingml/2006/main">
            <a:r>
              <a:t/>
            </a:r>
          </a:p>
          <a:p xmlns:a="http://schemas.openxmlformats.org/drawingml/2006/main">
            <a:r>
              <a:t>Ask “Which setting completed all three deliveries? What changed between A and B? What changed between the mentor tray and our cradle? What stayed the same?” If a team changed both speed and tray, label the comparison confounded and plan a controlled retest.</a:t>
            </a:r>
          </a:p>
          <a:p xmlns:a="http://schemas.openxmlformats.org/drawingml/2006/main">
            <a:r>
              <a:t/>
            </a:r>
          </a:p>
          <a:p xmlns:a="http://schemas.openxmlformats.org/drawingml/2006/main">
            <a:r>
              <a:t>Optional stretch After the core, use an already rehearsed 400 setting for a separate three-run set on spare paper only if time remains. Do not mix it into B or C. Or calculate average course speed as 0.60 meters divided by the mean time; that is different from the motor command in wheel degrees/s.</a:t>
            </a:r>
          </a:p>
          <a:p xmlns:a="http://schemas.openxmlformats.org/drawingml/2006/main">
            <a:r>
              <a:t/>
            </a:r>
          </a:p>
          <a:p xmlns:a="http://schemas.openxmlformats.org/drawingml/2006/main">
            <a:r>
              <a:t>Showcase choice Choose a configuration with three successful trials, even if it is slower or uses the mentor tray. If the team cradle failed, display it and explain the needed improvement. Do not promise a faster run for Week 8 without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Our evidence for the showcase</a:t>
            </a:r>
          </a:p>
          <a:p xmlns:a="http://schemas.openxmlformats.org/drawingml/2006/main">
            <a:r>
              <a:t/>
            </a:r>
          </a:p>
          <a:p xmlns:a="http://schemas.openxmlformats.org/drawingml/2006/main">
            <a:r>
              <a:t>Timing 50–54 minutes reflection; 54–60 saving and cleanup</a:t>
            </a:r>
          </a:p>
          <a:p xmlns:a="http://schemas.openxmlformats.org/drawingml/2006/main">
            <a:r>
              <a:t/>
            </a:r>
          </a:p>
          <a:p xmlns:a="http://schemas.openxmlformats.org/drawingml/2006/main">
            <a:r>
              <a:t>Ask each child “What did you learn about speed or the code? What did our tray change do? What would you test next?” Accept a short phrase, pointing or a demonstration. Each child contributes one part; the most confident student does not answer for the team.</a:t>
            </a:r>
          </a:p>
          <a:p xmlns:a="http://schemas.openxmlformats.org/drawingml/2006/main">
            <a:r>
              <a:t/>
            </a:r>
          </a:p>
          <a:p xmlns:a="http://schemas.openxmlformats.org/drawingml/2006/main">
            <a:r>
              <a:t>Save Save four distinct team projects and a backup outside the app. Record kit ID, mentor travel setting, approved speed, chosen tray and results on the private team sheet. Label/store all cradles and return shared mentor trays. Stop hubs and assign charging.</a:t>
            </a:r>
          </a:p>
          <a:p xmlns:a="http://schemas.openxmlformats.org/drawingml/2006/main">
            <a:r>
              <a:t/>
            </a:r>
          </a:p>
          <a:p xmlns:a="http://schemas.openxmlformats.org/drawingml/2006/main">
            <a:r>
              <a:t>Week 8 handoff Use the existing showcase schedule and final concept check. Reopen the saved speed project, not W08_showcase.py (the marker fallback). Keep the same timed lane and operating rules. At the build table, repair the cradle and add a sign with the job, trials and chosen setting.</a:t>
            </a:r>
          </a:p>
          <a:p xmlns:a="http://schemas.openxmlformats.org/drawingml/2006/main">
            <a:r>
              <a:t/>
            </a:r>
          </a:p>
          <a:p xmlns:a="http://schemas.openxmlformats.org/drawingml/2006/main">
            <a:r>
              <a:t>Speaking parts Within the existing four-minute team slot: one child explains the user/job, one explains the speed parameter, and one explains a build change and actual evidence. Run the tested setting and reset. If it fails, describe what happened and show the prior trial record rather than claiming success.</a:t>
            </a:r>
          </a:p>
          <a:p xmlns:a="http://schemas.openxmlformats.org/drawingml/2006/main">
            <a:r>
              <a:t/>
            </a:r>
          </a:p>
          <a:p xmlns:a="http://schemas.openxmlformats.org/drawingml/2006/main">
            <a:r>
              <a:t>After class Record delivery, hardware issues and later-session decisions in SESSION_PREP.md. Keep completed child records private. The opening baseline was retired; final explanations and dated work are evidence, but do not claim measured pre/post gains.</a:t>
            </a:r>
          </a:p>
          <a:p xmlns:a="http://schemas.openxmlformats.org/drawingml/2006/main">
            <a:r>
              <a:t/>
            </a:r>
          </a:p>
          <a:p xmlns:a="http://schemas.openxmlformats.org/drawingml/2006/main">
            <a:r>
              <a:t>Technical source The paired finite-movement pattern follows LEGO Education “Make It Move”: https://education.lego.com/en-au/lessons/spike-python-u9-data-and-math-functions/spike-python-u9l4-make-it-move/ . The trial rules, helper limits and teaching materials here are original classroom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82dc0d2af94d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0e4604170f4814" /><Relationship Type="http://schemas.openxmlformats.org/officeDocument/2006/relationships/slideLayout" Target="/ppt/slideLayouts/slideLayout1.xml" Id="R3524e94b711a44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24e94b711a44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3f2a132b4549ee" /><Relationship Type="http://schemas.openxmlformats.org/officeDocument/2006/relationships/notesSlide" Target="/ppt/notesSlides/notesSlide1.xml" Id="R5e0d1840447740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b4cec93f8a49e7" /><Relationship Type="http://schemas.openxmlformats.org/officeDocument/2006/relationships/notesSlide" Target="/ppt/notesSlides/notesSlide2.xml" Id="R043f66bdcdbf45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840431276e4e9f" /><Relationship Type="http://schemas.openxmlformats.org/officeDocument/2006/relationships/notesSlide" Target="/ppt/notesSlides/notesSlide3.xml" Id="Rb1b441d9b1214d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527378010c4708" /><Relationship Type="http://schemas.openxmlformats.org/officeDocument/2006/relationships/notesSlide" Target="/ppt/notesSlides/notesSlide4.xml" Id="R43f997db5dde4d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7a90ac41fe446f" /><Relationship Type="http://schemas.openxmlformats.org/officeDocument/2006/relationships/notesSlide" Target="/ppt/notesSlides/notesSlide5.xml" Id="R7760c3f5b5174a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5539765cd44a51" /><Relationship Type="http://schemas.openxmlformats.org/officeDocument/2006/relationships/notesSlide" Target="/ppt/notesSlides/notesSlide6.xml" Id="R47ab2fef7acd418c"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16CAD1-954A-4792-AB54-538D1102C6A1}"/>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Arial"/>
                <a:ea typeface="Arial"/>
                <a:cs typeface="Arial"/>
              </a:defRPr>
            </a:pPr>
            <a:r>
              <a:rPr sz="5100" b="1">
                <a:solidFill>
                  <a:srgbClr val="FFFFFF"/>
                </a:solidFill>
                <a:latin typeface="Arial"/>
                <a:ea typeface="Arial"/>
                <a:cs typeface="Arial"/>
              </a:rPr>
              <a:t>Timed delivery</a:t>
            </a:r>
          </a:p>
        </p:txBody>
      </p:sp>
      <p:sp>
        <p:nvSpPr>
          <p:cNvPr id="2" name="">
            <a:extLst xmlns:a="http://schemas.openxmlformats.org/drawingml/2006/main">
              <a:ext uri="{FF2B5EF4-FFF2-40B4-BE49-F238E27FC236}">
                <a16:creationId xmlns:a16="http://schemas.microsoft.com/office/drawing/2014/main" id="{760B6FCD-CA0B-48B8-91D0-C71572F49B23}"/>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a:solidFill>
                  <a:srgbClr val="9DDADD"/>
                </a:solidFill>
                <a:latin typeface="Arial"/>
                <a:ea typeface="Arial"/>
                <a:cs typeface="Arial"/>
              </a:defRPr>
            </a:defPPr>
          </a:lstStyle>
          <a:p xmlns:a="http://schemas.openxmlformats.org/drawingml/2006/main">
            <a:pPr>
              <a:buNone/>
              <a:defRPr sz="2400" b="0">
                <a:solidFill>
                  <a:srgbClr val="9DDADD"/>
                </a:solidFill>
                <a:latin typeface="Arial"/>
                <a:ea typeface="Arial"/>
                <a:cs typeface="Arial"/>
              </a:defRPr>
            </a:pPr>
            <a:r>
              <a:rPr sz="2400" b="0">
                <a:solidFill>
                  <a:srgbClr val="9DDADD"/>
                </a:solidFill>
                <a:latin typeface="Arial"/>
                <a:ea typeface="Arial"/>
                <a:cs typeface="Arial"/>
              </a:rPr>
              <a:t>How fast can we deliver without losing the cargo?</a:t>
            </a:r>
          </a:p>
        </p:txBody>
      </p:sp>
      <p:sp>
        <p:nvSpPr>
          <p:cNvPr id="3" name="">
            <a:extLst xmlns:a="http://schemas.openxmlformats.org/drawingml/2006/main">
              <a:ext uri="{FF2B5EF4-FFF2-40B4-BE49-F238E27FC236}">
                <a16:creationId xmlns:a16="http://schemas.microsoft.com/office/drawing/2014/main" id="{6D0CE096-A95B-403D-A1BD-3B1C1BD5031B}"/>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Week 7 option · MechaRAMS at the YMCA</a:t>
            </a:r>
          </a:p>
        </p:txBody>
      </p:sp>
    </p:spTree>
    <p:extLst>
      <p:ext uri="{BB962C8B-B14F-4D97-AF65-F5344CB8AC3E}">
        <p14:creationId xmlns:p14="http://schemas.microsoft.com/office/powerpoint/2010/main" val="502736925"/>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332A9C-AD23-4929-BF7C-58DFB99E7DDE}"/>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A fast and reliable run</a:t>
            </a:r>
          </a:p>
        </p:txBody>
      </p:sp>
      <p:sp>
        <p:nvSpPr>
          <p:cNvPr id="2" name="">
            <a:extLst xmlns:a="http://schemas.openxmlformats.org/drawingml/2006/main">
              <a:ext uri="{FF2B5EF4-FFF2-40B4-BE49-F238E27FC236}">
                <a16:creationId xmlns:a16="http://schemas.microsoft.com/office/drawing/2014/main" id="{C680883C-36A4-4FB9-8563-9EF236B081A8}"/>
              </a:ext>
            </a:extLst>
          </p:cNvPr>
          <p:cNvSpPr>
            <a:spLocks xmlns:a="http://schemas.openxmlformats.org/drawingml/2006/main" noGrp="1"/>
          </p:cNvSpPr>
          <p:nvPr/>
        </p:nvSpPr>
        <p:spPr>
          <a:xfrm xmlns:a="http://schemas.openxmlformats.org/drawingml/2006/main">
            <a:off x="762000" y="19526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Cross 60 cm with the cube aboard</a:t>
            </a:r>
          </a:p>
        </p:txBody>
      </p:sp>
      <p:sp>
        <p:nvSpPr>
          <p:cNvPr id="3" name="">
            <a:extLst xmlns:a="http://schemas.openxmlformats.org/drawingml/2006/main">
              <a:ext uri="{FF2B5EF4-FFF2-40B4-BE49-F238E27FC236}">
                <a16:creationId xmlns:a16="http://schemas.microsoft.com/office/drawing/2014/main" id="{29980EB7-3F57-4B49-B129-44EA0DD03746}"/>
              </a:ext>
            </a:extLst>
          </p:cNvPr>
          <p:cNvSpPr>
            <a:spLocks xmlns:a="http://schemas.openxmlformats.org/drawingml/2006/main" noGrp="1"/>
          </p:cNvSpPr>
          <p:nvPr/>
        </p:nvSpPr>
        <p:spPr>
          <a:xfrm xmlns:a="http://schemas.openxmlformats.org/drawingml/2006/main">
            <a:off x="762000" y="30575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Stay in lane and stop in the clear runout</a:t>
            </a:r>
          </a:p>
        </p:txBody>
      </p:sp>
      <p:sp>
        <p:nvSpPr>
          <p:cNvPr id="4" name="">
            <a:extLst xmlns:a="http://schemas.openxmlformats.org/drawingml/2006/main">
              <a:ext uri="{FF2B5EF4-FFF2-40B4-BE49-F238E27FC236}">
                <a16:creationId xmlns:a16="http://schemas.microsoft.com/office/drawing/2014/main" id="{67A42B70-886E-4EC8-9328-3C1033F67815}"/>
              </a:ext>
            </a:extLst>
          </p:cNvPr>
          <p:cNvSpPr>
            <a:spLocks xmlns:a="http://schemas.openxmlformats.org/drawingml/2006/main" noGrp="1"/>
          </p:cNvSpPr>
          <p:nvPr/>
        </p:nvSpPr>
        <p:spPr>
          <a:xfrm xmlns:a="http://schemas.openxmlformats.org/drawingml/2006/main">
            <a:off x="762000" y="41624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Time three trials. Keep failed attempts.</a:t>
            </a:r>
          </a:p>
        </p:txBody>
      </p:sp>
      <p:sp>
        <p:nvSpPr>
          <p:cNvPr id="6" name="">
            <a:extLst xmlns:a="http://schemas.openxmlformats.org/drawingml/2006/main">
              <a:ext uri="{FF2B5EF4-FFF2-40B4-BE49-F238E27FC236}">
                <a16:creationId xmlns:a16="http://schemas.microsoft.com/office/drawing/2014/main" id="{721B4C50-1D65-40FC-80B0-40597A350956}"/>
              </a:ext>
            </a:extLst>
          </p:cNvPr>
          <p:cNvSpPr>
            <a:spLocks xmlns:a="http://schemas.openxmlformats.org/drawingml/2006/main" noGrp="1"/>
          </p:cNvSpPr>
          <p:nvPr/>
        </p:nvSpPr>
        <p:spPr>
          <a:xfrm xmlns:a="http://schemas.openxmlformats.org/drawingml/2006/main">
            <a:off x="762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713A"/>
                </a:solidFill>
                <a:latin typeface="Arial"/>
                <a:ea typeface="Arial"/>
                <a:cs typeface="Arial"/>
              </a:defRPr>
            </a:defPPr>
          </a:lstStyle>
          <a:p xmlns:a="http://schemas.openxmlformats.org/drawingml/2006/main">
            <a:pPr>
              <a:buNone/>
              <a:defRPr sz="1575" b="1">
                <a:solidFill>
                  <a:srgbClr val="17713A"/>
                </a:solidFill>
                <a:latin typeface="Arial"/>
                <a:ea typeface="Arial"/>
                <a:cs typeface="Arial"/>
              </a:defRPr>
            </a:pPr>
            <a:r>
              <a:rPr sz="1575" b="1">
                <a:solidFill>
                  <a:srgbClr val="17713A"/>
                </a:solidFill>
                <a:latin typeface="Arial"/>
                <a:ea typeface="Arial"/>
                <a:cs typeface="Arial"/>
              </a:rPr>
              <a:t>GREEN steady: on</a:t>
            </a:r>
          </a:p>
        </p:txBody>
      </p:sp>
      <p:sp>
        <p:nvSpPr>
          <p:cNvPr id="7" name="">
            <a:extLst xmlns:a="http://schemas.openxmlformats.org/drawingml/2006/main">
              <a:ext uri="{FF2B5EF4-FFF2-40B4-BE49-F238E27FC236}">
                <a16:creationId xmlns:a16="http://schemas.microsoft.com/office/drawing/2014/main" id="{7DFEF3E3-B9B8-4169-A0BF-BB140F88AA27}"/>
              </a:ext>
            </a:extLst>
          </p:cNvPr>
          <p:cNvSpPr>
            <a:spLocks xmlns:a="http://schemas.openxmlformats.org/drawingml/2006/main" noGrp="1"/>
          </p:cNvSpPr>
          <p:nvPr/>
        </p:nvSpPr>
        <p:spPr>
          <a:xfrm xmlns:a="http://schemas.openxmlformats.org/drawingml/2006/main">
            <a:off x="43815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915500"/>
                </a:solidFill>
                <a:latin typeface="Arial"/>
                <a:ea typeface="Arial"/>
                <a:cs typeface="Arial"/>
              </a:defRPr>
            </a:defPPr>
          </a:lstStyle>
          <a:p xmlns:a="http://schemas.openxmlformats.org/drawingml/2006/main">
            <a:pPr>
              <a:buNone/>
              <a:defRPr sz="1575" b="1">
                <a:solidFill>
                  <a:srgbClr val="915500"/>
                </a:solidFill>
                <a:latin typeface="Arial"/>
                <a:ea typeface="Arial"/>
                <a:cs typeface="Arial"/>
              </a:defRPr>
            </a:pPr>
            <a:r>
              <a:rPr sz="1575" b="1">
                <a:solidFill>
                  <a:srgbClr val="915500"/>
                </a:solidFill>
                <a:latin typeface="Arial"/>
                <a:ea typeface="Arial"/>
                <a:cs typeface="Arial"/>
              </a:rPr>
              <a:t>ORANGE flashing: charge</a:t>
            </a:r>
          </a:p>
        </p:txBody>
      </p:sp>
      <p:sp>
        <p:nvSpPr>
          <p:cNvPr id="8" name="">
            <a:extLst xmlns:a="http://schemas.openxmlformats.org/drawingml/2006/main">
              <a:ext uri="{FF2B5EF4-FFF2-40B4-BE49-F238E27FC236}">
                <a16:creationId xmlns:a16="http://schemas.microsoft.com/office/drawing/2014/main" id="{BA9FF71F-431F-4679-9E89-3B2B9F8B8F6C}"/>
              </a:ext>
            </a:extLst>
          </p:cNvPr>
          <p:cNvSpPr>
            <a:spLocks xmlns:a="http://schemas.openxmlformats.org/drawingml/2006/main" noGrp="1"/>
          </p:cNvSpPr>
          <p:nvPr/>
        </p:nvSpPr>
        <p:spPr>
          <a:xfrm xmlns:a="http://schemas.openxmlformats.org/drawingml/2006/main">
            <a:off x="8001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1292D"/>
                </a:solidFill>
                <a:latin typeface="Arial"/>
                <a:ea typeface="Arial"/>
                <a:cs typeface="Arial"/>
              </a:defRPr>
            </a:defPPr>
          </a:lstStyle>
          <a:p xmlns:a="http://schemas.openxmlformats.org/drawingml/2006/main">
            <a:pPr>
              <a:buNone/>
              <a:defRPr sz="1575" b="1">
                <a:solidFill>
                  <a:srgbClr val="B1292D"/>
                </a:solidFill>
                <a:latin typeface="Arial"/>
                <a:ea typeface="Arial"/>
                <a:cs typeface="Arial"/>
              </a:defRPr>
            </a:pPr>
            <a:r>
              <a:rPr sz="1575" b="1">
                <a:solidFill>
                  <a:srgbClr val="B1292D"/>
                </a:solidFill>
                <a:latin typeface="Arial"/>
                <a:ea typeface="Arial"/>
                <a:cs typeface="Arial"/>
              </a:rPr>
              <a:t>RED flashing: stop + mentor</a:t>
            </a:r>
          </a:p>
        </p:txBody>
      </p:sp>
      <p:sp>
        <p:nvSpPr>
          <p:cNvPr id="9" name="">
            <a:extLst xmlns:a="http://schemas.openxmlformats.org/drawingml/2006/main">
              <a:ext uri="{FF2B5EF4-FFF2-40B4-BE49-F238E27FC236}">
                <a16:creationId xmlns:a16="http://schemas.microsoft.com/office/drawing/2014/main" id="{9E1BA390-0E7D-4E24-9F68-5924CFF7F7FB}"/>
              </a:ext>
            </a:extLst>
          </p:cNvPr>
          <p:cNvSpPr>
            <a:spLocks xmlns:a="http://schemas.openxmlformats.org/drawingml/2006/main" noGrp="1"/>
          </p:cNvSpPr>
          <p:nvPr/>
        </p:nvSpPr>
        <p:spPr>
          <a:xfrm xmlns:a="http://schemas.openxmlformats.org/drawingml/2006/main">
            <a:off x="762000" y="62007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Center button lights. A letter on the display is your program’s output.</a:t>
            </a:r>
          </a:p>
        </p:txBody>
      </p:sp>
    </p:spTree>
    <p:extLst>
      <p:ext uri="{BB962C8B-B14F-4D97-AF65-F5344CB8AC3E}">
        <p14:creationId xmlns:p14="http://schemas.microsoft.com/office/powerpoint/2010/main" val="1374176914"/>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901434D-B55B-45BC-BF55-A8C6256D234A}"/>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One run with a speed input</a:t>
            </a:r>
          </a:p>
        </p:txBody>
      </p:sp>
      <p:sp>
        <p:nvSpPr>
          <p:cNvPr id="2" name="">
            <a:extLst xmlns:a="http://schemas.openxmlformats.org/drawingml/2006/main">
              <a:ext uri="{FF2B5EF4-FFF2-40B4-BE49-F238E27FC236}">
                <a16:creationId xmlns:a16="http://schemas.microsoft.com/office/drawing/2014/main" id="{8B9C19C2-801E-4F70-8E2F-04949E415147}"/>
              </a:ext>
            </a:extLst>
          </p:cNvPr>
          <p:cNvSpPr>
            <a:spLocks xmlns:a="http://schemas.openxmlformats.org/drawingml/2006/main" noGrp="1"/>
          </p:cNvSpPr>
          <p:nvPr/>
        </p:nvSpPr>
        <p:spPr>
          <a:xfrm xmlns:a="http://schemas.openxmlformats.org/drawingml/2006/main">
            <a:off x="781050" y="1666875"/>
            <a:ext cx="10572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Consolas"/>
                <a:ea typeface="Consolas"/>
                <a:cs typeface="Consolas"/>
              </a:defRPr>
            </a:defPPr>
          </a:lstStyle>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speed = 200</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signal("R")</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pause(1000)</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sprint(speed)</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signal("D")</a:t>
            </a:r>
          </a:p>
        </p:txBody>
      </p:sp>
      <p:sp>
        <p:nvSpPr>
          <p:cNvPr id="3" name="">
            <a:extLst xmlns:a="http://schemas.openxmlformats.org/drawingml/2006/main">
              <a:ext uri="{FF2B5EF4-FFF2-40B4-BE49-F238E27FC236}">
                <a16:creationId xmlns:a16="http://schemas.microsoft.com/office/drawing/2014/main" id="{B54AE3D4-A8A6-4859-B977-694E5FD15E1B}"/>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B9D4DC"/>
                </a:solidFill>
                <a:latin typeface="Arial"/>
                <a:ea typeface="Arial"/>
                <a:cs typeface="Arial"/>
              </a:defRPr>
            </a:defPPr>
          </a:lstStyle>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Recipe fragment: load the complete supplied project</a:t>
            </a:r>
          </a:p>
        </p:txBody>
      </p:sp>
      <p:sp>
        <p:nvSpPr>
          <p:cNvPr id="5" name="">
            <a:extLst xmlns:a="http://schemas.openxmlformats.org/drawingml/2006/main">
              <a:ext uri="{FF2B5EF4-FFF2-40B4-BE49-F238E27FC236}">
                <a16:creationId xmlns:a16="http://schemas.microsoft.com/office/drawing/2014/main" id="{DA10EDBD-BC32-4148-BEBB-BD9E9EF48B31}"/>
              </a:ext>
            </a:extLst>
          </p:cNvPr>
          <p:cNvSpPr>
            <a:spLocks xmlns:a="http://schemas.openxmlformats.org/drawingml/2006/main" noGrp="1"/>
          </p:cNvSpPr>
          <p:nvPr/>
        </p:nvSpPr>
        <p:spPr>
          <a:xfrm xmlns:a="http://schemas.openxmlformats.org/drawingml/2006/main">
            <a:off x="781050" y="4314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DDADD"/>
                </a:solidFill>
                <a:latin typeface="Arial"/>
                <a:ea typeface="Arial"/>
                <a:cs typeface="Arial"/>
              </a:defRPr>
            </a:defPPr>
          </a:lstStyle>
          <a:p xmlns:a="http://schemas.openxmlformats.org/drawingml/2006/main">
            <a:pPr>
              <a:buNone/>
              <a:defRPr sz="2100" b="1">
                <a:solidFill>
                  <a:srgbClr val="9DDADD"/>
                </a:solidFill>
                <a:latin typeface="Arial"/>
                <a:ea typeface="Arial"/>
                <a:cs typeface="Arial"/>
              </a:defRPr>
            </a:pPr>
            <a:r>
              <a:rPr sz="2100" b="1">
                <a:solidFill>
                  <a:srgbClr val="9DDADD"/>
                </a:solidFill>
                <a:latin typeface="Arial"/>
                <a:ea typeface="Arial"/>
                <a:cs typeface="Arial"/>
              </a:rPr>
              <a:t>Our prediction</a:t>
            </a:r>
          </a:p>
        </p:txBody>
      </p:sp>
      <p:sp>
        <p:nvSpPr>
          <p:cNvPr id="6" name="">
            <a:extLst xmlns:a="http://schemas.openxmlformats.org/drawingml/2006/main">
              <a:ext uri="{FF2B5EF4-FFF2-40B4-BE49-F238E27FC236}">
                <a16:creationId xmlns:a16="http://schemas.microsoft.com/office/drawing/2014/main" id="{3B94D21A-D514-428E-AED2-2A9E7B71152A}"/>
              </a:ext>
            </a:extLst>
          </p:cNvPr>
          <p:cNvSpPr>
            <a:spLocks xmlns:a="http://schemas.openxmlformats.org/drawingml/2006/main" noGrp="1"/>
          </p:cNvSpPr>
          <p:nvPr/>
        </p:nvSpPr>
        <p:spPr>
          <a:xfrm xmlns:a="http://schemas.openxmlformats.org/drawingml/2006/main">
            <a:off x="781050" y="47720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might change if speed becomes 300?</a:t>
            </a:r>
          </a:p>
        </p:txBody>
      </p:sp>
      <p:sp>
        <p:nvSpPr>
          <p:cNvPr id="7" name="">
            <a:extLst xmlns:a="http://schemas.openxmlformats.org/drawingml/2006/main">
              <a:ext uri="{FF2B5EF4-FFF2-40B4-BE49-F238E27FC236}">
                <a16:creationId xmlns:a16="http://schemas.microsoft.com/office/drawing/2014/main" id="{B9F09311-6A02-4E27-B634-CFA2F24F98FF}"/>
              </a:ext>
            </a:extLst>
          </p:cNvPr>
          <p:cNvSpPr>
            <a:spLocks xmlns:a="http://schemas.openxmlformats.org/drawingml/2006/main" noGrp="1"/>
          </p:cNvSpPr>
          <p:nvPr/>
        </p:nvSpPr>
        <p:spPr>
          <a:xfrm xmlns:a="http://schemas.openxmlformats.org/drawingml/2006/main">
            <a:off x="781050" y="5400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must stay the same for a fair comparison?</a:t>
            </a:r>
          </a:p>
        </p:txBody>
      </p:sp>
    </p:spTree>
    <p:extLst>
      <p:ext uri="{BB962C8B-B14F-4D97-AF65-F5344CB8AC3E}">
        <p14:creationId xmlns:p14="http://schemas.microsoft.com/office/powerpoint/2010/main" val="715496397"/>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F7BD88-D1B1-470D-85FF-D8B7C67079EC}"/>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Robot trials and cradle builds</a:t>
            </a:r>
          </a:p>
        </p:txBody>
      </p:sp>
      <p:sp>
        <p:nvSpPr>
          <p:cNvPr id="2" name="">
            <a:extLst xmlns:a="http://schemas.openxmlformats.org/drawingml/2006/main">
              <a:ext uri="{FF2B5EF4-FFF2-40B4-BE49-F238E27FC236}">
                <a16:creationId xmlns:a16="http://schemas.microsoft.com/office/drawing/2014/main" id="{5BB5687D-2D9D-4364-8674-E85A2FBF05D4}"/>
              </a:ext>
            </a:extLst>
          </p:cNvPr>
          <p:cNvSpPr>
            <a:spLocks xmlns:a="http://schemas.openxmlformats.org/drawingml/2006/main" noGrp="1"/>
          </p:cNvSpPr>
          <p:nvPr/>
        </p:nvSpPr>
        <p:spPr>
          <a:xfrm xmlns:a="http://schemas.openxmlformats.org/drawingml/2006/main">
            <a:off x="762000" y="1847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Driver edits and starts after “clear.”</a:t>
            </a:r>
          </a:p>
        </p:txBody>
      </p:sp>
      <p:sp>
        <p:nvSpPr>
          <p:cNvPr id="3" name="">
            <a:extLst xmlns:a="http://schemas.openxmlformats.org/drawingml/2006/main">
              <a:ext uri="{FF2B5EF4-FFF2-40B4-BE49-F238E27FC236}">
                <a16:creationId xmlns:a16="http://schemas.microsoft.com/office/drawing/2014/main" id="{8C5B96EA-624B-43B2-87F9-1802D9F65C23}"/>
              </a:ext>
            </a:extLst>
          </p:cNvPr>
          <p:cNvSpPr>
            <a:spLocks xmlns:a="http://schemas.openxmlformats.org/drawingml/2006/main" noGrp="1"/>
          </p:cNvSpPr>
          <p:nvPr/>
        </p:nvSpPr>
        <p:spPr>
          <a:xfrm xmlns:a="http://schemas.openxmlformats.org/drawingml/2006/main">
            <a:off x="762000" y="2781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Navigator predicts and resets the stopped robot.</a:t>
            </a:r>
          </a:p>
        </p:txBody>
      </p:sp>
      <p:sp>
        <p:nvSpPr>
          <p:cNvPr id="4" name="">
            <a:extLst xmlns:a="http://schemas.openxmlformats.org/drawingml/2006/main">
              <a:ext uri="{FF2B5EF4-FFF2-40B4-BE49-F238E27FC236}">
                <a16:creationId xmlns:a16="http://schemas.microsoft.com/office/drawing/2014/main" id="{AA4A9444-3BD3-4766-94AC-5439C8A646A0}"/>
              </a:ext>
            </a:extLst>
          </p:cNvPr>
          <p:cNvSpPr>
            <a:spLocks xmlns:a="http://schemas.openxmlformats.org/drawingml/2006/main" noGrp="1"/>
          </p:cNvSpPr>
          <p:nvPr/>
        </p:nvSpPr>
        <p:spPr>
          <a:xfrm xmlns:a="http://schemas.openxmlformats.org/drawingml/2006/main">
            <a:off x="762000" y="3714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Observer records time and delivery success.</a:t>
            </a:r>
          </a:p>
        </p:txBody>
      </p:sp>
      <p:sp>
        <p:nvSpPr>
          <p:cNvPr id="5" name="">
            <a:extLst xmlns:a="http://schemas.openxmlformats.org/drawingml/2006/main">
              <a:ext uri="{FF2B5EF4-FFF2-40B4-BE49-F238E27FC236}">
                <a16:creationId xmlns:a16="http://schemas.microsoft.com/office/drawing/2014/main" id="{D78BB7C6-0837-4A65-8CE5-4F155E02F1CB}"/>
              </a:ext>
            </a:extLst>
          </p:cNvPr>
          <p:cNvSpPr>
            <a:spLocks xmlns:a="http://schemas.openxmlformats.org/drawingml/2006/main" noGrp="1"/>
          </p:cNvSpPr>
          <p:nvPr/>
        </p:nvSpPr>
        <p:spPr>
          <a:xfrm xmlns:a="http://schemas.openxmlformats.org/drawingml/2006/main">
            <a:off x="762000" y="46482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Build team makes and hand-tests a cargo cradle.</a:t>
            </a:r>
          </a:p>
        </p:txBody>
      </p:sp>
      <p:sp>
        <p:nvSpPr>
          <p:cNvPr id="7" name="">
            <a:extLst xmlns:a="http://schemas.openxmlformats.org/drawingml/2006/main">
              <a:ext uri="{FF2B5EF4-FFF2-40B4-BE49-F238E27FC236}">
                <a16:creationId xmlns:a16="http://schemas.microsoft.com/office/drawing/2014/main" id="{34C5146C-FD47-43DD-8EEE-C646AF042834}"/>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Rotate every 4 minutes; every 2 minutes in retests.</a:t>
            </a:r>
          </a:p>
        </p:txBody>
      </p:sp>
    </p:spTree>
    <p:extLst>
      <p:ext uri="{BB962C8B-B14F-4D97-AF65-F5344CB8AC3E}">
        <p14:creationId xmlns:p14="http://schemas.microsoft.com/office/powerpoint/2010/main" val="1389708832"/>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3416F9-FAEC-4EF1-B336-5760A4A4458F}"/>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Times and successful deliveries</a:t>
            </a:r>
          </a:p>
        </p:txBody>
      </p:sp>
      <p:sp>
        <p:nvSpPr>
          <p:cNvPr id="2" name="">
            <a:extLst xmlns:a="http://schemas.openxmlformats.org/drawingml/2006/main">
              <a:ext uri="{FF2B5EF4-FFF2-40B4-BE49-F238E27FC236}">
                <a16:creationId xmlns:a16="http://schemas.microsoft.com/office/drawing/2014/main" id="{E2E3B5CF-C6BC-4F85-9198-6DAA4B2EE84B}"/>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A: mentor tray at 200 — three runs</a:t>
            </a:r>
          </a:p>
        </p:txBody>
      </p:sp>
      <p:sp>
        <p:nvSpPr>
          <p:cNvPr id="3" name="">
            <a:extLst xmlns:a="http://schemas.openxmlformats.org/drawingml/2006/main">
              <a:ext uri="{FF2B5EF4-FFF2-40B4-BE49-F238E27FC236}">
                <a16:creationId xmlns:a16="http://schemas.microsoft.com/office/drawing/2014/main" id="{CF6E2358-653D-43AC-AFB0-BFD43903CA85}"/>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B: same tray, approved faster speed — optional</a:t>
            </a:r>
          </a:p>
        </p:txBody>
      </p:sp>
      <p:sp>
        <p:nvSpPr>
          <p:cNvPr id="4" name="">
            <a:extLst xmlns:a="http://schemas.openxmlformats.org/drawingml/2006/main">
              <a:ext uri="{FF2B5EF4-FFF2-40B4-BE49-F238E27FC236}">
                <a16:creationId xmlns:a16="http://schemas.microsoft.com/office/drawing/2014/main" id="{09E9E8DE-1EFD-4083-95A5-98C3DD163159}"/>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C: our cradle at the same chosen speed — three runs</a:t>
            </a:r>
          </a:p>
        </p:txBody>
      </p:sp>
      <p:sp>
        <p:nvSpPr>
          <p:cNvPr id="5" name="">
            <a:extLst xmlns:a="http://schemas.openxmlformats.org/drawingml/2006/main">
              <a:ext uri="{FF2B5EF4-FFF2-40B4-BE49-F238E27FC236}">
                <a16:creationId xmlns:a16="http://schemas.microsoft.com/office/drawing/2014/main" id="{0C784310-6E69-454B-9EBD-1D0B42DC0DF8}"/>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Count successes first. Compare times for 3/3 valid sets.</a:t>
            </a:r>
          </a:p>
        </p:txBody>
      </p:sp>
    </p:spTree>
    <p:extLst>
      <p:ext uri="{BB962C8B-B14F-4D97-AF65-F5344CB8AC3E}">
        <p14:creationId xmlns:p14="http://schemas.microsoft.com/office/powerpoint/2010/main" val="1371880661"/>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2C1270-71A8-49F0-84B0-0AB4D33969C4}"/>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Our evidence for the showcase</a:t>
            </a:r>
          </a:p>
        </p:txBody>
      </p:sp>
      <p:sp>
        <p:nvSpPr>
          <p:cNvPr id="2" name="">
            <a:extLst xmlns:a="http://schemas.openxmlformats.org/drawingml/2006/main">
              <a:ext uri="{FF2B5EF4-FFF2-40B4-BE49-F238E27FC236}">
                <a16:creationId xmlns:a16="http://schemas.microsoft.com/office/drawing/2014/main" id="{82AC6B71-5E56-4F29-B72B-F0D9F7443B12}"/>
              </a:ext>
            </a:extLst>
          </p:cNvPr>
          <p:cNvSpPr>
            <a:spLocks xmlns:a="http://schemas.openxmlformats.org/drawingml/2006/main" noGrp="1"/>
          </p:cNvSpPr>
          <p:nvPr/>
        </p:nvSpPr>
        <p:spPr>
          <a:xfrm xmlns:a="http://schemas.openxmlformats.org/drawingml/2006/main">
            <a:off x="7620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learn about speed or the code?</a:t>
            </a:r>
          </a:p>
        </p:txBody>
      </p:sp>
      <p:sp>
        <p:nvSpPr>
          <p:cNvPr id="3" name="">
            <a:extLst xmlns:a="http://schemas.openxmlformats.org/drawingml/2006/main">
              <a:ext uri="{FF2B5EF4-FFF2-40B4-BE49-F238E27FC236}">
                <a16:creationId xmlns:a16="http://schemas.microsoft.com/office/drawing/2014/main" id="{CBE8DAF0-263F-44AC-BE54-7BD97E432DFE}"/>
              </a:ext>
            </a:extLst>
          </p:cNvPr>
          <p:cNvSpPr>
            <a:spLocks xmlns:a="http://schemas.openxmlformats.org/drawingml/2006/main" noGrp="1"/>
          </p:cNvSpPr>
          <p:nvPr/>
        </p:nvSpPr>
        <p:spPr>
          <a:xfrm xmlns:a="http://schemas.openxmlformats.org/drawingml/2006/main">
            <a:off x="762000" y="2886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our cradle change do?</a:t>
            </a:r>
          </a:p>
        </p:txBody>
      </p:sp>
      <p:sp>
        <p:nvSpPr>
          <p:cNvPr id="4" name="">
            <a:extLst xmlns:a="http://schemas.openxmlformats.org/drawingml/2006/main">
              <a:ext uri="{FF2B5EF4-FFF2-40B4-BE49-F238E27FC236}">
                <a16:creationId xmlns:a16="http://schemas.microsoft.com/office/drawing/2014/main" id="{EB18A284-7357-4294-A5A2-72B4A6D5AE6A}"/>
              </a:ext>
            </a:extLst>
          </p:cNvPr>
          <p:cNvSpPr>
            <a:spLocks xmlns:a="http://schemas.openxmlformats.org/drawingml/2006/main" noGrp="1"/>
          </p:cNvSpPr>
          <p:nvPr/>
        </p:nvSpPr>
        <p:spPr>
          <a:xfrm xmlns:a="http://schemas.openxmlformats.org/drawingml/2006/main">
            <a:off x="762000" y="4029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Which result supports our showcase choice?</a:t>
            </a:r>
          </a:p>
        </p:txBody>
      </p:sp>
      <p:sp>
        <p:nvSpPr>
          <p:cNvPr id="6" name="">
            <a:extLst xmlns:a="http://schemas.openxmlformats.org/drawingml/2006/main">
              <a:ext uri="{FF2B5EF4-FFF2-40B4-BE49-F238E27FC236}">
                <a16:creationId xmlns:a16="http://schemas.microsoft.com/office/drawing/2014/main" id="{9A5F46D6-5710-4283-9301-0EED4AEBA344}"/>
              </a:ext>
            </a:extLst>
          </p:cNvPr>
          <p:cNvSpPr>
            <a:spLocks xmlns:a="http://schemas.openxmlformats.org/drawingml/2006/main" noGrp="1"/>
          </p:cNvSpPr>
          <p:nvPr/>
        </p:nvSpPr>
        <p:spPr>
          <a:xfrm xmlns:a="http://schemas.openxmlformats.org/drawingml/2006/main">
            <a:off x="762000" y="5715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06E75"/>
                </a:solidFill>
                <a:latin typeface="Arial"/>
                <a:ea typeface="Arial"/>
                <a:cs typeface="Arial"/>
              </a:defRPr>
            </a:defPPr>
          </a:lstStyle>
          <a:p xmlns:a="http://schemas.openxmlformats.org/drawingml/2006/main">
            <a:pPr>
              <a:buNone/>
              <a:defRPr sz="2025" b="0">
                <a:solidFill>
                  <a:srgbClr val="006E75"/>
                </a:solidFill>
                <a:latin typeface="Arial"/>
                <a:ea typeface="Arial"/>
                <a:cs typeface="Arial"/>
              </a:defRPr>
            </a:pPr>
            <a:r>
              <a:rPr sz="2025" b="0">
                <a:solidFill>
                  <a:srgbClr val="006E75"/>
                </a:solidFill>
                <a:latin typeface="Arial"/>
                <a:ea typeface="Arial"/>
                <a:cs typeface="Arial"/>
              </a:rPr>
              <a:t>Save the tested program, cradle and trial record.</a:t>
            </a:r>
          </a:p>
        </p:txBody>
      </p:sp>
    </p:spTree>
    <p:extLst>
      <p:ext uri="{BB962C8B-B14F-4D97-AF65-F5344CB8AC3E}">
        <p14:creationId xmlns:p14="http://schemas.microsoft.com/office/powerpoint/2010/main" val="1012161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2026-10-28T01:57:02.0620000Z</dcterms:created>
  <dcterms:modified xsi:type="dcterms:W3CDTF">2026-10-28T01:57:02.0620000Z</dcterms:modified>
</coreProperties>
</file>