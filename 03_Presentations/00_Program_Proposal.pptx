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ac5f67a7874f74" /><Relationship Type="http://schemas.openxmlformats.org/officeDocument/2006/relationships/extended-properties" Target="/docProps/app.xml" Id="R3adcfecc459f4a43" /><Relationship Type="http://schemas.openxmlformats.org/officeDocument/2006/relationships/officeDocument" Target="/ppt/presentation.xml" Id="R98b8287d77a54954" /></Relationships>
</file>

<file path=ppt/presentation.xml><?xml version="1.0" encoding="utf-8"?>
<p:presentation xmlns:p="http://schemas.openxmlformats.org/presentationml/2006/main">
  <p:sldMasterIdLst>
    <p:sldMasterId xmlns:r="http://schemas.openxmlformats.org/officeDocument/2006/relationships" id="2147483648" r:id="R304c69f6385a4787"/>
  </p:sldMasterIdLst>
  <p:notesMasterIdLst>
    <p:notesMasterId xmlns:r="http://schemas.openxmlformats.org/officeDocument/2006/relationships" r:id="R0bb3dabf037842c8"/>
  </p:notesMasterIdLst>
  <p:sldIdLst>
    <p:sldId xmlns:r="http://schemas.openxmlformats.org/officeDocument/2006/relationships" id="256" r:id="R23d0e633a598423c"/>
    <p:sldId xmlns:r="http://schemas.openxmlformats.org/officeDocument/2006/relationships" id="257" r:id="R1f76bb8cf93a42c2"/>
    <p:sldId xmlns:r="http://schemas.openxmlformats.org/officeDocument/2006/relationships" id="258" r:id="R3a4ae9540ff142a8"/>
    <p:sldId xmlns:r="http://schemas.openxmlformats.org/officeDocument/2006/relationships" id="259" r:id="R8cea58ee6cb54069"/>
    <p:sldId xmlns:r="http://schemas.openxmlformats.org/officeDocument/2006/relationships" id="260" r:id="Rb50b265a5f5041bd"/>
    <p:sldId xmlns:r="http://schemas.openxmlformats.org/officeDocument/2006/relationships" id="261" r:id="Ra54883cb0a274f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ed7f5e029c4b1d" /><Relationship Type="http://schemas.openxmlformats.org/officeDocument/2006/relationships/slideMaster" Target="/ppt/slideMasters/slideMaster1.xml" Id="R304c69f6385a4787" /><Relationship Type="http://schemas.openxmlformats.org/officeDocument/2006/relationships/notesMaster" Target="/ppt/notesMasters/notesMaster1.xml" Id="R0bb3dabf037842c8" /><Relationship Type="http://schemas.openxmlformats.org/officeDocument/2006/relationships/presProps" Target="/ppt/presProps.xml" Id="Rcf567160c2c143d1" /><Relationship Type="http://schemas.openxmlformats.org/officeDocument/2006/relationships/tableStyles" Target="/ppt/tableStyles.xml" Id="R4f073bfe52ef40e2" /><Relationship Type="http://schemas.openxmlformats.org/officeDocument/2006/relationships/slide" Target="/ppt/slides/slide1.xml" Id="R23d0e633a598423c" /><Relationship Type="http://schemas.openxmlformats.org/officeDocument/2006/relationships/slide" Target="/ppt/slides/slide2.xml" Id="R1f76bb8cf93a42c2" /><Relationship Type="http://schemas.openxmlformats.org/officeDocument/2006/relationships/slide" Target="/ppt/slides/slide3.xml" Id="R3a4ae9540ff142a8" /><Relationship Type="http://schemas.openxmlformats.org/officeDocument/2006/relationships/slide" Target="/ppt/slides/slide4.xml" Id="R8cea58ee6cb54069" /><Relationship Type="http://schemas.openxmlformats.org/officeDocument/2006/relationships/slide" Target="/ppt/slides/slide5.xml" Id="Rb50b265a5f5041bd" /><Relationship Type="http://schemas.openxmlformats.org/officeDocument/2006/relationships/slide" Target="/ppt/slides/slide6.xml" Id="Ra54883cb0a274f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3cc16b27c94c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9db58f27f24ad4" /><Relationship Type="http://schemas.openxmlformats.org/officeDocument/2006/relationships/notesMaster" Target="/ppt/notesMasters/notesMaster1.xml" Id="Rb61a6671e00641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74d6166303479c" /><Relationship Type="http://schemas.openxmlformats.org/officeDocument/2006/relationships/notesMaster" Target="/ppt/notesMasters/notesMaster1.xml" Id="Rb74d88f3efe445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4de19c440a472a" /><Relationship Type="http://schemas.openxmlformats.org/officeDocument/2006/relationships/notesMaster" Target="/ppt/notesMasters/notesMaster1.xml" Id="Rdc9d9b7c711944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d4f396adfb4d56" /><Relationship Type="http://schemas.openxmlformats.org/officeDocument/2006/relationships/notesMaster" Target="/ppt/notesMasters/notesMaster1.xml" Id="R66c66dcf06844e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0abedd5f864120" /><Relationship Type="http://schemas.openxmlformats.org/officeDocument/2006/relationships/notesMaster" Target="/ppt/notesMasters/notesMaster1.xml" Id="Rff98836294794b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72f25932704a79" /><Relationship Type="http://schemas.openxmlformats.org/officeDocument/2006/relationships/notesMaster" Target="/ppt/notesMasters/notesMaster1.xml" Id="R01ccfab6b15142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YMCA partners and team leadership. Purpose: decide whether to launch a small pilot with existing equipment. Enrollment, devices, dates, and staffing are unconfirmed. Source: user-provided partnership context. No claim of past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quantities except the two user-reported kits are recommendations. Four laptops are preferred, two are workable with paper planning tasks. Four mentors are ideal, but one prepared mentor per kit pod is the minimum instructional recommendation. YMCA staffing requirements still govern.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base stays assembled. This preserves programming and testing time. Every pair gets about 17 minutes of direct kit time in the standard lesson, plus planning and discussion. Full details are in the program proposal and instructor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real Python recipe lines inside supplied support code. They are not draggable Python blocks. Mentors introduce only the relevant lines, then expose loops and sensor conditions over time. Word Blocks is a planned fallback with the same learning goal. Source for supported languages and app entry point: https://education.lego.com/en-us/downloads/spike-app/software/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schedule: October 21 and 28; November 4, 11, and 18; December 2, 9, and 16, 2026. Skip Thanksgiving week. Check November 11 and local closures. The kit software and lesson support continue to June 30, 2031 despite SPIKE sales retirement. Source: https://education.lego.com/en-us/spike-update-2026/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attendance, matched concept checks, work samples, and partner feedback. Future FRC interest and actual later participation are separate outcomes. Engineering Inspiration considers measurable community STEM work. Impact considers sustained work over time. This proposed pilot is one contribution, not evidence of outcomes already achieved. Sources: https://www.firstinspires.org/resources/library/frc/team-awards and https://www.firstinspires.org/resources/library/frc/submitted-awards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c122f130c140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585e8fbaaf4fa2" /><Relationship Type="http://schemas.openxmlformats.org/officeDocument/2006/relationships/slideLayout" Target="/ppt/slideLayouts/slideLayout1.xml" Id="R6afead7f03a347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fead7f03a347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224a729b7f491a" /><Relationship Type="http://schemas.openxmlformats.org/officeDocument/2006/relationships/notesSlide" Target="/ppt/notesSlides/notesSlide1.xml" Id="Rcd42591d3c414d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2cb086937a4436" /><Relationship Type="http://schemas.openxmlformats.org/officeDocument/2006/relationships/notesSlide" Target="/ppt/notesSlides/notesSlide2.xml" Id="R253e86fc69be46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0c6b057cd74a10" /><Relationship Type="http://schemas.openxmlformats.org/officeDocument/2006/relationships/notesSlide" Target="/ppt/notesSlides/notesSlide3.xml" Id="R7ab782502cc94f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6a858e7a5d40ec" /><Relationship Type="http://schemas.openxmlformats.org/officeDocument/2006/relationships/notesSlide" Target="/ppt/notesSlides/notesSlide4.xml" Id="R794af755fdc341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f2925798094e67" /><Relationship Type="http://schemas.openxmlformats.org/officeDocument/2006/relationships/notesSlide" Target="/ppt/notesSlides/notesSlide5.xml" Id="Rc2150b39c18f43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ae4ed0adaa44fe" /><Relationship Type="http://schemas.openxmlformats.org/officeDocument/2006/relationships/notesSlide" Target="/ppt/notesSlides/notesSlide6.xml" Id="R7242fa73842542be" /></Relationships>
</file>

<file path=ppt/slides/slide1.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656E35C-F978-4F95-96E1-2F0C70AE766A}"/>
              </a:ext>
            </a:extLst>
          </p:cNvPr>
          <p:cNvSpPr>
            <a:spLocks xmlns:a="http://schemas.openxmlformats.org/drawingml/2006/main" noGrp="1"/>
          </p:cNvSpPr>
          <p:nvPr/>
        </p:nvSpPr>
        <p:spPr>
          <a:xfrm xmlns:a="http://schemas.openxmlformats.org/drawingml/2006/main">
            <a:off x="762000" y="12573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Robotics at the YMCA</a:t>
            </a:r>
          </a:p>
        </p:txBody>
      </p:sp>
      <p:sp>
        <p:nvSpPr>
          <p:cNvPr id="2" name="">
            <a:extLst xmlns:a="http://schemas.openxmlformats.org/drawingml/2006/main">
              <a:ext uri="{FF2B5EF4-FFF2-40B4-BE49-F238E27FC236}">
                <a16:creationId xmlns:a16="http://schemas.microsoft.com/office/drawing/2014/main" id="{B71FB5FE-2745-445E-BFEF-3621717204CD}"/>
              </a:ext>
            </a:extLst>
          </p:cNvPr>
          <p:cNvSpPr>
            <a:spLocks xmlns:a="http://schemas.openxmlformats.org/drawingml/2006/main" noGrp="1"/>
          </p:cNvSpPr>
          <p:nvPr/>
        </p:nvSpPr>
        <p:spPr>
          <a:xfrm xmlns:a="http://schemas.openxmlformats.org/drawingml/2006/main">
            <a:off x="800100" y="400050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9DDADD"/>
                </a:solidFill>
                <a:latin typeface="Arial"/>
                <a:ea typeface="Arial"/>
                <a:cs typeface="Arial"/>
              </a:defRPr>
            </a:pPr>
            <a:r>
              <a:rPr sz="2475" b="0">
                <a:solidFill>
                  <a:srgbClr val="9DDADD"/>
                </a:solidFill>
                <a:latin typeface="Arial"/>
                <a:ea typeface="Arial"/>
                <a:cs typeface="Arial"/>
              </a:rPr>
              <a:t>An eight-session MechaRAMS proposal for grades 7 and 8</a:t>
            </a:r>
          </a:p>
        </p:txBody>
      </p:sp>
      <p:sp>
        <p:nvSpPr>
          <p:cNvPr id="3" name="">
            <a:extLst xmlns:a="http://schemas.openxmlformats.org/drawingml/2006/main">
              <a:ext uri="{FF2B5EF4-FFF2-40B4-BE49-F238E27FC236}">
                <a16:creationId xmlns:a16="http://schemas.microsoft.com/office/drawing/2014/main" id="{6F45BAAD-2E83-42D1-B57E-72E8776D64B0}"/>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9D4DC"/>
                </a:solidFill>
                <a:latin typeface="Arial"/>
                <a:ea typeface="Arial"/>
                <a:cs typeface="Arial"/>
              </a:defRPr>
            </a:pPr>
            <a:r>
              <a:rPr sz="1425" b="0">
                <a:solidFill>
                  <a:srgbClr val="B9D4DC"/>
                </a:solidFill>
                <a:latin typeface="Arial"/>
                <a:ea typeface="Arial"/>
                <a:cs typeface="Arial"/>
              </a:rPr>
              <a:t>Fall 2026 · Planning draft</a:t>
            </a:r>
          </a:p>
        </p:txBody>
      </p:sp>
    </p:spTree>
    <p:extLst>
      <p:ext uri="{BB962C8B-B14F-4D97-AF65-F5344CB8AC3E}">
        <p14:creationId xmlns:p14="http://schemas.microsoft.com/office/powerpoint/2010/main" val="1628749097"/>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87CC91-2CAF-4AE2-82E0-1C36F32C87BB}"/>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The proposed pilot</a:t>
            </a:r>
          </a:p>
        </p:txBody>
      </p:sp>
      <p:sp>
        <p:nvSpPr>
          <p:cNvPr id="2" name="">
            <a:extLst xmlns:a="http://schemas.openxmlformats.org/drawingml/2006/main">
              <a:ext uri="{FF2B5EF4-FFF2-40B4-BE49-F238E27FC236}">
                <a16:creationId xmlns:a16="http://schemas.microsoft.com/office/drawing/2014/main" id="{05E75EEA-825D-43E5-9B3F-6F20A0B3BA10}"/>
              </a:ext>
            </a:extLst>
          </p:cNvPr>
          <p:cNvSpPr>
            <a:spLocks xmlns:a="http://schemas.openxmlformats.org/drawingml/2006/main" noGrp="1"/>
          </p:cNvSpPr>
          <p:nvPr/>
        </p:nvSpPr>
        <p:spPr>
          <a:xfrm xmlns:a="http://schemas.openxmlformats.org/drawingml/2006/main">
            <a:off x="76200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4"/>
                </a:solidFill>
                <a:latin typeface="Arial"/>
                <a:ea typeface="Arial"/>
                <a:cs typeface="Arial"/>
              </a:defRPr>
            </a:pPr>
            <a:r>
              <a:rPr sz="2325" b="0">
                <a:solidFill>
                  <a:srgbClr val="173044"/>
                </a:solidFill>
                <a:latin typeface="Arial"/>
                <a:ea typeface="Arial"/>
                <a:cs typeface="Arial"/>
              </a:rPr>
              <a:t>8 students in four pairs</a:t>
            </a:r>
          </a:p>
        </p:txBody>
      </p:sp>
      <p:sp>
        <p:nvSpPr>
          <p:cNvPr id="3" name="">
            <a:extLst xmlns:a="http://schemas.openxmlformats.org/drawingml/2006/main">
              <a:ext uri="{FF2B5EF4-FFF2-40B4-BE49-F238E27FC236}">
                <a16:creationId xmlns:a16="http://schemas.microsoft.com/office/drawing/2014/main" id="{A098395F-ADB2-426B-B8C5-382B7B2FF485}"/>
              </a:ext>
            </a:extLst>
          </p:cNvPr>
          <p:cNvSpPr>
            <a:spLocks xmlns:a="http://schemas.openxmlformats.org/drawingml/2006/main" noGrp="1"/>
          </p:cNvSpPr>
          <p:nvPr/>
        </p:nvSpPr>
        <p:spPr>
          <a:xfrm xmlns:a="http://schemas.openxmlformats.org/drawingml/2006/main">
            <a:off x="762000" y="28479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4"/>
                </a:solidFill>
                <a:latin typeface="Arial"/>
                <a:ea typeface="Arial"/>
                <a:cs typeface="Arial"/>
              </a:defRPr>
            </a:pPr>
            <a:r>
              <a:rPr sz="2325" b="0">
                <a:solidFill>
                  <a:srgbClr val="173044"/>
                </a:solidFill>
                <a:latin typeface="Arial"/>
                <a:ea typeface="Arial"/>
                <a:cs typeface="Arial"/>
              </a:rPr>
              <a:t>2 existing SPIKE Prime kits</a:t>
            </a:r>
          </a:p>
        </p:txBody>
      </p:sp>
      <p:sp>
        <p:nvSpPr>
          <p:cNvPr id="4" name="">
            <a:extLst xmlns:a="http://schemas.openxmlformats.org/drawingml/2006/main">
              <a:ext uri="{FF2B5EF4-FFF2-40B4-BE49-F238E27FC236}">
                <a16:creationId xmlns:a16="http://schemas.microsoft.com/office/drawing/2014/main" id="{4EE99E11-9432-4131-BA5C-2DAC297E326C}"/>
              </a:ext>
            </a:extLst>
          </p:cNvPr>
          <p:cNvSpPr>
            <a:spLocks xmlns:a="http://schemas.openxmlformats.org/drawingml/2006/main" noGrp="1"/>
          </p:cNvSpPr>
          <p:nvPr/>
        </p:nvSpPr>
        <p:spPr>
          <a:xfrm xmlns:a="http://schemas.openxmlformats.org/drawingml/2006/main">
            <a:off x="762000" y="37433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4"/>
                </a:solidFill>
                <a:latin typeface="Arial"/>
                <a:ea typeface="Arial"/>
                <a:cs typeface="Arial"/>
              </a:defRPr>
            </a:pPr>
            <a:r>
              <a:rPr sz="2325" b="0">
                <a:solidFill>
                  <a:srgbClr val="173044"/>
                </a:solidFill>
                <a:latin typeface="Arial"/>
                <a:ea typeface="Arial"/>
                <a:cs typeface="Arial"/>
              </a:rPr>
              <a:t>8 weekly meetings of 60 minutes</a:t>
            </a:r>
          </a:p>
        </p:txBody>
      </p:sp>
      <p:sp>
        <p:nvSpPr>
          <p:cNvPr id="5" name="">
            <a:extLst xmlns:a="http://schemas.openxmlformats.org/drawingml/2006/main">
              <a:ext uri="{FF2B5EF4-FFF2-40B4-BE49-F238E27FC236}">
                <a16:creationId xmlns:a16="http://schemas.microsoft.com/office/drawing/2014/main" id="{9F53BC5E-C20F-452B-BF36-53E7D4B8C847}"/>
              </a:ext>
            </a:extLst>
          </p:cNvPr>
          <p:cNvSpPr>
            <a:spLocks xmlns:a="http://schemas.openxmlformats.org/drawingml/2006/main" noGrp="1"/>
          </p:cNvSpPr>
          <p:nvPr/>
        </p:nvSpPr>
        <p:spPr>
          <a:xfrm xmlns:a="http://schemas.openxmlformats.org/drawingml/2006/main">
            <a:off x="762000" y="46386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4"/>
                </a:solidFill>
                <a:latin typeface="Arial"/>
                <a:ea typeface="Arial"/>
                <a:cs typeface="Arial"/>
              </a:defRPr>
            </a:pPr>
            <a:r>
              <a:rPr sz="2325" b="0">
                <a:solidFill>
                  <a:srgbClr val="173044"/>
                </a:solidFill>
                <a:latin typeface="Arial"/>
                <a:ea typeface="Arial"/>
                <a:cs typeface="Arial"/>
              </a:rPr>
              <a:t>2 trained student mentors minimum, plus an adult lead</a:t>
            </a:r>
          </a:p>
        </p:txBody>
      </p:sp>
    </p:spTree>
    <p:extLst>
      <p:ext uri="{BB962C8B-B14F-4D97-AF65-F5344CB8AC3E}">
        <p14:creationId xmlns:p14="http://schemas.microsoft.com/office/powerpoint/2010/main" val="475398892"/>
      </p:ext>
    </p:extLst>
  </p:cSld>
</p:sld>
</file>

<file path=ppt/slides/slide3.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B5F083-9EA3-45A2-9F52-75C74712A8B7}"/>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A new mission each week</a:t>
            </a:r>
          </a:p>
        </p:txBody>
      </p:sp>
      <p:sp>
        <p:nvSpPr>
          <p:cNvPr id="2" name="">
            <a:extLst xmlns:a="http://schemas.openxmlformats.org/drawingml/2006/main">
              <a:ext uri="{FF2B5EF4-FFF2-40B4-BE49-F238E27FC236}">
                <a16:creationId xmlns:a16="http://schemas.microsoft.com/office/drawing/2014/main" id="{81010273-597E-49F6-8F3E-4EE101F4D463}"/>
              </a:ext>
            </a:extLst>
          </p:cNvPr>
          <p:cNvSpPr>
            <a:spLocks xmlns:a="http://schemas.openxmlformats.org/drawingml/2006/main" noGrp="1"/>
          </p:cNvSpPr>
          <p:nvPr/>
        </p:nvSpPr>
        <p:spPr>
          <a:xfrm xmlns:a="http://schemas.openxmlformats.org/drawingml/2006/main">
            <a:off x="762000" y="19526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Weeks 1–2   Signals, movement, and a measured delivery</a:t>
            </a:r>
          </a:p>
        </p:txBody>
      </p:sp>
      <p:sp>
        <p:nvSpPr>
          <p:cNvPr id="3" name="">
            <a:extLst xmlns:a="http://schemas.openxmlformats.org/drawingml/2006/main">
              <a:ext uri="{FF2B5EF4-FFF2-40B4-BE49-F238E27FC236}">
                <a16:creationId xmlns:a16="http://schemas.microsoft.com/office/drawing/2014/main" id="{4016B2C1-5AF6-41E5-B303-9E42005FA1C5}"/>
              </a:ext>
            </a:extLst>
          </p:cNvPr>
          <p:cNvSpPr>
            <a:spLocks xmlns:a="http://schemas.openxmlformats.org/drawingml/2006/main" noGrp="1"/>
          </p:cNvSpPr>
          <p:nvPr/>
        </p:nvSpPr>
        <p:spPr>
          <a:xfrm xmlns:a="http://schemas.openxmlformats.org/drawingml/2006/main">
            <a:off x="762000" y="29051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Weeks 3–4   Repeating routines and sensor decisions</a:t>
            </a:r>
          </a:p>
        </p:txBody>
      </p:sp>
      <p:sp>
        <p:nvSpPr>
          <p:cNvPr id="4" name="">
            <a:extLst xmlns:a="http://schemas.openxmlformats.org/drawingml/2006/main">
              <a:ext uri="{FF2B5EF4-FFF2-40B4-BE49-F238E27FC236}">
                <a16:creationId xmlns:a16="http://schemas.microsoft.com/office/drawing/2014/main" id="{326F8C3F-BFC5-4758-9B42-47BAA0F50D98}"/>
              </a:ext>
            </a:extLst>
          </p:cNvPr>
          <p:cNvSpPr>
            <a:spLocks xmlns:a="http://schemas.openxmlformats.org/drawingml/2006/main" noGrp="1"/>
          </p:cNvSpPr>
          <p:nvPr/>
        </p:nvSpPr>
        <p:spPr>
          <a:xfrm xmlns:a="http://schemas.openxmlformats.org/drawingml/2006/main">
            <a:off x="762000" y="38576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Weeks 5–6   Floor markers and a student-built attachment</a:t>
            </a:r>
          </a:p>
        </p:txBody>
      </p:sp>
      <p:sp>
        <p:nvSpPr>
          <p:cNvPr id="5" name="">
            <a:extLst xmlns:a="http://schemas.openxmlformats.org/drawingml/2006/main">
              <a:ext uri="{FF2B5EF4-FFF2-40B4-BE49-F238E27FC236}">
                <a16:creationId xmlns:a16="http://schemas.microsoft.com/office/drawing/2014/main" id="{335AE644-EEFA-4470-8A0A-4F7AC392F4A1}"/>
              </a:ext>
            </a:extLst>
          </p:cNvPr>
          <p:cNvSpPr>
            <a:spLocks xmlns:a="http://schemas.openxmlformats.org/drawingml/2006/main" noGrp="1"/>
          </p:cNvSpPr>
          <p:nvPr/>
        </p:nvSpPr>
        <p:spPr>
          <a:xfrm xmlns:a="http://schemas.openxmlformats.org/drawingml/2006/main">
            <a:off x="762000" y="48101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Weeks 7–8   A community mission and family showcase</a:t>
            </a:r>
          </a:p>
        </p:txBody>
      </p:sp>
    </p:spTree>
    <p:extLst>
      <p:ext uri="{BB962C8B-B14F-4D97-AF65-F5344CB8AC3E}">
        <p14:creationId xmlns:p14="http://schemas.microsoft.com/office/powerpoint/2010/main" val="1023047298"/>
      </p:ext>
    </p:extLst>
  </p:cSld>
</p:sld>
</file>

<file path=ppt/slides/slide4.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E7FBF99-412C-40EF-BA36-92BA023B5943}"/>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Python students can reason about</a:t>
            </a:r>
          </a:p>
        </p:txBody>
      </p:sp>
      <p:sp>
        <p:nvSpPr>
          <p:cNvPr id="2" name="">
            <a:extLst xmlns:a="http://schemas.openxmlformats.org/drawingml/2006/main">
              <a:ext uri="{FF2B5EF4-FFF2-40B4-BE49-F238E27FC236}">
                <a16:creationId xmlns:a16="http://schemas.microsoft.com/office/drawing/2014/main" id="{6159E897-22BC-4CF5-92D4-C334EEF452CC}"/>
              </a:ext>
            </a:extLst>
          </p:cNvPr>
          <p:cNvSpPr>
            <a:spLocks xmlns:a="http://schemas.openxmlformats.org/drawingml/2006/main" noGrp="1"/>
          </p:cNvSpPr>
          <p:nvPr/>
        </p:nvSpPr>
        <p:spPr>
          <a:xfrm xmlns:a="http://schemas.openxmlformats.org/drawingml/2006/main">
            <a:off x="781050" y="1952625"/>
            <a:ext cx="1057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FFFFFF"/>
                </a:solidFill>
                <a:latin typeface="Consolas"/>
                <a:ea typeface="Consolas"/>
                <a:cs typeface="Consolas"/>
              </a:defRPr>
            </a:pPr>
            <a:r>
              <a:rPr sz="2925" b="0">
                <a:solidFill>
                  <a:srgbClr val="FFFFFF"/>
                </a:solidFill>
                <a:latin typeface="Consolas"/>
                <a:ea typeface="Consolas"/>
                <a:cs typeface="Consolas"/>
              </a:rPr>
              <a:t>travel = 180</a:t>
            </a:r>
          </a:p>
          <a:p xmlns:a="http://schemas.openxmlformats.org/drawingml/2006/main">
            <a:pPr>
              <a:defRPr sz="2925" b="0">
                <a:solidFill>
                  <a:srgbClr val="FFFFFF"/>
                </a:solidFill>
                <a:latin typeface="Consolas"/>
                <a:ea typeface="Consolas"/>
                <a:cs typeface="Consolas"/>
              </a:defRPr>
            </a:pPr>
            <a:r>
              <a:rPr sz="2925" b="0">
                <a:solidFill>
                  <a:srgbClr val="FFFFFF"/>
                </a:solidFill>
                <a:latin typeface="Consolas"/>
                <a:ea typeface="Consolas"/>
                <a:cs typeface="Consolas"/>
              </a:rPr>
              <a:t>await drive(travel)</a:t>
            </a:r>
          </a:p>
          <a:p xmlns:a="http://schemas.openxmlformats.org/drawingml/2006/main">
            <a:pPr>
              <a:defRPr sz="2925" b="0">
                <a:solidFill>
                  <a:srgbClr val="FFFFFF"/>
                </a:solidFill>
                <a:latin typeface="Consolas"/>
                <a:ea typeface="Consolas"/>
                <a:cs typeface="Consolas"/>
              </a:defRPr>
            </a:pPr>
            <a:r>
              <a:rPr sz="2925" b="0">
                <a:solidFill>
                  <a:srgbClr val="FFFFFF"/>
                </a:solidFill>
                <a:latin typeface="Consolas"/>
                <a:ea typeface="Consolas"/>
                <a:cs typeface="Consolas"/>
              </a:rPr>
              <a:t>await signal("D")</a:t>
            </a:r>
          </a:p>
        </p:txBody>
      </p:sp>
      <p:sp>
        <p:nvSpPr>
          <p:cNvPr id="3" name="">
            <a:extLst xmlns:a="http://schemas.openxmlformats.org/drawingml/2006/main">
              <a:ext uri="{FF2B5EF4-FFF2-40B4-BE49-F238E27FC236}">
                <a16:creationId xmlns:a16="http://schemas.microsoft.com/office/drawing/2014/main" id="{C88813FD-B1EF-4EC3-A070-B7FE125B64EB}"/>
              </a:ext>
            </a:extLst>
          </p:cNvPr>
          <p:cNvSpPr>
            <a:spLocks xmlns:a="http://schemas.openxmlformats.org/drawingml/2006/main" noGrp="1"/>
          </p:cNvSpPr>
          <p:nvPr/>
        </p:nvSpPr>
        <p:spPr>
          <a:xfrm xmlns:a="http://schemas.openxmlformats.org/drawingml/2006/main">
            <a:off x="781050" y="4667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9DDADD"/>
                </a:solidFill>
                <a:latin typeface="Arial"/>
                <a:ea typeface="Arial"/>
                <a:cs typeface="Arial"/>
              </a:defRPr>
            </a:pPr>
            <a:r>
              <a:rPr sz="2325" b="0">
                <a:solidFill>
                  <a:srgbClr val="9DDADD"/>
                </a:solidFill>
                <a:latin typeface="Arial"/>
                <a:ea typeface="Arial"/>
                <a:cs typeface="Arial"/>
              </a:rPr>
              <a:t>Predict. Change one value. Run. Explain the result.</a:t>
            </a:r>
          </a:p>
        </p:txBody>
      </p:sp>
    </p:spTree>
    <p:extLst>
      <p:ext uri="{BB962C8B-B14F-4D97-AF65-F5344CB8AC3E}">
        <p14:creationId xmlns:p14="http://schemas.microsoft.com/office/powerpoint/2010/main" val="953550384"/>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9CFA52-8A53-4298-935D-3179B6BBA74B}"/>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The decisions before registration</a:t>
            </a:r>
          </a:p>
        </p:txBody>
      </p:sp>
      <p:sp>
        <p:nvSpPr>
          <p:cNvPr id="2" name="">
            <a:extLst xmlns:a="http://schemas.openxmlformats.org/drawingml/2006/main">
              <a:ext uri="{FF2B5EF4-FFF2-40B4-BE49-F238E27FC236}">
                <a16:creationId xmlns:a16="http://schemas.microsoft.com/office/drawing/2014/main" id="{F76594E5-B1E1-4E07-86BA-44941638408C}"/>
              </a:ext>
            </a:extLst>
          </p:cNvPr>
          <p:cNvSpPr>
            <a:spLocks xmlns:a="http://schemas.openxmlformats.org/drawingml/2006/main" noGrp="1"/>
          </p:cNvSpPr>
          <p:nvPr/>
        </p:nvSpPr>
        <p:spPr>
          <a:xfrm xmlns:a="http://schemas.openxmlformats.org/drawingml/2006/main">
            <a:off x="762000" y="1952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Confirm enrollment, devices, and eight meeting dates.</a:t>
            </a:r>
          </a:p>
        </p:txBody>
      </p:sp>
      <p:sp>
        <p:nvSpPr>
          <p:cNvPr id="3" name="">
            <a:extLst xmlns:a="http://schemas.openxmlformats.org/drawingml/2006/main">
              <a:ext uri="{FF2B5EF4-FFF2-40B4-BE49-F238E27FC236}">
                <a16:creationId xmlns:a16="http://schemas.microsoft.com/office/drawing/2014/main" id="{9AC3A3CF-21C5-4117-B4C5-458D25D5C661}"/>
              </a:ext>
            </a:extLst>
          </p:cNvPr>
          <p:cNvSpPr>
            <a:spLocks xmlns:a="http://schemas.openxmlformats.org/drawingml/2006/main" noGrp="1"/>
          </p:cNvSpPr>
          <p:nvPr/>
        </p:nvSpPr>
        <p:spPr>
          <a:xfrm xmlns:a="http://schemas.openxmlformats.org/drawingml/2006/main">
            <a:off x="762000" y="28670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Inspect both kits and rehearse every mission.</a:t>
            </a:r>
          </a:p>
        </p:txBody>
      </p:sp>
      <p:sp>
        <p:nvSpPr>
          <p:cNvPr id="4" name="">
            <a:extLst xmlns:a="http://schemas.openxmlformats.org/drawingml/2006/main">
              <a:ext uri="{FF2B5EF4-FFF2-40B4-BE49-F238E27FC236}">
                <a16:creationId xmlns:a16="http://schemas.microsoft.com/office/drawing/2014/main" id="{7B871542-50D8-4840-8835-7E8B99BC8CA6}"/>
              </a:ext>
            </a:extLst>
          </p:cNvPr>
          <p:cNvSpPr>
            <a:spLocks xmlns:a="http://schemas.openxmlformats.org/drawingml/2006/main" noGrp="1"/>
          </p:cNvSpPr>
          <p:nvPr/>
        </p:nvSpPr>
        <p:spPr>
          <a:xfrm xmlns:a="http://schemas.openxmlformats.org/drawingml/2006/main">
            <a:off x="762000" y="3781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Confirm supervision, pickup, storage, and charging.</a:t>
            </a:r>
          </a:p>
        </p:txBody>
      </p:sp>
      <p:sp>
        <p:nvSpPr>
          <p:cNvPr id="5" name="">
            <a:extLst xmlns:a="http://schemas.openxmlformats.org/drawingml/2006/main">
              <a:ext uri="{FF2B5EF4-FFF2-40B4-BE49-F238E27FC236}">
                <a16:creationId xmlns:a16="http://schemas.microsoft.com/office/drawing/2014/main" id="{7A91D928-7709-4975-A5B7-122810AB053F}"/>
              </a:ext>
            </a:extLst>
          </p:cNvPr>
          <p:cNvSpPr>
            <a:spLocks xmlns:a="http://schemas.openxmlformats.org/drawingml/2006/main" noGrp="1"/>
          </p:cNvSpPr>
          <p:nvPr/>
        </p:nvSpPr>
        <p:spPr>
          <a:xfrm xmlns:a="http://schemas.openxmlformats.org/drawingml/2006/main">
            <a:off x="762000" y="46958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Agree how the YMCA and team will evaluate the pilot.</a:t>
            </a:r>
          </a:p>
        </p:txBody>
      </p:sp>
    </p:spTree>
    <p:extLst>
      <p:ext uri="{BB962C8B-B14F-4D97-AF65-F5344CB8AC3E}">
        <p14:creationId xmlns:p14="http://schemas.microsoft.com/office/powerpoint/2010/main" val="822742377"/>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47B3F0-3261-428A-86C0-2C7D3514620E}"/>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Learning and community benefit</a:t>
            </a:r>
          </a:p>
        </p:txBody>
      </p:sp>
      <p:sp>
        <p:nvSpPr>
          <p:cNvPr id="2" name="">
            <a:extLst xmlns:a="http://schemas.openxmlformats.org/drawingml/2006/main">
              <a:ext uri="{FF2B5EF4-FFF2-40B4-BE49-F238E27FC236}">
                <a16:creationId xmlns:a16="http://schemas.microsoft.com/office/drawing/2014/main" id="{3FF2E993-B92F-4D8D-958B-74D4373CCD77}"/>
              </a:ext>
            </a:extLst>
          </p:cNvPr>
          <p:cNvSpPr>
            <a:spLocks xmlns:a="http://schemas.openxmlformats.org/drawingml/2006/main" noGrp="1"/>
          </p:cNvSpPr>
          <p:nvPr/>
        </p:nvSpPr>
        <p:spPr>
          <a:xfrm xmlns:a="http://schemas.openxmlformats.org/drawingml/2006/main">
            <a:off x="762000" y="1952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Each student explains a program decision.</a:t>
            </a:r>
          </a:p>
        </p:txBody>
      </p:sp>
      <p:sp>
        <p:nvSpPr>
          <p:cNvPr id="3" name="">
            <a:extLst xmlns:a="http://schemas.openxmlformats.org/drawingml/2006/main">
              <a:ext uri="{FF2B5EF4-FFF2-40B4-BE49-F238E27FC236}">
                <a16:creationId xmlns:a16="http://schemas.microsoft.com/office/drawing/2014/main" id="{B87EC6C0-8BE9-4B22-BB30-C0CD6E70F467}"/>
              </a:ext>
            </a:extLst>
          </p:cNvPr>
          <p:cNvSpPr>
            <a:spLocks xmlns:a="http://schemas.openxmlformats.org/drawingml/2006/main" noGrp="1"/>
          </p:cNvSpPr>
          <p:nvPr/>
        </p:nvSpPr>
        <p:spPr>
          <a:xfrm xmlns:a="http://schemas.openxmlformats.org/drawingml/2006/main">
            <a:off x="762000" y="28670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Each pair improves a design using test evidence.</a:t>
            </a:r>
          </a:p>
        </p:txBody>
      </p:sp>
      <p:sp>
        <p:nvSpPr>
          <p:cNvPr id="4" name="">
            <a:extLst xmlns:a="http://schemas.openxmlformats.org/drawingml/2006/main">
              <a:ext uri="{FF2B5EF4-FFF2-40B4-BE49-F238E27FC236}">
                <a16:creationId xmlns:a16="http://schemas.microsoft.com/office/drawing/2014/main" id="{8E2D9BCA-1E1E-4845-BC87-2E65FD37E542}"/>
              </a:ext>
            </a:extLst>
          </p:cNvPr>
          <p:cNvSpPr>
            <a:spLocks xmlns:a="http://schemas.openxmlformats.org/drawingml/2006/main" noGrp="1"/>
          </p:cNvSpPr>
          <p:nvPr/>
        </p:nvSpPr>
        <p:spPr>
          <a:xfrm xmlns:a="http://schemas.openxmlformats.org/drawingml/2006/main">
            <a:off x="762000" y="3781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High school mentors practice teaching and leadership.</a:t>
            </a:r>
          </a:p>
        </p:txBody>
      </p:sp>
      <p:sp>
        <p:nvSpPr>
          <p:cNvPr id="5" name="">
            <a:extLst xmlns:a="http://schemas.openxmlformats.org/drawingml/2006/main">
              <a:ext uri="{FF2B5EF4-FFF2-40B4-BE49-F238E27FC236}">
                <a16:creationId xmlns:a16="http://schemas.microsoft.com/office/drawing/2014/main" id="{04E8E111-58AC-4C50-9E5F-85540A31AA46}"/>
              </a:ext>
            </a:extLst>
          </p:cNvPr>
          <p:cNvSpPr>
            <a:spLocks xmlns:a="http://schemas.openxmlformats.org/drawingml/2006/main" noGrp="1"/>
          </p:cNvSpPr>
          <p:nvPr/>
        </p:nvSpPr>
        <p:spPr>
          <a:xfrm xmlns:a="http://schemas.openxmlformats.org/drawingml/2006/main">
            <a:off x="762000" y="46958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The YMCA helps decide whether the program should repeat.</a:t>
            </a:r>
          </a:p>
        </p:txBody>
      </p:sp>
    </p:spTree>
    <p:extLst>
      <p:ext uri="{BB962C8B-B14F-4D97-AF65-F5344CB8AC3E}">
        <p14:creationId xmlns:p14="http://schemas.microsoft.com/office/powerpoint/2010/main" val="21353098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2026-10-02T02:43:12.7300000Z</dcterms:created>
  <dcterms:modified xsi:type="dcterms:W3CDTF">2026-10-02T02:43:12.7300000Z</dcterms:modified>
</coreProperties>
</file>