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e036ccdc09145cb" /><Relationship Type="http://schemas.openxmlformats.org/officeDocument/2006/relationships/extended-properties" Target="/docProps/app.xml" Id="R969f873260c84d7c" /><Relationship Type="http://schemas.openxmlformats.org/officeDocument/2006/relationships/officeDocument" Target="/ppt/presentation.xml" Id="R604de734687b435d" /></Relationships>
</file>

<file path=ppt/presentation.xml><?xml version="1.0" encoding="utf-8"?>
<p:presentation xmlns:p="http://schemas.openxmlformats.org/presentationml/2006/main">
  <p:sldMasterIdLst>
    <p:sldMasterId xmlns:r="http://schemas.openxmlformats.org/officeDocument/2006/relationships" id="2147483648" r:id="Re03fa22552d547fa"/>
  </p:sldMasterIdLst>
  <p:notesMasterIdLst>
    <p:notesMasterId xmlns:r="http://schemas.openxmlformats.org/officeDocument/2006/relationships" r:id="R775a7a7b23b14635"/>
  </p:notesMasterIdLst>
  <p:sldIdLst>
    <p:sldId xmlns:r="http://schemas.openxmlformats.org/officeDocument/2006/relationships" id="256" r:id="Rbb3b0c7f57744ba3"/>
    <p:sldId xmlns:r="http://schemas.openxmlformats.org/officeDocument/2006/relationships" id="257" r:id="Rc7fd0ae6a3aa4cdd"/>
    <p:sldId xmlns:r="http://schemas.openxmlformats.org/officeDocument/2006/relationships" id="258" r:id="R0fdad1d014c64c49"/>
    <p:sldId xmlns:r="http://schemas.openxmlformats.org/officeDocument/2006/relationships" id="259" r:id="Redba2e578949405a"/>
    <p:sldId xmlns:r="http://schemas.openxmlformats.org/officeDocument/2006/relationships" id="260" r:id="Rb5f7ff8720ed47dc"/>
    <p:sldId xmlns:r="http://schemas.openxmlformats.org/officeDocument/2006/relationships" id="261" r:id="R2f2c72125422457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0d27d981f54a95" /><Relationship Type="http://schemas.openxmlformats.org/officeDocument/2006/relationships/slideMaster" Target="/ppt/slideMasters/slideMaster1.xml" Id="Re03fa22552d547fa" /><Relationship Type="http://schemas.openxmlformats.org/officeDocument/2006/relationships/notesMaster" Target="/ppt/notesMasters/notesMaster1.xml" Id="R775a7a7b23b14635" /><Relationship Type="http://schemas.openxmlformats.org/officeDocument/2006/relationships/presProps" Target="/ppt/presProps.xml" Id="R0804183b492c405f" /><Relationship Type="http://schemas.openxmlformats.org/officeDocument/2006/relationships/tableStyles" Target="/ppt/tableStyles.xml" Id="R1619f0203ea64300" /><Relationship Type="http://schemas.openxmlformats.org/officeDocument/2006/relationships/slide" Target="/ppt/slides/slide1.xml" Id="Rbb3b0c7f57744ba3" /><Relationship Type="http://schemas.openxmlformats.org/officeDocument/2006/relationships/slide" Target="/ppt/slides/slide2.xml" Id="Rc7fd0ae6a3aa4cdd" /><Relationship Type="http://schemas.openxmlformats.org/officeDocument/2006/relationships/slide" Target="/ppt/slides/slide3.xml" Id="R0fdad1d014c64c49" /><Relationship Type="http://schemas.openxmlformats.org/officeDocument/2006/relationships/slide" Target="/ppt/slides/slide4.xml" Id="Redba2e578949405a" /><Relationship Type="http://schemas.openxmlformats.org/officeDocument/2006/relationships/slide" Target="/ppt/slides/slide5.xml" Id="Rb5f7ff8720ed47dc" /><Relationship Type="http://schemas.openxmlformats.org/officeDocument/2006/relationships/slide" Target="/ppt/slides/slide6.xml" Id="R2f2c7212542245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03d4fcab8447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bc58eeb46d4a9c" /><Relationship Type="http://schemas.openxmlformats.org/officeDocument/2006/relationships/notesMaster" Target="/ppt/notesMasters/notesMaster1.xml" Id="R90208b1d8b3d4a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5d5b73366d4a99" /><Relationship Type="http://schemas.openxmlformats.org/officeDocument/2006/relationships/notesMaster" Target="/ppt/notesMasters/notesMaster1.xml" Id="R71db183d681742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cc7008df8e426e" /><Relationship Type="http://schemas.openxmlformats.org/officeDocument/2006/relationships/notesMaster" Target="/ppt/notesMasters/notesMaster1.xml" Id="Rd83b8e714a024e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da74f84eba4d56" /><Relationship Type="http://schemas.openxmlformats.org/officeDocument/2006/relationships/notesMaster" Target="/ppt/notesMasters/notesMaster1.xml" Id="Rdd544fe113034d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49df8ada8044e4" /><Relationship Type="http://schemas.openxmlformats.org/officeDocument/2006/relationships/notesMaster" Target="/ppt/notesMasters/notesMaster1.xml" Id="R00929ca5981d4c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9a827458334f89" /><Relationship Type="http://schemas.openxmlformats.org/officeDocument/2006/relationships/notesMaster" Target="/ppt/notesMasters/notesMaster1.xml" Id="Rdcbb7ada4c454c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Confirmed by Alex October 25: 12 children in grades 5–6, two kits, 4–6 student instructors and four available laptops. Assign two robot mentors and two build mentors; extra mentors float. Two laptops control robots and two display build references. Printed build cards support a two-laptop version. YMCA supervision requirements still govern.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both driving bases assembled. Each week includes a related hands-on build and robot tests. Four teams share two kits. Each team receives a 12-minute turn and a six-minute retest in Weeks 1–7, with three rotating jobs. Week 8 uses six-minute rehearsals and four-minute demonstrations. See Grouping_and_Roles.md for exact timings.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Enrollment, grade band, available mentors and devices are confirmed. Session dates, inventory and hardware readiness still need verification. The old October 21 proposal date is not an actual scheduled start. Use the per-session print-and-bring checklist, arrange two robot stations and two build tables, and test both robots before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da4ba0dddf45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44ff9c4e304798" /><Relationship Type="http://schemas.openxmlformats.org/officeDocument/2006/relationships/slideLayout" Target="/ppt/slideLayouts/slideLayout1.xml" Id="R0fdc141b558546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dc141b558546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9a0183fd0094810" /><Relationship Type="http://schemas.openxmlformats.org/officeDocument/2006/relationships/notesSlide" Target="/ppt/notesSlides/notesSlide1.xml" Id="Rcedd0d6fd41644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16a0fc192f54526" /><Relationship Type="http://schemas.openxmlformats.org/officeDocument/2006/relationships/notesSlide" Target="/ppt/notesSlides/notesSlide2.xml" Id="R90c4ee3dff4d486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e87b44712174c06" /><Relationship Type="http://schemas.openxmlformats.org/officeDocument/2006/relationships/notesSlide" Target="/ppt/notesSlides/notesSlide3.xml" Id="R4ea32c11e95c471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38b128f229949d7" /><Relationship Type="http://schemas.openxmlformats.org/officeDocument/2006/relationships/notesSlide" Target="/ppt/notesSlides/notesSlide4.xml" Id="R7685befa4de7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cac11dcaeb4516" /><Relationship Type="http://schemas.openxmlformats.org/officeDocument/2006/relationships/notesSlide" Target="/ppt/notesSlides/notesSlide5.xml" Id="R343a4e6b43e646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c6c5f47ed434aff" /><Relationship Type="http://schemas.openxmlformats.org/officeDocument/2006/relationships/notesSlide" Target="/ppt/notesSlides/notesSlide6.xml" Id="Rf6baae66f86a404e"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656E35C-F978-4F95-96E1-2F0C70AE766A}"/>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Robotics at the YMCA</a:t>
            </a:r>
          </a:p>
        </p:txBody>
      </p:sp>
      <p:sp>
        <p:nvSpPr>
          <p:cNvPr id="2" name="">
            <a:extLst xmlns:a="http://schemas.openxmlformats.org/drawingml/2006/main">
              <a:ext uri="{FF2B5EF4-FFF2-40B4-BE49-F238E27FC236}">
                <a16:creationId xmlns:a16="http://schemas.microsoft.com/office/drawing/2014/main" id="{B71FB5FE-2745-445E-BFEF-3621717204CD}"/>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Eight robotics sessions for 12 children in grades 5 and 6</a:t>
            </a:r>
          </a:p>
        </p:txBody>
      </p:sp>
      <p:sp>
        <p:nvSpPr>
          <p:cNvPr id="3" name="">
            <a:extLst xmlns:a="http://schemas.openxmlformats.org/drawingml/2006/main">
              <a:ext uri="{FF2B5EF4-FFF2-40B4-BE49-F238E27FC236}">
                <a16:creationId xmlns:a16="http://schemas.microsoft.com/office/drawing/2014/main" id="{6F45BAAD-2E83-42D1-B57E-72E8776D64B0}"/>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Fall 2026 · Planning draft</a:t>
            </a:r>
          </a:p>
        </p:txBody>
      </p:sp>
    </p:spTree>
    <p:extLst>
      <p:ext uri="{BB962C8B-B14F-4D97-AF65-F5344CB8AC3E}">
        <p14:creationId xmlns:p14="http://schemas.microsoft.com/office/powerpoint/2010/main" val="1628749097"/>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B87CC91-2CAF-4AE2-82E0-1C36F32C87B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The confirmed class format</a:t>
            </a:r>
          </a:p>
        </p:txBody>
      </p:sp>
      <p:sp>
        <p:nvSpPr>
          <p:cNvPr id="2" name="">
            <a:extLst xmlns:a="http://schemas.openxmlformats.org/drawingml/2006/main">
              <a:ext uri="{FF2B5EF4-FFF2-40B4-BE49-F238E27FC236}">
                <a16:creationId xmlns:a16="http://schemas.microsoft.com/office/drawing/2014/main" id="{05E75EEA-825D-43E5-9B3F-6F20A0B3BA10}"/>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3044"/>
                </a:solidFill>
                <a:latin typeface="Arial"/>
                <a:ea typeface="Arial"/>
                <a:cs typeface="Arial"/>
              </a:defRPr>
            </a:pPr>
            <a:r>
              <a:rPr sz="2325" b="0">
                <a:solidFill>
                  <a:srgbClr val="173044"/>
                </a:solidFill>
                <a:latin typeface="Arial"/>
                <a:ea typeface="Arial"/>
                <a:cs typeface="Arial"/>
              </a:rPr>
              <a:t>12 children in four teams of three</a:t>
            </a:r>
          </a:p>
        </p:txBody>
      </p:sp>
      <p:sp>
        <p:nvSpPr>
          <p:cNvPr id="3" name="">
            <a:extLst xmlns:a="http://schemas.openxmlformats.org/drawingml/2006/main">
              <a:ext uri="{FF2B5EF4-FFF2-40B4-BE49-F238E27FC236}">
                <a16:creationId xmlns:a16="http://schemas.microsoft.com/office/drawing/2014/main" id="{A098395F-ADB2-426B-B8C5-382B7B2FF485}"/>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3044"/>
                </a:solidFill>
                <a:latin typeface="Arial"/>
                <a:ea typeface="Arial"/>
                <a:cs typeface="Arial"/>
              </a:defRPr>
            </a:pPr>
            <a:r>
              <a:rPr sz="2325" b="0">
                <a:solidFill>
                  <a:srgbClr val="173044"/>
                </a:solidFill>
                <a:latin typeface="Arial"/>
                <a:ea typeface="Arial"/>
                <a:cs typeface="Arial"/>
              </a:rPr>
              <a:t>2 SPIKE Prime kits and 4 available laptops</a:t>
            </a:r>
          </a:p>
        </p:txBody>
      </p:sp>
      <p:sp>
        <p:nvSpPr>
          <p:cNvPr id="4" name="">
            <a:extLst xmlns:a="http://schemas.openxmlformats.org/drawingml/2006/main">
              <a:ext uri="{FF2B5EF4-FFF2-40B4-BE49-F238E27FC236}">
                <a16:creationId xmlns:a16="http://schemas.microsoft.com/office/drawing/2014/main" id="{4EE99E11-9432-4131-BA5C-2DAC297E326C}"/>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3044"/>
                </a:solidFill>
                <a:latin typeface="Arial"/>
                <a:ea typeface="Arial"/>
                <a:cs typeface="Arial"/>
              </a:defRPr>
            </a:pPr>
            <a:r>
              <a:rPr sz="2325" b="0">
                <a:solidFill>
                  <a:srgbClr val="173044"/>
                </a:solidFill>
                <a:latin typeface="Arial"/>
                <a:ea typeface="Arial"/>
                <a:cs typeface="Arial"/>
              </a:rPr>
              <a:t>8 weekly meetings of 60 minutes</a:t>
            </a:r>
          </a:p>
        </p:txBody>
      </p:sp>
      <p:sp>
        <p:nvSpPr>
          <p:cNvPr id="5" name="">
            <a:extLst xmlns:a="http://schemas.openxmlformats.org/drawingml/2006/main">
              <a:ext uri="{FF2B5EF4-FFF2-40B4-BE49-F238E27FC236}">
                <a16:creationId xmlns:a16="http://schemas.microsoft.com/office/drawing/2014/main" id="{9F53BC5E-C20F-452B-BF36-53E7D4B8C847}"/>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3044"/>
                </a:solidFill>
                <a:latin typeface="Arial"/>
                <a:ea typeface="Arial"/>
                <a:cs typeface="Arial"/>
              </a:defRPr>
            </a:pPr>
            <a:r>
              <a:rPr sz="2325" b="0">
                <a:solidFill>
                  <a:srgbClr val="173044"/>
                </a:solidFill>
                <a:latin typeface="Arial"/>
                <a:ea typeface="Arial"/>
                <a:cs typeface="Arial"/>
              </a:rPr>
              <a:t>4–6 student instructors, plus an adult lead</a:t>
            </a:r>
          </a:p>
        </p:txBody>
      </p:sp>
    </p:spTree>
    <p:extLst>
      <p:ext uri="{BB962C8B-B14F-4D97-AF65-F5344CB8AC3E}">
        <p14:creationId xmlns:p14="http://schemas.microsoft.com/office/powerpoint/2010/main" val="475398892"/>
      </p:ext>
    </p:extLst>
  </p:cSld>
</p:sld>
</file>

<file path=ppt/slides/slide3.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B5F083-9EA3-45A2-9F52-75C74712A8B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A new mission each week</a:t>
            </a:r>
          </a:p>
        </p:txBody>
      </p:sp>
      <p:sp>
        <p:nvSpPr>
          <p:cNvPr id="2" name="">
            <a:extLst xmlns:a="http://schemas.openxmlformats.org/drawingml/2006/main">
              <a:ext uri="{FF2B5EF4-FFF2-40B4-BE49-F238E27FC236}">
                <a16:creationId xmlns:a16="http://schemas.microsoft.com/office/drawing/2014/main" id="{81010273-597E-49F6-8F3E-4EE101F4D463}"/>
              </a:ext>
            </a:extLst>
          </p:cNvPr>
          <p:cNvSpPr>
            <a:spLocks xmlns:a="http://schemas.openxmlformats.org/drawingml/2006/main" noGrp="1"/>
          </p:cNvSpPr>
          <p:nvPr/>
        </p:nvSpPr>
        <p:spPr>
          <a:xfrm xmlns:a="http://schemas.openxmlformats.org/drawingml/2006/main">
            <a:off x="762000" y="19526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Weeks 1–2   A robot mascot and a useful cargo tray</a:t>
            </a:r>
          </a:p>
        </p:txBody>
      </p:sp>
      <p:sp>
        <p:nvSpPr>
          <p:cNvPr id="3" name="">
            <a:extLst xmlns:a="http://schemas.openxmlformats.org/drawingml/2006/main">
              <a:ext uri="{FF2B5EF4-FFF2-40B4-BE49-F238E27FC236}">
                <a16:creationId xmlns:a16="http://schemas.microsoft.com/office/drawing/2014/main" id="{4016B2C1-5AF6-41E5-B303-9E42005FA1C5}"/>
              </a:ext>
            </a:extLst>
          </p:cNvPr>
          <p:cNvSpPr>
            <a:spLocks xmlns:a="http://schemas.openxmlformats.org/drawingml/2006/main" noGrp="1"/>
          </p:cNvSpPr>
          <p:nvPr/>
        </p:nvSpPr>
        <p:spPr>
          <a:xfrm xmlns:a="http://schemas.openxmlformats.org/drawingml/2006/main">
            <a:off x="762000" y="29051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Weeks 3–4   A dancing character and a garage</a:t>
            </a:r>
          </a:p>
        </p:txBody>
      </p:sp>
      <p:sp>
        <p:nvSpPr>
          <p:cNvPr id="4" name="">
            <a:extLst xmlns:a="http://schemas.openxmlformats.org/drawingml/2006/main">
              <a:ext uri="{FF2B5EF4-FFF2-40B4-BE49-F238E27FC236}">
                <a16:creationId xmlns:a16="http://schemas.microsoft.com/office/drawing/2014/main" id="{326F8C3F-BFC5-4758-9B42-47BAA0F50D98}"/>
              </a:ext>
            </a:extLst>
          </p:cNvPr>
          <p:cNvSpPr>
            <a:spLocks xmlns:a="http://schemas.openxmlformats.org/drawingml/2006/main" noGrp="1"/>
          </p:cNvSpPr>
          <p:nvPr/>
        </p:nvSpPr>
        <p:spPr>
          <a:xfrm xmlns:a="http://schemas.openxmlformats.org/drawingml/2006/main">
            <a:off x="762000" y="38576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Weeks 5–6   A marker road and a rescue guide</a:t>
            </a:r>
          </a:p>
        </p:txBody>
      </p:sp>
      <p:sp>
        <p:nvSpPr>
          <p:cNvPr id="5" name="">
            <a:extLst xmlns:a="http://schemas.openxmlformats.org/drawingml/2006/main">
              <a:ext uri="{FF2B5EF4-FFF2-40B4-BE49-F238E27FC236}">
                <a16:creationId xmlns:a16="http://schemas.microsoft.com/office/drawing/2014/main" id="{335AE644-EEFA-4470-8A0A-4F7AC392F4A1}"/>
              </a:ext>
            </a:extLst>
          </p:cNvPr>
          <p:cNvSpPr>
            <a:spLocks xmlns:a="http://schemas.openxmlformats.org/drawingml/2006/main" noGrp="1"/>
          </p:cNvSpPr>
          <p:nvPr/>
        </p:nvSpPr>
        <p:spPr>
          <a:xfrm xmlns:a="http://schemas.openxmlformats.org/drawingml/2006/main">
            <a:off x="762000" y="48101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Weeks 7–8   A community scene and working exhibit</a:t>
            </a:r>
          </a:p>
        </p:txBody>
      </p:sp>
    </p:spTree>
    <p:extLst>
      <p:ext uri="{BB962C8B-B14F-4D97-AF65-F5344CB8AC3E}">
        <p14:creationId xmlns:p14="http://schemas.microsoft.com/office/powerpoint/2010/main" val="1023047298"/>
      </p:ext>
    </p:extLst>
  </p:cSld>
</p:sld>
</file>

<file path=ppt/slides/slide4.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E7FBF99-412C-40EF-BA36-92BA023B5943}"/>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A small recipe controls the robot</a:t>
            </a:r>
          </a:p>
        </p:txBody>
      </p:sp>
      <p:sp>
        <p:nvSpPr>
          <p:cNvPr id="2" name="">
            <a:extLst xmlns:a="http://schemas.openxmlformats.org/drawingml/2006/main">
              <a:ext uri="{FF2B5EF4-FFF2-40B4-BE49-F238E27FC236}">
                <a16:creationId xmlns:a16="http://schemas.microsoft.com/office/drawing/2014/main" id="{6159E897-22BC-4CF5-92D4-C334EEF452CC}"/>
              </a:ext>
            </a:extLst>
          </p:cNvPr>
          <p:cNvSpPr>
            <a:spLocks xmlns:a="http://schemas.openxmlformats.org/drawingml/2006/main" noGrp="1"/>
          </p:cNvSpPr>
          <p:nvPr/>
        </p:nvSpPr>
        <p:spPr>
          <a:xfrm xmlns:a="http://schemas.openxmlformats.org/drawingml/2006/main">
            <a:off x="781050" y="1952625"/>
            <a:ext cx="1057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0">
                <a:solidFill>
                  <a:srgbClr val="FFFFFF"/>
                </a:solidFill>
                <a:latin typeface="Consolas"/>
                <a:ea typeface="Consolas"/>
                <a:cs typeface="Consolas"/>
              </a:defRPr>
            </a:pPr>
            <a:r>
              <a:rPr sz="2925" b="0">
                <a:solidFill>
                  <a:srgbClr val="FFFFFF"/>
                </a:solidFill>
                <a:latin typeface="Consolas"/>
                <a:ea typeface="Consolas"/>
                <a:cs typeface="Consolas"/>
              </a:rPr>
              <a:t>travel = 180</a:t>
            </a:r>
          </a:p>
          <a:p xmlns:a="http://schemas.openxmlformats.org/drawingml/2006/main">
            <a:pPr>
              <a:buNone/>
              <a:defRPr sz="2925" b="0">
                <a:solidFill>
                  <a:srgbClr val="FFFFFF"/>
                </a:solidFill>
                <a:latin typeface="Consolas"/>
                <a:ea typeface="Consolas"/>
                <a:cs typeface="Consolas"/>
              </a:defRPr>
            </a:pPr>
            <a:r>
              <a:rPr sz="2925" b="0">
                <a:solidFill>
                  <a:srgbClr val="FFFFFF"/>
                </a:solidFill>
                <a:latin typeface="Consolas"/>
                <a:ea typeface="Consolas"/>
                <a:cs typeface="Consolas"/>
              </a:rPr>
              <a:t>await drive(travel)</a:t>
            </a:r>
          </a:p>
          <a:p xmlns:a="http://schemas.openxmlformats.org/drawingml/2006/main">
            <a:pPr>
              <a:buNone/>
              <a:defRPr sz="2925" b="0">
                <a:solidFill>
                  <a:srgbClr val="FFFFFF"/>
                </a:solidFill>
                <a:latin typeface="Consolas"/>
                <a:ea typeface="Consolas"/>
                <a:cs typeface="Consolas"/>
              </a:defRPr>
            </a:pPr>
            <a:r>
              <a:rPr sz="2925" b="0">
                <a:solidFill>
                  <a:srgbClr val="FFFFFF"/>
                </a:solidFill>
                <a:latin typeface="Consolas"/>
                <a:ea typeface="Consolas"/>
                <a:cs typeface="Consolas"/>
              </a:rPr>
              <a:t>await signal("D")</a:t>
            </a:r>
          </a:p>
        </p:txBody>
      </p:sp>
      <p:sp>
        <p:nvSpPr>
          <p:cNvPr id="3" name="">
            <a:extLst xmlns:a="http://schemas.openxmlformats.org/drawingml/2006/main">
              <a:ext uri="{FF2B5EF4-FFF2-40B4-BE49-F238E27FC236}">
                <a16:creationId xmlns:a16="http://schemas.microsoft.com/office/drawing/2014/main" id="{C88813FD-B1EF-4EC3-A070-B7FE125B64EB}"/>
              </a:ext>
            </a:extLst>
          </p:cNvPr>
          <p:cNvSpPr>
            <a:spLocks xmlns:a="http://schemas.openxmlformats.org/drawingml/2006/main" noGrp="1"/>
          </p:cNvSpPr>
          <p:nvPr/>
        </p:nvSpPr>
        <p:spPr>
          <a:xfrm xmlns:a="http://schemas.openxmlformats.org/drawingml/2006/main">
            <a:off x="781050" y="46672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9DDADD"/>
                </a:solidFill>
                <a:latin typeface="Arial"/>
                <a:ea typeface="Arial"/>
                <a:cs typeface="Arial"/>
              </a:defRPr>
            </a:pPr>
            <a:r>
              <a:rPr sz="2325" b="0">
                <a:solidFill>
                  <a:srgbClr val="9DDADD"/>
                </a:solidFill>
                <a:latin typeface="Arial"/>
                <a:ea typeface="Arial"/>
                <a:cs typeface="Arial"/>
              </a:rPr>
              <a:t>Predict. Change one value. Run. Explain the result.</a:t>
            </a:r>
          </a:p>
        </p:txBody>
      </p:sp>
    </p:spTree>
    <p:extLst>
      <p:ext uri="{BB962C8B-B14F-4D97-AF65-F5344CB8AC3E}">
        <p14:creationId xmlns:p14="http://schemas.microsoft.com/office/powerpoint/2010/main" val="95355038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9CFA52-8A53-4298-935D-3179B6BBA74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Preparation before the first class</a:t>
            </a:r>
          </a:p>
        </p:txBody>
      </p:sp>
      <p:sp>
        <p:nvSpPr>
          <p:cNvPr id="2" name="">
            <a:extLst xmlns:a="http://schemas.openxmlformats.org/drawingml/2006/main">
              <a:ext uri="{FF2B5EF4-FFF2-40B4-BE49-F238E27FC236}">
                <a16:creationId xmlns:a16="http://schemas.microsoft.com/office/drawing/2014/main" id="{F76594E5-B1E1-4E07-86BA-44941638408C}"/>
              </a:ext>
            </a:extLst>
          </p:cNvPr>
          <p:cNvSpPr>
            <a:spLocks xmlns:a="http://schemas.openxmlformats.org/drawingml/2006/main" noGrp="1"/>
          </p:cNvSpPr>
          <p:nvPr/>
        </p:nvSpPr>
        <p:spPr>
          <a:xfrm xmlns:a="http://schemas.openxmlformats.org/drawingml/2006/main">
            <a:off x="762000" y="19526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Confirm eight dates and test the available devices.</a:t>
            </a:r>
          </a:p>
        </p:txBody>
      </p:sp>
      <p:sp>
        <p:nvSpPr>
          <p:cNvPr id="3" name="">
            <a:extLst xmlns:a="http://schemas.openxmlformats.org/drawingml/2006/main">
              <a:ext uri="{FF2B5EF4-FFF2-40B4-BE49-F238E27FC236}">
                <a16:creationId xmlns:a16="http://schemas.microsoft.com/office/drawing/2014/main" id="{9AC3A3CF-21C5-4117-B4C5-458D25D5C661}"/>
              </a:ext>
            </a:extLst>
          </p:cNvPr>
          <p:cNvSpPr>
            <a:spLocks xmlns:a="http://schemas.openxmlformats.org/drawingml/2006/main" noGrp="1"/>
          </p:cNvSpPr>
          <p:nvPr/>
        </p:nvSpPr>
        <p:spPr>
          <a:xfrm xmlns:a="http://schemas.openxmlformats.org/drawingml/2006/main">
            <a:off x="762000" y="28670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Inspect both kits and rehearse every mission.</a:t>
            </a:r>
          </a:p>
        </p:txBody>
      </p:sp>
      <p:sp>
        <p:nvSpPr>
          <p:cNvPr id="4" name="">
            <a:extLst xmlns:a="http://schemas.openxmlformats.org/drawingml/2006/main">
              <a:ext uri="{FF2B5EF4-FFF2-40B4-BE49-F238E27FC236}">
                <a16:creationId xmlns:a16="http://schemas.microsoft.com/office/drawing/2014/main" id="{7B871542-50D8-4840-8835-7E8B99BC8CA6}"/>
              </a:ext>
            </a:extLst>
          </p:cNvPr>
          <p:cNvSpPr>
            <a:spLocks xmlns:a="http://schemas.openxmlformats.org/drawingml/2006/main" noGrp="1"/>
          </p:cNvSpPr>
          <p:nvPr/>
        </p:nvSpPr>
        <p:spPr>
          <a:xfrm xmlns:a="http://schemas.openxmlformats.org/drawingml/2006/main">
            <a:off x="762000" y="37814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Confirm supervision, pickup, storage, and charging.</a:t>
            </a:r>
          </a:p>
        </p:txBody>
      </p:sp>
      <p:sp>
        <p:nvSpPr>
          <p:cNvPr id="5" name="">
            <a:extLst xmlns:a="http://schemas.openxmlformats.org/drawingml/2006/main">
              <a:ext uri="{FF2B5EF4-FFF2-40B4-BE49-F238E27FC236}">
                <a16:creationId xmlns:a16="http://schemas.microsoft.com/office/drawing/2014/main" id="{7A91D928-7709-4975-A5B7-122810AB053F}"/>
              </a:ext>
            </a:extLst>
          </p:cNvPr>
          <p:cNvSpPr>
            <a:spLocks xmlns:a="http://schemas.openxmlformats.org/drawingml/2006/main" noGrp="1"/>
          </p:cNvSpPr>
          <p:nvPr/>
        </p:nvSpPr>
        <p:spPr>
          <a:xfrm xmlns:a="http://schemas.openxmlformats.org/drawingml/2006/main">
            <a:off x="762000" y="46958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Agree how the YMCA and team will evaluate the pilot.</a:t>
            </a:r>
          </a:p>
        </p:txBody>
      </p:sp>
    </p:spTree>
    <p:extLst>
      <p:ext uri="{BB962C8B-B14F-4D97-AF65-F5344CB8AC3E}">
        <p14:creationId xmlns:p14="http://schemas.microsoft.com/office/powerpoint/2010/main" val="822742377"/>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847B3F0-3261-428A-86C0-2C7D3514620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Learning and community benefit</a:t>
            </a:r>
          </a:p>
        </p:txBody>
      </p:sp>
      <p:sp>
        <p:nvSpPr>
          <p:cNvPr id="2" name="">
            <a:extLst xmlns:a="http://schemas.openxmlformats.org/drawingml/2006/main">
              <a:ext uri="{FF2B5EF4-FFF2-40B4-BE49-F238E27FC236}">
                <a16:creationId xmlns:a16="http://schemas.microsoft.com/office/drawing/2014/main" id="{3FF2E993-B92F-4D8D-958B-74D4373CCD77}"/>
              </a:ext>
            </a:extLst>
          </p:cNvPr>
          <p:cNvSpPr>
            <a:spLocks xmlns:a="http://schemas.openxmlformats.org/drawingml/2006/main" noGrp="1"/>
          </p:cNvSpPr>
          <p:nvPr/>
        </p:nvSpPr>
        <p:spPr>
          <a:xfrm xmlns:a="http://schemas.openxmlformats.org/drawingml/2006/main">
            <a:off x="762000" y="19526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Each student explains a program decision.</a:t>
            </a:r>
          </a:p>
        </p:txBody>
      </p:sp>
      <p:sp>
        <p:nvSpPr>
          <p:cNvPr id="3" name="">
            <a:extLst xmlns:a="http://schemas.openxmlformats.org/drawingml/2006/main">
              <a:ext uri="{FF2B5EF4-FFF2-40B4-BE49-F238E27FC236}">
                <a16:creationId xmlns:a16="http://schemas.microsoft.com/office/drawing/2014/main" id="{B87EC6C0-8BE9-4B22-BB30-C0CD6E70F467}"/>
              </a:ext>
            </a:extLst>
          </p:cNvPr>
          <p:cNvSpPr>
            <a:spLocks xmlns:a="http://schemas.openxmlformats.org/drawingml/2006/main" noGrp="1"/>
          </p:cNvSpPr>
          <p:nvPr/>
        </p:nvSpPr>
        <p:spPr>
          <a:xfrm xmlns:a="http://schemas.openxmlformats.org/drawingml/2006/main">
            <a:off x="762000" y="28670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Each team improves a design using test evidence.</a:t>
            </a:r>
          </a:p>
        </p:txBody>
      </p:sp>
      <p:sp>
        <p:nvSpPr>
          <p:cNvPr id="4" name="">
            <a:extLst xmlns:a="http://schemas.openxmlformats.org/drawingml/2006/main">
              <a:ext uri="{FF2B5EF4-FFF2-40B4-BE49-F238E27FC236}">
                <a16:creationId xmlns:a16="http://schemas.microsoft.com/office/drawing/2014/main" id="{8E2D9BCA-1E1E-4845-BC87-2E65FD37E542}"/>
              </a:ext>
            </a:extLst>
          </p:cNvPr>
          <p:cNvSpPr>
            <a:spLocks xmlns:a="http://schemas.openxmlformats.org/drawingml/2006/main" noGrp="1"/>
          </p:cNvSpPr>
          <p:nvPr/>
        </p:nvSpPr>
        <p:spPr>
          <a:xfrm xmlns:a="http://schemas.openxmlformats.org/drawingml/2006/main">
            <a:off x="762000" y="37814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High school mentors practice teaching and leadership.</a:t>
            </a:r>
          </a:p>
        </p:txBody>
      </p:sp>
      <p:sp>
        <p:nvSpPr>
          <p:cNvPr id="5" name="">
            <a:extLst xmlns:a="http://schemas.openxmlformats.org/drawingml/2006/main">
              <a:ext uri="{FF2B5EF4-FFF2-40B4-BE49-F238E27FC236}">
                <a16:creationId xmlns:a16="http://schemas.microsoft.com/office/drawing/2014/main" id="{04E8E111-58AC-4C50-9E5F-85540A31AA46}"/>
              </a:ext>
            </a:extLst>
          </p:cNvPr>
          <p:cNvSpPr>
            <a:spLocks xmlns:a="http://schemas.openxmlformats.org/drawingml/2006/main" noGrp="1"/>
          </p:cNvSpPr>
          <p:nvPr/>
        </p:nvSpPr>
        <p:spPr>
          <a:xfrm xmlns:a="http://schemas.openxmlformats.org/drawingml/2006/main">
            <a:off x="762000" y="469582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3044"/>
                </a:solidFill>
                <a:latin typeface="Arial"/>
                <a:ea typeface="Arial"/>
                <a:cs typeface="Arial"/>
              </a:defRPr>
            </a:pPr>
            <a:r>
              <a:rPr sz="2250" b="0">
                <a:solidFill>
                  <a:srgbClr val="173044"/>
                </a:solidFill>
                <a:latin typeface="Arial"/>
                <a:ea typeface="Arial"/>
                <a:cs typeface="Arial"/>
              </a:rPr>
              <a:t>The YMCA helps decide whether the program should repeat.</a:t>
            </a:r>
          </a:p>
        </p:txBody>
      </p:sp>
    </p:spTree>
    <p:extLst>
      <p:ext uri="{BB962C8B-B14F-4D97-AF65-F5344CB8AC3E}">
        <p14:creationId xmlns:p14="http://schemas.microsoft.com/office/powerpoint/2010/main" val="21353098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2026-10-25T23:23:42.9860000Z</dcterms:created>
  <dcterms:modified xsi:type="dcterms:W3CDTF">2026-10-25T23:23:42.9860000Z</dcterms:modified>
</coreProperties>
</file>