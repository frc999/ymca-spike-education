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9d476f394144520" /><Relationship Type="http://schemas.openxmlformats.org/officeDocument/2006/relationships/extended-properties" Target="/docProps/app.xml" Id="Rb886cffd187f4659" /><Relationship Type="http://schemas.openxmlformats.org/officeDocument/2006/relationships/officeDocument" Target="/ppt/presentation.xml" Id="Rca3ee8af724e43b3" /></Relationships>
</file>

<file path=ppt/presentation.xml><?xml version="1.0" encoding="utf-8"?>
<p:presentation xmlns:p="http://schemas.openxmlformats.org/presentationml/2006/main">
  <p:sldMasterIdLst>
    <p:sldMasterId xmlns:r="http://schemas.openxmlformats.org/officeDocument/2006/relationships" id="2147483648" r:id="R6a2617732a904b02"/>
  </p:sldMasterIdLst>
  <p:notesMasterIdLst>
    <p:notesMasterId xmlns:r="http://schemas.openxmlformats.org/officeDocument/2006/relationships" r:id="R847f53063caa4197"/>
  </p:notesMasterIdLst>
  <p:sldIdLst>
    <p:sldId xmlns:r="http://schemas.openxmlformats.org/officeDocument/2006/relationships" id="256" r:id="Rbfe9c7d1420c4e8d"/>
    <p:sldId xmlns:r="http://schemas.openxmlformats.org/officeDocument/2006/relationships" id="257" r:id="R642d7e1005bd4d80"/>
    <p:sldId xmlns:r="http://schemas.openxmlformats.org/officeDocument/2006/relationships" id="258" r:id="Re6616e2490964c24"/>
    <p:sldId xmlns:r="http://schemas.openxmlformats.org/officeDocument/2006/relationships" id="259" r:id="R5b0c5784a7894730"/>
    <p:sldId xmlns:r="http://schemas.openxmlformats.org/officeDocument/2006/relationships" id="260" r:id="R29ddbf4031a341de"/>
    <p:sldId xmlns:r="http://schemas.openxmlformats.org/officeDocument/2006/relationships" id="261" r:id="R968245873c3e49ab"/>
    <p:sldId xmlns:r="http://schemas.openxmlformats.org/officeDocument/2006/relationships" id="262" r:id="R2198d4f8cb414d53"/>
    <p:sldId xmlns:r="http://schemas.openxmlformats.org/officeDocument/2006/relationships" id="263" r:id="R185070ccd54f489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4f906d20eca4668" /><Relationship Type="http://schemas.openxmlformats.org/officeDocument/2006/relationships/slideMaster" Target="/ppt/slideMasters/slideMaster1.xml" Id="R6a2617732a904b02" /><Relationship Type="http://schemas.openxmlformats.org/officeDocument/2006/relationships/notesMaster" Target="/ppt/notesMasters/notesMaster1.xml" Id="R847f53063caa4197" /><Relationship Type="http://schemas.openxmlformats.org/officeDocument/2006/relationships/presProps" Target="/ppt/presProps.xml" Id="R1d121f02d9b440fa" /><Relationship Type="http://schemas.openxmlformats.org/officeDocument/2006/relationships/tableStyles" Target="/ppt/tableStyles.xml" Id="Rb8b4c8b3ae064d43" /><Relationship Type="http://schemas.openxmlformats.org/officeDocument/2006/relationships/slide" Target="/ppt/slides/slide1.xml" Id="Rbfe9c7d1420c4e8d" /><Relationship Type="http://schemas.openxmlformats.org/officeDocument/2006/relationships/slide" Target="/ppt/slides/slide2.xml" Id="R642d7e1005bd4d80" /><Relationship Type="http://schemas.openxmlformats.org/officeDocument/2006/relationships/slide" Target="/ppt/slides/slide3.xml" Id="Re6616e2490964c24" /><Relationship Type="http://schemas.openxmlformats.org/officeDocument/2006/relationships/slide" Target="/ppt/slides/slide4.xml" Id="R5b0c5784a7894730" /><Relationship Type="http://schemas.openxmlformats.org/officeDocument/2006/relationships/slide" Target="/ppt/slides/slide5.xml" Id="R29ddbf4031a341de" /><Relationship Type="http://schemas.openxmlformats.org/officeDocument/2006/relationships/slide" Target="/ppt/slides/slide6.xml" Id="R968245873c3e49ab" /><Relationship Type="http://schemas.openxmlformats.org/officeDocument/2006/relationships/slide" Target="/ppt/slides/slide7.xml" Id="R2198d4f8cb414d53" /><Relationship Type="http://schemas.openxmlformats.org/officeDocument/2006/relationships/slide" Target="/ppt/slides/slide8.xml" Id="R185070ccd54f489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75156804be946f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cd5c49c04704557" /><Relationship Type="http://schemas.openxmlformats.org/officeDocument/2006/relationships/notesMaster" Target="/ppt/notesMasters/notesMaster1.xml" Id="R7d1f5c66efd444b9" /></Relationships>
</file>

<file path=ppt/notesSlides/_rels/notesSlide2.xml.rels>&#65279;<?xml version="1.0" encoding="utf-8"?><Relationships xmlns="http://schemas.openxmlformats.org/package/2006/relationships"><Relationship Type="http://schemas.openxmlformats.org/officeDocument/2006/relationships/slide" Target="/ppt/slides/slide2.xml" Id="R83e58b7d7ead4a74" /><Relationship Type="http://schemas.openxmlformats.org/officeDocument/2006/relationships/notesMaster" Target="/ppt/notesMasters/notesMaster1.xml" Id="R0381a8325bc843a6" /></Relationships>
</file>

<file path=ppt/notesSlides/_rels/notesSlide3.xml.rels>&#65279;<?xml version="1.0" encoding="utf-8"?><Relationships xmlns="http://schemas.openxmlformats.org/package/2006/relationships"><Relationship Type="http://schemas.openxmlformats.org/officeDocument/2006/relationships/slide" Target="/ppt/slides/slide3.xml" Id="R02adc72c58654f28" /><Relationship Type="http://schemas.openxmlformats.org/officeDocument/2006/relationships/notesMaster" Target="/ppt/notesMasters/notesMaster1.xml" Id="R17ea03945cb941e5" /></Relationships>
</file>

<file path=ppt/notesSlides/_rels/notesSlide4.xml.rels>&#65279;<?xml version="1.0" encoding="utf-8"?><Relationships xmlns="http://schemas.openxmlformats.org/package/2006/relationships"><Relationship Type="http://schemas.openxmlformats.org/officeDocument/2006/relationships/slide" Target="/ppt/slides/slide4.xml" Id="Re34293baf00b4874" /><Relationship Type="http://schemas.openxmlformats.org/officeDocument/2006/relationships/notesMaster" Target="/ppt/notesMasters/notesMaster1.xml" Id="R475871054fb34ca2" /></Relationships>
</file>

<file path=ppt/notesSlides/_rels/notesSlide5.xml.rels>&#65279;<?xml version="1.0" encoding="utf-8"?><Relationships xmlns="http://schemas.openxmlformats.org/package/2006/relationships"><Relationship Type="http://schemas.openxmlformats.org/officeDocument/2006/relationships/slide" Target="/ppt/slides/slide5.xml" Id="R560394fdf7db47c3" /><Relationship Type="http://schemas.openxmlformats.org/officeDocument/2006/relationships/notesMaster" Target="/ppt/notesMasters/notesMaster1.xml" Id="Re960b8fe09ac4a76" /></Relationships>
</file>

<file path=ppt/notesSlides/_rels/notesSlide6.xml.rels>&#65279;<?xml version="1.0" encoding="utf-8"?><Relationships xmlns="http://schemas.openxmlformats.org/package/2006/relationships"><Relationship Type="http://schemas.openxmlformats.org/officeDocument/2006/relationships/slide" Target="/ppt/slides/slide6.xml" Id="R7ced77022b754e1a" /><Relationship Type="http://schemas.openxmlformats.org/officeDocument/2006/relationships/notesMaster" Target="/ppt/notesMasters/notesMaster1.xml" Id="R9bccf3d379b548a8" /></Relationships>
</file>

<file path=ppt/notesSlides/_rels/notesSlide7.xml.rels>&#65279;<?xml version="1.0" encoding="utf-8"?><Relationships xmlns="http://schemas.openxmlformats.org/package/2006/relationships"><Relationship Type="http://schemas.openxmlformats.org/officeDocument/2006/relationships/slide" Target="/ppt/slides/slide7.xml" Id="Rd02edade8cf34baf" /><Relationship Type="http://schemas.openxmlformats.org/officeDocument/2006/relationships/notesMaster" Target="/ppt/notesMasters/notesMaster1.xml" Id="R1969055a44bb4501" /></Relationships>
</file>

<file path=ppt/notesSlides/_rels/notesSlide8.xml.rels>&#65279;<?xml version="1.0" encoding="utf-8"?><Relationships xmlns="http://schemas.openxmlformats.org/package/2006/relationships"><Relationship Type="http://schemas.openxmlformats.org/officeDocument/2006/relationships/slide" Target="/ppt/slides/slide8.xml" Id="Rd3aabc523c7b4a1a" /><Relationship Type="http://schemas.openxmlformats.org/officeDocument/2006/relationships/notesMaster" Target="/ppt/notesMasters/notesMaster1.xml" Id="Rad2b91c40563435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0–10 minutes: discuss why the YMCA program exists and what a beginner should experience. The educator keeps responsibility for supervision and local procedures. Ask each mentor to name a time someone helped them learn without taking over.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10–30 minutes: assemble and inspect the official base, trace physical cables, and run 00_mentor_smoke_test.py with wheels raised, then in a clear lane. This curriculum port map overrides the original build wiring. Label the robot front. Demonstrate the actual app and hub stop controls. Build PDF: https://assets.education.lego.com/v3/assets/blt293eea581807678a/blt06873e1b438a0d7e/5ec8e66f033ad5045f4c79a6/driving-base-bi-pdf-book1of1.pdf?locale=en-us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30–50 minutes: mentors practice weeks 1–3. The recipe function in the actual file is called student_recipe. Explain wheel degrees, variables, and counted loops. Have every mentor predict before running. Use current SPIKE App 3 modules, not Legacy or Pybricks examples. App help: https://spike.legoeducation.com/prime/modal/help/lls-help-python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50–70 minutes: use 00_sensor_readings.py while stationary. Compare readings with a ruler and with bright/dark surfaces. Run bounded movement only after the readings make sense. Source for distance units and invalid reading check: https://education.lego.com/en-au/lessons/spike-python-u3-sensor-control/spike-python-u3l3/. The helper code also checks after the final permitted movement.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70–85 minutes: build a flat bumper or U-shaped guide using spare pieces from the base kit. Geometry depends on the actual pieces, so the educator must prepare and photograph a working mount. The comparison should change one feature. Preserve both pairs’ components.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85–100 minutes: each mentor teaches a five-minute mini lesson to another mentor. Ask a question, give a little thinking time, offer one hint, and return control. Check that the mentor invites both students to explain. Avoid correcting the whole project while students watch.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100–110 minutes: rehearse transitions and a keyboard-takeover scenario. With two laptops, devices stay at kit stations and planning uses paper. A pair gets about 17 minutes of direct robot time; each child gets a share of those minutes. Week 8 uses a different showcase schedule.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110–120 minutes: complete the mentor readiness check. Review YMCA procedures and who to ask for help. Evidence records use student IDs. Take photos or quotes only through the agreed permissions. The instructor guide includes a hardware acceptance record that must be completed on both kits.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e507d379b81409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250f7ddca9e4ac7" /><Relationship Type="http://schemas.openxmlformats.org/officeDocument/2006/relationships/slideLayout" Target="/ppt/slideLayouts/slideLayout1.xml" Id="Rd580d2130c59480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580d2130c59480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1316557cd27d4baf" /><Relationship Type="http://schemas.openxmlformats.org/officeDocument/2006/relationships/notesSlide" Target="/ppt/notesSlides/notesSlide1.xml" Id="R8b11e2a3154c4880"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9cdde975b0504863" /><Relationship Type="http://schemas.openxmlformats.org/officeDocument/2006/relationships/notesSlide" Target="/ppt/notesSlides/notesSlide2.xml" Id="Rd4032d8f2f504cb5"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9df1422475954dc3" /><Relationship Type="http://schemas.openxmlformats.org/officeDocument/2006/relationships/notesSlide" Target="/ppt/notesSlides/notesSlide3.xml" Id="R7a562bae32f64f7a"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34d07e64d4d24c63" /><Relationship Type="http://schemas.openxmlformats.org/officeDocument/2006/relationships/notesSlide" Target="/ppt/notesSlides/notesSlide4.xml" Id="R06e1a23aa6be482e"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8aaf619385014407" /><Relationship Type="http://schemas.openxmlformats.org/officeDocument/2006/relationships/notesSlide" Target="/ppt/notesSlides/notesSlide5.xml" Id="R9ba36fb94238477e"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fdbe66c732624c11" /><Relationship Type="http://schemas.openxmlformats.org/officeDocument/2006/relationships/notesSlide" Target="/ppt/notesSlides/notesSlide6.xml" Id="R330d6e290aa7425f"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fa059f247bca4bc1" /><Relationship Type="http://schemas.openxmlformats.org/officeDocument/2006/relationships/notesSlide" Target="/ppt/notesSlides/notesSlide7.xml" Id="R1149ae439a384c8d"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812f2f35c6f7438d" /><Relationship Type="http://schemas.openxmlformats.org/officeDocument/2006/relationships/notesSlide" Target="/ppt/notesSlides/notesSlide8.xml" Id="Rbd0c484664334bf3" /></Relationships>
</file>

<file path=ppt/slides/slide1.xml><?xml version="1.0" encoding="utf-8"?>
<p:sld xmlns:p="http://schemas.openxmlformats.org/presentationml/2006/main">
  <p:cSld>
    <p:bg>
      <p:bgPr>
        <a:solidFill xmlns:a="http://schemas.openxmlformats.org/drawingml/2006/main">
          <a:srgbClr val="173044"/>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0574A710-A07A-44F9-A483-03F91CE17C8B}"/>
              </a:ext>
            </a:extLst>
          </p:cNvPr>
          <p:cNvSpPr>
            <a:spLocks xmlns:a="http://schemas.openxmlformats.org/drawingml/2006/main" noGrp="1"/>
          </p:cNvSpPr>
          <p:nvPr/>
        </p:nvSpPr>
        <p:spPr>
          <a:xfrm xmlns:a="http://schemas.openxmlformats.org/drawingml/2006/main">
            <a:off x="762000" y="1257300"/>
            <a:ext cx="10572750"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100" b="1">
                <a:solidFill>
                  <a:srgbClr val="FFFFFF"/>
                </a:solidFill>
                <a:latin typeface="Arial"/>
                <a:ea typeface="Arial"/>
                <a:cs typeface="Arial"/>
              </a:defRPr>
            </a:pPr>
            <a:r>
              <a:rPr sz="5100" b="1">
                <a:solidFill>
                  <a:srgbClr val="FFFFFF"/>
                </a:solidFill>
                <a:latin typeface="Arial"/>
                <a:ea typeface="Arial"/>
                <a:cs typeface="Arial"/>
              </a:rPr>
              <a:t>Teaching the robotics club</a:t>
            </a:r>
          </a:p>
        </p:txBody>
      </p:sp>
      <p:sp>
        <p:nvSpPr>
          <p:cNvPr id="2" name="">
            <a:extLst xmlns:a="http://schemas.openxmlformats.org/drawingml/2006/main">
              <a:ext uri="{FF2B5EF4-FFF2-40B4-BE49-F238E27FC236}">
                <a16:creationId xmlns:a16="http://schemas.microsoft.com/office/drawing/2014/main" id="{499175D6-936A-4198-872A-14CB27CD5811}"/>
              </a:ext>
            </a:extLst>
          </p:cNvPr>
          <p:cNvSpPr>
            <a:spLocks xmlns:a="http://schemas.openxmlformats.org/drawingml/2006/main" noGrp="1"/>
          </p:cNvSpPr>
          <p:nvPr/>
        </p:nvSpPr>
        <p:spPr>
          <a:xfrm xmlns:a="http://schemas.openxmlformats.org/drawingml/2006/main">
            <a:off x="800100" y="4000500"/>
            <a:ext cx="103822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0">
                <a:solidFill>
                  <a:srgbClr val="9DDADD"/>
                </a:solidFill>
                <a:latin typeface="Arial"/>
                <a:ea typeface="Arial"/>
                <a:cs typeface="Arial"/>
              </a:defRPr>
            </a:pPr>
            <a:r>
              <a:rPr sz="2475" b="0">
                <a:solidFill>
                  <a:srgbClr val="9DDADD"/>
                </a:solidFill>
                <a:latin typeface="Arial"/>
                <a:ea typeface="Arial"/>
                <a:cs typeface="Arial"/>
              </a:rPr>
              <a:t>A practical workshop for high school mentors</a:t>
            </a:r>
          </a:p>
        </p:txBody>
      </p:sp>
      <p:sp>
        <p:nvSpPr>
          <p:cNvPr id="3" name="">
            <a:extLst xmlns:a="http://schemas.openxmlformats.org/drawingml/2006/main">
              <a:ext uri="{FF2B5EF4-FFF2-40B4-BE49-F238E27FC236}">
                <a16:creationId xmlns:a16="http://schemas.microsoft.com/office/drawing/2014/main" id="{529AA247-739B-4D5F-B001-0D452C34A409}"/>
              </a:ext>
            </a:extLst>
          </p:cNvPr>
          <p:cNvSpPr>
            <a:spLocks xmlns:a="http://schemas.openxmlformats.org/drawingml/2006/main" noGrp="1"/>
          </p:cNvSpPr>
          <p:nvPr/>
        </p:nvSpPr>
        <p:spPr>
          <a:xfrm xmlns:a="http://schemas.openxmlformats.org/drawingml/2006/main">
            <a:off x="762000" y="6181725"/>
            <a:ext cx="10572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B9D4DC"/>
                </a:solidFill>
                <a:latin typeface="Arial"/>
                <a:ea typeface="Arial"/>
                <a:cs typeface="Arial"/>
              </a:defRPr>
            </a:pPr>
            <a:r>
              <a:rPr sz="1425" b="0">
                <a:solidFill>
                  <a:srgbClr val="B9D4DC"/>
                </a:solidFill>
                <a:latin typeface="Arial"/>
                <a:ea typeface="Arial"/>
                <a:cs typeface="Arial"/>
              </a:rPr>
              <a:t>MechaRAMS · Proposed workshop time: 120 minutes</a:t>
            </a:r>
          </a:p>
        </p:txBody>
      </p:sp>
    </p:spTree>
    <p:extLst>
      <p:ext uri="{BB962C8B-B14F-4D97-AF65-F5344CB8AC3E}">
        <p14:creationId xmlns:p14="http://schemas.microsoft.com/office/powerpoint/2010/main" val="1368478271"/>
      </p:ext>
    </p:extLst>
  </p:cSld>
</p:sld>
</file>

<file path=ppt/slides/slide2.xml><?xml version="1.0" encoding="utf-8"?>
<p:sld xmlns:p="http://schemas.openxmlformats.org/presentationml/2006/main">
  <p:cSld>
    <p:bg>
      <p:bgPr>
        <a:solidFill xmlns:a="http://schemas.openxmlformats.org/drawingml/2006/main">
          <a:srgbClr val="FBFAF6"/>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25824A8E-E0BF-4BFF-B189-59CAB88F8C06}"/>
              </a:ext>
            </a:extLst>
          </p:cNvPr>
          <p:cNvSpPr>
            <a:spLocks xmlns:a="http://schemas.openxmlformats.org/drawingml/2006/main" noGrp="1"/>
          </p:cNvSpPr>
          <p:nvPr/>
        </p:nvSpPr>
        <p:spPr>
          <a:xfrm xmlns:a="http://schemas.openxmlformats.org/drawingml/2006/main">
            <a:off x="685800" y="457200"/>
            <a:ext cx="108204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173044"/>
                </a:solidFill>
                <a:latin typeface="Arial"/>
                <a:ea typeface="Arial"/>
                <a:cs typeface="Arial"/>
              </a:defRPr>
            </a:pPr>
            <a:r>
              <a:rPr sz="3600" b="1">
                <a:solidFill>
                  <a:srgbClr val="173044"/>
                </a:solidFill>
                <a:latin typeface="Arial"/>
                <a:ea typeface="Arial"/>
                <a:cs typeface="Arial"/>
              </a:rPr>
              <a:t>The robot setup</a:t>
            </a:r>
          </a:p>
        </p:txBody>
      </p:sp>
      <p:sp>
        <p:nvSpPr>
          <p:cNvPr id="2" name="">
            <a:extLst xmlns:a="http://schemas.openxmlformats.org/drawingml/2006/main">
              <a:ext uri="{FF2B5EF4-FFF2-40B4-BE49-F238E27FC236}">
                <a16:creationId xmlns:a16="http://schemas.microsoft.com/office/drawing/2014/main" id="{16694D3C-C040-4F05-BB85-7377F92D60BE}"/>
              </a:ext>
            </a:extLst>
          </p:cNvPr>
          <p:cNvSpPr>
            <a:spLocks xmlns:a="http://schemas.openxmlformats.org/drawingml/2006/main" noGrp="1"/>
          </p:cNvSpPr>
          <p:nvPr/>
        </p:nvSpPr>
        <p:spPr>
          <a:xfrm xmlns:a="http://schemas.openxmlformats.org/drawingml/2006/main">
            <a:off x="762000" y="1952625"/>
            <a:ext cx="10477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73044"/>
                </a:solidFill>
                <a:latin typeface="Arial"/>
                <a:ea typeface="Arial"/>
                <a:cs typeface="Arial"/>
              </a:defRPr>
            </a:pPr>
            <a:r>
              <a:rPr sz="2325" b="0">
                <a:solidFill>
                  <a:srgbClr val="173044"/>
                </a:solidFill>
                <a:latin typeface="Arial"/>
                <a:ea typeface="Arial"/>
                <a:cs typeface="Arial"/>
              </a:rPr>
              <a:t>A   Left wheel motor       B   Right wheel motor</a:t>
            </a:r>
          </a:p>
        </p:txBody>
      </p:sp>
      <p:sp>
        <p:nvSpPr>
          <p:cNvPr id="3" name="">
            <a:extLst xmlns:a="http://schemas.openxmlformats.org/drawingml/2006/main">
              <a:ext uri="{FF2B5EF4-FFF2-40B4-BE49-F238E27FC236}">
                <a16:creationId xmlns:a16="http://schemas.microsoft.com/office/drawing/2014/main" id="{E10CDF40-912D-4B3A-85CF-B97CF0F58732}"/>
              </a:ext>
            </a:extLst>
          </p:cNvPr>
          <p:cNvSpPr>
            <a:spLocks xmlns:a="http://schemas.openxmlformats.org/drawingml/2006/main" noGrp="1"/>
          </p:cNvSpPr>
          <p:nvPr/>
        </p:nvSpPr>
        <p:spPr>
          <a:xfrm xmlns:a="http://schemas.openxmlformats.org/drawingml/2006/main">
            <a:off x="762000" y="2809875"/>
            <a:ext cx="10477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73044"/>
                </a:solidFill>
                <a:latin typeface="Arial"/>
                <a:ea typeface="Arial"/>
                <a:cs typeface="Arial"/>
              </a:defRPr>
            </a:pPr>
            <a:r>
              <a:rPr sz="2325" b="0">
                <a:solidFill>
                  <a:srgbClr val="173044"/>
                </a:solidFill>
                <a:latin typeface="Arial"/>
                <a:ea typeface="Arial"/>
                <a:cs typeface="Arial"/>
              </a:rPr>
              <a:t>C   Forward distance sensor</a:t>
            </a:r>
          </a:p>
        </p:txBody>
      </p:sp>
      <p:sp>
        <p:nvSpPr>
          <p:cNvPr id="4" name="">
            <a:extLst xmlns:a="http://schemas.openxmlformats.org/drawingml/2006/main">
              <a:ext uri="{FF2B5EF4-FFF2-40B4-BE49-F238E27FC236}">
                <a16:creationId xmlns:a16="http://schemas.microsoft.com/office/drawing/2014/main" id="{A4DA2587-7AD8-4E0C-8F49-39A00E32C615}"/>
              </a:ext>
            </a:extLst>
          </p:cNvPr>
          <p:cNvSpPr>
            <a:spLocks xmlns:a="http://schemas.openxmlformats.org/drawingml/2006/main" noGrp="1"/>
          </p:cNvSpPr>
          <p:nvPr/>
        </p:nvSpPr>
        <p:spPr>
          <a:xfrm xmlns:a="http://schemas.openxmlformats.org/drawingml/2006/main">
            <a:off x="762000" y="3667125"/>
            <a:ext cx="10477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73044"/>
                </a:solidFill>
                <a:latin typeface="Arial"/>
                <a:ea typeface="Arial"/>
                <a:cs typeface="Arial"/>
              </a:defRPr>
            </a:pPr>
            <a:r>
              <a:rPr sz="2325" b="0">
                <a:solidFill>
                  <a:srgbClr val="173044"/>
                </a:solidFill>
                <a:latin typeface="Arial"/>
                <a:ea typeface="Arial"/>
                <a:cs typeface="Arial"/>
              </a:rPr>
              <a:t>D   Downward color sensor</a:t>
            </a:r>
          </a:p>
        </p:txBody>
      </p:sp>
      <p:sp>
        <p:nvSpPr>
          <p:cNvPr id="5" name="">
            <a:extLst xmlns:a="http://schemas.openxmlformats.org/drawingml/2006/main">
              <a:ext uri="{FF2B5EF4-FFF2-40B4-BE49-F238E27FC236}">
                <a16:creationId xmlns:a16="http://schemas.microsoft.com/office/drawing/2014/main" id="{4D9CA7BB-B054-4D81-ACD6-DDAA4A965D20}"/>
              </a:ext>
            </a:extLst>
          </p:cNvPr>
          <p:cNvSpPr>
            <a:spLocks xmlns:a="http://schemas.openxmlformats.org/drawingml/2006/main" noGrp="1"/>
          </p:cNvSpPr>
          <p:nvPr/>
        </p:nvSpPr>
        <p:spPr>
          <a:xfrm xmlns:a="http://schemas.openxmlformats.org/drawingml/2006/main">
            <a:off x="762000" y="4524375"/>
            <a:ext cx="10477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73044"/>
                </a:solidFill>
                <a:latin typeface="Arial"/>
                <a:ea typeface="Arial"/>
                <a:cs typeface="Arial"/>
              </a:defRPr>
            </a:pPr>
            <a:r>
              <a:rPr sz="2325" b="0">
                <a:solidFill>
                  <a:srgbClr val="173044"/>
                </a:solidFill>
                <a:latin typeface="Arial"/>
                <a:ea typeface="Arial"/>
                <a:cs typeface="Arial"/>
              </a:rPr>
              <a:t>The auxiliary attachment motor stays unplugged.</a:t>
            </a:r>
          </a:p>
        </p:txBody>
      </p:sp>
    </p:spTree>
    <p:extLst>
      <p:ext uri="{BB962C8B-B14F-4D97-AF65-F5344CB8AC3E}">
        <p14:creationId xmlns:p14="http://schemas.microsoft.com/office/powerpoint/2010/main" val="456306283"/>
      </p:ext>
    </p:extLst>
  </p:cSld>
</p:sld>
</file>

<file path=ppt/slides/slide3.xml><?xml version="1.0" encoding="utf-8"?>
<p:sld xmlns:p="http://schemas.openxmlformats.org/presentationml/2006/main">
  <p:cSld>
    <p:bg>
      <p:bgPr>
        <a:solidFill xmlns:a="http://schemas.openxmlformats.org/drawingml/2006/main">
          <a:srgbClr val="173044"/>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59464B1B-EB73-484B-A6D3-7CEF9A9A3656}"/>
              </a:ext>
            </a:extLst>
          </p:cNvPr>
          <p:cNvSpPr>
            <a:spLocks xmlns:a="http://schemas.openxmlformats.org/drawingml/2006/main" noGrp="1"/>
          </p:cNvSpPr>
          <p:nvPr/>
        </p:nvSpPr>
        <p:spPr>
          <a:xfrm xmlns:a="http://schemas.openxmlformats.org/drawingml/2006/main">
            <a:off x="685800" y="457200"/>
            <a:ext cx="108204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FFFFFF"/>
                </a:solidFill>
                <a:latin typeface="Arial"/>
                <a:ea typeface="Arial"/>
                <a:cs typeface="Arial"/>
              </a:defRPr>
            </a:pPr>
            <a:r>
              <a:rPr sz="3600" b="1">
                <a:solidFill>
                  <a:srgbClr val="FFFFFF"/>
                </a:solidFill>
                <a:latin typeface="Arial"/>
                <a:ea typeface="Arial"/>
                <a:cs typeface="Arial"/>
              </a:rPr>
              <a:t>A recipe inside a complete program</a:t>
            </a:r>
          </a:p>
        </p:txBody>
      </p:sp>
      <p:sp>
        <p:nvSpPr>
          <p:cNvPr id="2" name="">
            <a:extLst xmlns:a="http://schemas.openxmlformats.org/drawingml/2006/main">
              <a:ext uri="{FF2B5EF4-FFF2-40B4-BE49-F238E27FC236}">
                <a16:creationId xmlns:a16="http://schemas.microsoft.com/office/drawing/2014/main" id="{857EF467-6AD0-4FE9-8B99-FC8A8A5BCCB4}"/>
              </a:ext>
            </a:extLst>
          </p:cNvPr>
          <p:cNvSpPr>
            <a:spLocks xmlns:a="http://schemas.openxmlformats.org/drawingml/2006/main" noGrp="1"/>
          </p:cNvSpPr>
          <p:nvPr/>
        </p:nvSpPr>
        <p:spPr>
          <a:xfrm xmlns:a="http://schemas.openxmlformats.org/drawingml/2006/main">
            <a:off x="781050" y="1952625"/>
            <a:ext cx="1057275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0">
                <a:solidFill>
                  <a:srgbClr val="FFFFFF"/>
                </a:solidFill>
                <a:latin typeface="Consolas"/>
                <a:ea typeface="Consolas"/>
                <a:cs typeface="Consolas"/>
              </a:defRPr>
            </a:pPr>
            <a:r>
              <a:rPr sz="2850" b="0">
                <a:solidFill>
                  <a:srgbClr val="FFFFFF"/>
                </a:solidFill>
                <a:latin typeface="Consolas"/>
                <a:ea typeface="Consolas"/>
                <a:cs typeface="Consolas"/>
              </a:rPr>
              <a:t>travel = 180</a:t>
            </a:r>
          </a:p>
          <a:p xmlns:a="http://schemas.openxmlformats.org/drawingml/2006/main">
            <a:pPr>
              <a:defRPr sz="2850" b="0">
                <a:solidFill>
                  <a:srgbClr val="FFFFFF"/>
                </a:solidFill>
                <a:latin typeface="Consolas"/>
                <a:ea typeface="Consolas"/>
                <a:cs typeface="Consolas"/>
              </a:defRPr>
            </a:pPr>
            <a:r>
              <a:rPr sz="2850" b="0">
                <a:solidFill>
                  <a:srgbClr val="FFFFFF"/>
                </a:solidFill>
                <a:latin typeface="Consolas"/>
                <a:ea typeface="Consolas"/>
                <a:cs typeface="Consolas"/>
              </a:rPr>
              <a:t>await drive(travel)</a:t>
            </a:r>
          </a:p>
          <a:p xmlns:a="http://schemas.openxmlformats.org/drawingml/2006/main">
            <a:pPr>
              <a:defRPr sz="2850" b="0">
                <a:solidFill>
                  <a:srgbClr val="FFFFFF"/>
                </a:solidFill>
                <a:latin typeface="Consolas"/>
                <a:ea typeface="Consolas"/>
                <a:cs typeface="Consolas"/>
              </a:defRPr>
            </a:pPr>
            <a:r>
              <a:rPr sz="2850" b="0">
                <a:solidFill>
                  <a:srgbClr val="FFFFFF"/>
                </a:solidFill>
                <a:latin typeface="Consolas"/>
                <a:ea typeface="Consolas"/>
                <a:cs typeface="Consolas"/>
              </a:rPr>
              <a:t>await signal("D")</a:t>
            </a:r>
          </a:p>
        </p:txBody>
      </p:sp>
      <p:sp>
        <p:nvSpPr>
          <p:cNvPr id="3" name="">
            <a:extLst xmlns:a="http://schemas.openxmlformats.org/drawingml/2006/main">
              <a:ext uri="{FF2B5EF4-FFF2-40B4-BE49-F238E27FC236}">
                <a16:creationId xmlns:a16="http://schemas.microsoft.com/office/drawing/2014/main" id="{F560A904-98CA-4588-BB09-DFF2C1167346}"/>
              </a:ext>
            </a:extLst>
          </p:cNvPr>
          <p:cNvSpPr>
            <a:spLocks xmlns:a="http://schemas.openxmlformats.org/drawingml/2006/main" noGrp="1"/>
          </p:cNvSpPr>
          <p:nvPr/>
        </p:nvSpPr>
        <p:spPr>
          <a:xfrm xmlns:a="http://schemas.openxmlformats.org/drawingml/2006/main">
            <a:off x="781050" y="4857750"/>
            <a:ext cx="1047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9DDADD"/>
                </a:solidFill>
                <a:latin typeface="Arial"/>
                <a:ea typeface="Arial"/>
                <a:cs typeface="Arial"/>
              </a:defRPr>
            </a:pPr>
            <a:r>
              <a:rPr sz="2175" b="0">
                <a:solidFill>
                  <a:srgbClr val="9DDADD"/>
                </a:solidFill>
                <a:latin typeface="Arial"/>
                <a:ea typeface="Arial"/>
                <a:cs typeface="Arial"/>
              </a:rPr>
              <a:t>Students edit the recipe. Mentors prepare the support code.</a:t>
            </a:r>
          </a:p>
        </p:txBody>
      </p:sp>
    </p:spTree>
    <p:extLst>
      <p:ext uri="{BB962C8B-B14F-4D97-AF65-F5344CB8AC3E}">
        <p14:creationId xmlns:p14="http://schemas.microsoft.com/office/powerpoint/2010/main" val="1683291997"/>
      </p:ext>
    </p:extLst>
  </p:cSld>
</p:sld>
</file>

<file path=ppt/slides/slide4.xml><?xml version="1.0" encoding="utf-8"?>
<p:sld xmlns:p="http://schemas.openxmlformats.org/presentationml/2006/main">
  <p:cSld>
    <p:bg>
      <p:bgPr>
        <a:solidFill xmlns:a="http://schemas.openxmlformats.org/drawingml/2006/main">
          <a:srgbClr val="FBFAF6"/>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B33918C7-35F1-448C-8BC4-BCD4B7ADA0C8}"/>
              </a:ext>
            </a:extLst>
          </p:cNvPr>
          <p:cNvSpPr>
            <a:spLocks xmlns:a="http://schemas.openxmlformats.org/drawingml/2006/main" noGrp="1"/>
          </p:cNvSpPr>
          <p:nvPr/>
        </p:nvSpPr>
        <p:spPr>
          <a:xfrm xmlns:a="http://schemas.openxmlformats.org/drawingml/2006/main">
            <a:off x="685800" y="457200"/>
            <a:ext cx="108204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173044"/>
                </a:solidFill>
                <a:latin typeface="Arial"/>
                <a:ea typeface="Arial"/>
                <a:cs typeface="Arial"/>
              </a:defRPr>
            </a:pPr>
            <a:r>
              <a:rPr sz="3600" b="1">
                <a:solidFill>
                  <a:srgbClr val="173044"/>
                </a:solidFill>
                <a:latin typeface="Arial"/>
                <a:ea typeface="Arial"/>
                <a:cs typeface="Arial"/>
              </a:rPr>
              <a:t>Sensor decisions</a:t>
            </a:r>
          </a:p>
        </p:txBody>
      </p:sp>
      <p:sp>
        <p:nvSpPr>
          <p:cNvPr id="2" name="">
            <a:extLst xmlns:a="http://schemas.openxmlformats.org/drawingml/2006/main">
              <a:ext uri="{FF2B5EF4-FFF2-40B4-BE49-F238E27FC236}">
                <a16:creationId xmlns:a16="http://schemas.microsoft.com/office/drawing/2014/main" id="{F3619569-BE7E-42C4-9AA6-0D74358ECF56}"/>
              </a:ext>
            </a:extLst>
          </p:cNvPr>
          <p:cNvSpPr>
            <a:spLocks xmlns:a="http://schemas.openxmlformats.org/drawingml/2006/main" noGrp="1"/>
          </p:cNvSpPr>
          <p:nvPr/>
        </p:nvSpPr>
        <p:spPr>
          <a:xfrm xmlns:a="http://schemas.openxmlformats.org/drawingml/2006/main">
            <a:off x="762000" y="1952625"/>
            <a:ext cx="104775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3044"/>
                </a:solidFill>
                <a:latin typeface="Arial"/>
                <a:ea typeface="Arial"/>
                <a:cs typeface="Arial"/>
              </a:defRPr>
            </a:pPr>
            <a:r>
              <a:rPr sz="2250" b="0">
                <a:solidFill>
                  <a:srgbClr val="173044"/>
                </a:solidFill>
                <a:latin typeface="Arial"/>
                <a:ea typeface="Arial"/>
                <a:cs typeface="Arial"/>
              </a:rPr>
              <a:t>A valid gap of 150 mm or less means parking is close.</a:t>
            </a:r>
          </a:p>
        </p:txBody>
      </p:sp>
      <p:sp>
        <p:nvSpPr>
          <p:cNvPr id="3" name="">
            <a:extLst xmlns:a="http://schemas.openxmlformats.org/drawingml/2006/main">
              <a:ext uri="{FF2B5EF4-FFF2-40B4-BE49-F238E27FC236}">
                <a16:creationId xmlns:a16="http://schemas.microsoft.com/office/drawing/2014/main" id="{23AA3352-5868-4186-BC8E-E505B8605205}"/>
              </a:ext>
            </a:extLst>
          </p:cNvPr>
          <p:cNvSpPr>
            <a:spLocks xmlns:a="http://schemas.openxmlformats.org/drawingml/2006/main" noGrp="1"/>
          </p:cNvSpPr>
          <p:nvPr/>
        </p:nvSpPr>
        <p:spPr>
          <a:xfrm xmlns:a="http://schemas.openxmlformats.org/drawingml/2006/main">
            <a:off x="762000" y="2905125"/>
            <a:ext cx="104775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3044"/>
                </a:solidFill>
                <a:latin typeface="Arial"/>
                <a:ea typeface="Arial"/>
                <a:cs typeface="Arial"/>
              </a:defRPr>
            </a:pPr>
            <a:r>
              <a:rPr sz="2250" b="0">
                <a:solidFill>
                  <a:srgbClr val="173044"/>
                </a:solidFill>
                <a:latin typeface="Arial"/>
                <a:ea typeface="Arial"/>
                <a:cs typeface="Arial"/>
              </a:rPr>
              <a:t>A negative distance reading means check the sensor.</a:t>
            </a:r>
          </a:p>
        </p:txBody>
      </p:sp>
      <p:sp>
        <p:nvSpPr>
          <p:cNvPr id="4" name="">
            <a:extLst xmlns:a="http://schemas.openxmlformats.org/drawingml/2006/main">
              <a:ext uri="{FF2B5EF4-FFF2-40B4-BE49-F238E27FC236}">
                <a16:creationId xmlns:a16="http://schemas.microsoft.com/office/drawing/2014/main" id="{0DC59EC2-497E-4E40-B90E-AE2EFC43D44A}"/>
              </a:ext>
            </a:extLst>
          </p:cNvPr>
          <p:cNvSpPr>
            <a:spLocks xmlns:a="http://schemas.openxmlformats.org/drawingml/2006/main" noGrp="1"/>
          </p:cNvSpPr>
          <p:nvPr/>
        </p:nvSpPr>
        <p:spPr>
          <a:xfrm xmlns:a="http://schemas.openxmlformats.org/drawingml/2006/main">
            <a:off x="762000" y="3857625"/>
            <a:ext cx="104775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3044"/>
                </a:solidFill>
                <a:latin typeface="Arial"/>
                <a:ea typeface="Arial"/>
                <a:cs typeface="Arial"/>
              </a:defRPr>
            </a:pPr>
            <a:r>
              <a:rPr sz="2250" b="0">
                <a:solidFill>
                  <a:srgbClr val="173044"/>
                </a:solidFill>
                <a:latin typeface="Arial"/>
                <a:ea typeface="Arial"/>
                <a:cs typeface="Arial"/>
              </a:rPr>
              <a:t>A dark marker needs a measured reflection threshold.</a:t>
            </a:r>
          </a:p>
        </p:txBody>
      </p:sp>
      <p:sp>
        <p:nvSpPr>
          <p:cNvPr id="5" name="">
            <a:extLst xmlns:a="http://schemas.openxmlformats.org/drawingml/2006/main">
              <a:ext uri="{FF2B5EF4-FFF2-40B4-BE49-F238E27FC236}">
                <a16:creationId xmlns:a16="http://schemas.microsoft.com/office/drawing/2014/main" id="{7E23A41D-D80A-493F-A5DB-0BFEDE71AFC1}"/>
              </a:ext>
            </a:extLst>
          </p:cNvPr>
          <p:cNvSpPr>
            <a:spLocks xmlns:a="http://schemas.openxmlformats.org/drawingml/2006/main" noGrp="1"/>
          </p:cNvSpPr>
          <p:nvPr/>
        </p:nvSpPr>
        <p:spPr>
          <a:xfrm xmlns:a="http://schemas.openxmlformats.org/drawingml/2006/main">
            <a:off x="762000" y="4810125"/>
            <a:ext cx="104775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3044"/>
                </a:solidFill>
                <a:latin typeface="Arial"/>
                <a:ea typeface="Arial"/>
                <a:cs typeface="Arial"/>
              </a:defRPr>
            </a:pPr>
            <a:r>
              <a:rPr sz="2250" b="0">
                <a:solidFill>
                  <a:srgbClr val="173044"/>
                </a:solidFill>
                <a:latin typeface="Arial"/>
                <a:ea typeface="Arial"/>
                <a:cs typeface="Arial"/>
              </a:rPr>
              <a:t>A movement limit means the target was not detected.</a:t>
            </a:r>
          </a:p>
        </p:txBody>
      </p:sp>
    </p:spTree>
    <p:extLst>
      <p:ext uri="{BB962C8B-B14F-4D97-AF65-F5344CB8AC3E}">
        <p14:creationId xmlns:p14="http://schemas.microsoft.com/office/powerpoint/2010/main" val="140003054"/>
      </p:ext>
    </p:extLst>
  </p:cSld>
</p:sld>
</file>

<file path=ppt/slides/slide5.xml><?xml version="1.0" encoding="utf-8"?>
<p:sld xmlns:p="http://schemas.openxmlformats.org/presentationml/2006/main">
  <p:cSld>
    <p:bg>
      <p:bgPr>
        <a:solidFill xmlns:a="http://schemas.openxmlformats.org/drawingml/2006/main">
          <a:srgbClr val="FBFAF6"/>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3D7B6EC0-3F25-4985-BCEE-322161398188}"/>
              </a:ext>
            </a:extLst>
          </p:cNvPr>
          <p:cNvSpPr>
            <a:spLocks xmlns:a="http://schemas.openxmlformats.org/drawingml/2006/main" noGrp="1"/>
          </p:cNvSpPr>
          <p:nvPr/>
        </p:nvSpPr>
        <p:spPr>
          <a:xfrm xmlns:a="http://schemas.openxmlformats.org/drawingml/2006/main">
            <a:off x="685800" y="457200"/>
            <a:ext cx="108204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173044"/>
                </a:solidFill>
                <a:latin typeface="Arial"/>
                <a:ea typeface="Arial"/>
                <a:cs typeface="Arial"/>
              </a:defRPr>
            </a:pPr>
            <a:r>
              <a:rPr sz="3600" b="1">
                <a:solidFill>
                  <a:srgbClr val="173044"/>
                </a:solidFill>
                <a:latin typeface="Arial"/>
                <a:ea typeface="Arial"/>
                <a:cs typeface="Arial"/>
              </a:rPr>
              <a:t>A small attachment and a fair comparison</a:t>
            </a:r>
          </a:p>
        </p:txBody>
      </p:sp>
      <p:sp>
        <p:nvSpPr>
          <p:cNvPr id="2" name="">
            <a:extLst xmlns:a="http://schemas.openxmlformats.org/drawingml/2006/main">
              <a:ext uri="{FF2B5EF4-FFF2-40B4-BE49-F238E27FC236}">
                <a16:creationId xmlns:a16="http://schemas.microsoft.com/office/drawing/2014/main" id="{791A396B-96E7-4588-ADDD-D6D65616DB3D}"/>
              </a:ext>
            </a:extLst>
          </p:cNvPr>
          <p:cNvSpPr>
            <a:spLocks xmlns:a="http://schemas.openxmlformats.org/drawingml/2006/main" noGrp="1"/>
          </p:cNvSpPr>
          <p:nvPr/>
        </p:nvSpPr>
        <p:spPr>
          <a:xfrm xmlns:a="http://schemas.openxmlformats.org/drawingml/2006/main">
            <a:off x="762000" y="1952625"/>
            <a:ext cx="10477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3044"/>
                </a:solidFill>
                <a:latin typeface="Arial"/>
                <a:ea typeface="Arial"/>
                <a:cs typeface="Arial"/>
              </a:defRPr>
            </a:pPr>
            <a:r>
              <a:rPr sz="2250" b="0">
                <a:solidFill>
                  <a:srgbClr val="173044"/>
                </a:solidFill>
                <a:latin typeface="Arial"/>
                <a:ea typeface="Arial"/>
                <a:cs typeface="Arial"/>
              </a:rPr>
              <a:t>Sketch a plow that guides a lightweight cube.</a:t>
            </a:r>
          </a:p>
        </p:txBody>
      </p:sp>
      <p:sp>
        <p:nvSpPr>
          <p:cNvPr id="3" name="">
            <a:extLst xmlns:a="http://schemas.openxmlformats.org/drawingml/2006/main">
              <a:ext uri="{FF2B5EF4-FFF2-40B4-BE49-F238E27FC236}">
                <a16:creationId xmlns:a16="http://schemas.microsoft.com/office/drawing/2014/main" id="{D4A5A7B6-6701-48F5-B6F5-6CFBF43E8610}"/>
              </a:ext>
            </a:extLst>
          </p:cNvPr>
          <p:cNvSpPr>
            <a:spLocks xmlns:a="http://schemas.openxmlformats.org/drawingml/2006/main" noGrp="1"/>
          </p:cNvSpPr>
          <p:nvPr/>
        </p:nvSpPr>
        <p:spPr>
          <a:xfrm xmlns:a="http://schemas.openxmlformats.org/drawingml/2006/main">
            <a:off x="762000" y="2867025"/>
            <a:ext cx="10477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3044"/>
                </a:solidFill>
                <a:latin typeface="Arial"/>
                <a:ea typeface="Arial"/>
                <a:cs typeface="Arial"/>
              </a:defRPr>
            </a:pPr>
            <a:r>
              <a:rPr sz="2250" b="0">
                <a:solidFill>
                  <a:srgbClr val="173044"/>
                </a:solidFill>
                <a:latin typeface="Arial"/>
                <a:ea typeface="Arial"/>
                <a:cs typeface="Arial"/>
              </a:rPr>
              <a:t>Keep wheels and the color sensor clear.</a:t>
            </a:r>
          </a:p>
        </p:txBody>
      </p:sp>
      <p:sp>
        <p:nvSpPr>
          <p:cNvPr id="4" name="">
            <a:extLst xmlns:a="http://schemas.openxmlformats.org/drawingml/2006/main">
              <a:ext uri="{FF2B5EF4-FFF2-40B4-BE49-F238E27FC236}">
                <a16:creationId xmlns:a16="http://schemas.microsoft.com/office/drawing/2014/main" id="{B70D9954-E0BB-4E32-8623-D21ECD97C46C}"/>
              </a:ext>
            </a:extLst>
          </p:cNvPr>
          <p:cNvSpPr>
            <a:spLocks xmlns:a="http://schemas.openxmlformats.org/drawingml/2006/main" noGrp="1"/>
          </p:cNvSpPr>
          <p:nvPr/>
        </p:nvSpPr>
        <p:spPr>
          <a:xfrm xmlns:a="http://schemas.openxmlformats.org/drawingml/2006/main">
            <a:off x="762000" y="3781425"/>
            <a:ext cx="10477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3044"/>
                </a:solidFill>
                <a:latin typeface="Arial"/>
                <a:ea typeface="Arial"/>
                <a:cs typeface="Arial"/>
              </a:defRPr>
            </a:pPr>
            <a:r>
              <a:rPr sz="2250" b="0">
                <a:solidFill>
                  <a:srgbClr val="173044"/>
                </a:solidFill>
                <a:latin typeface="Arial"/>
                <a:ea typeface="Arial"/>
                <a:cs typeface="Arial"/>
              </a:rPr>
              <a:t>Test two designs with the same program and start.</a:t>
            </a:r>
          </a:p>
        </p:txBody>
      </p:sp>
      <p:sp>
        <p:nvSpPr>
          <p:cNvPr id="5" name="">
            <a:extLst xmlns:a="http://schemas.openxmlformats.org/drawingml/2006/main">
              <a:ext uri="{FF2B5EF4-FFF2-40B4-BE49-F238E27FC236}">
                <a16:creationId xmlns:a16="http://schemas.microsoft.com/office/drawing/2014/main" id="{5A86B749-F67F-498D-97FF-B665945C7D1E}"/>
              </a:ext>
            </a:extLst>
          </p:cNvPr>
          <p:cNvSpPr>
            <a:spLocks xmlns:a="http://schemas.openxmlformats.org/drawingml/2006/main" noGrp="1"/>
          </p:cNvSpPr>
          <p:nvPr/>
        </p:nvSpPr>
        <p:spPr>
          <a:xfrm xmlns:a="http://schemas.openxmlformats.org/drawingml/2006/main">
            <a:off x="762000" y="4695825"/>
            <a:ext cx="10477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3044"/>
                </a:solidFill>
                <a:latin typeface="Arial"/>
                <a:ea typeface="Arial"/>
                <a:cs typeface="Arial"/>
              </a:defRPr>
            </a:pPr>
            <a:r>
              <a:rPr sz="2250" b="0">
                <a:solidFill>
                  <a:srgbClr val="173044"/>
                </a:solidFill>
                <a:latin typeface="Arial"/>
                <a:ea typeface="Arial"/>
                <a:cs typeface="Arial"/>
              </a:rPr>
              <a:t>Store each pair’s removable attachment separately.</a:t>
            </a:r>
          </a:p>
        </p:txBody>
      </p:sp>
    </p:spTree>
    <p:extLst>
      <p:ext uri="{BB962C8B-B14F-4D97-AF65-F5344CB8AC3E}">
        <p14:creationId xmlns:p14="http://schemas.microsoft.com/office/powerpoint/2010/main" val="923935925"/>
      </p:ext>
    </p:extLst>
  </p:cSld>
</p:sld>
</file>

<file path=ppt/slides/slide6.xml><?xml version="1.0" encoding="utf-8"?>
<p:sld xmlns:p="http://schemas.openxmlformats.org/presentationml/2006/main">
  <p:cSld>
    <p:bg>
      <p:bgPr>
        <a:solidFill xmlns:a="http://schemas.openxmlformats.org/drawingml/2006/main">
          <a:srgbClr val="FBFAF6"/>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84761022-7AE7-4B00-94A0-C64C9950E25B}"/>
              </a:ext>
            </a:extLst>
          </p:cNvPr>
          <p:cNvSpPr>
            <a:spLocks xmlns:a="http://schemas.openxmlformats.org/drawingml/2006/main" noGrp="1"/>
          </p:cNvSpPr>
          <p:nvPr/>
        </p:nvSpPr>
        <p:spPr>
          <a:xfrm xmlns:a="http://schemas.openxmlformats.org/drawingml/2006/main">
            <a:off x="685800" y="457200"/>
            <a:ext cx="108204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173044"/>
                </a:solidFill>
                <a:latin typeface="Arial"/>
                <a:ea typeface="Arial"/>
                <a:cs typeface="Arial"/>
              </a:defRPr>
            </a:pPr>
            <a:r>
              <a:rPr sz="3600" b="1">
                <a:solidFill>
                  <a:srgbClr val="173044"/>
                </a:solidFill>
                <a:latin typeface="Arial"/>
                <a:ea typeface="Arial"/>
                <a:cs typeface="Arial"/>
              </a:rPr>
              <a:t>The coaching conversation</a:t>
            </a:r>
          </a:p>
        </p:txBody>
      </p:sp>
      <p:sp>
        <p:nvSpPr>
          <p:cNvPr id="2" name="">
            <a:extLst xmlns:a="http://schemas.openxmlformats.org/drawingml/2006/main">
              <a:ext uri="{FF2B5EF4-FFF2-40B4-BE49-F238E27FC236}">
                <a16:creationId xmlns:a16="http://schemas.microsoft.com/office/drawing/2014/main" id="{6DBB74A8-F1B5-44EF-88E3-14201213D9E4}"/>
              </a:ext>
            </a:extLst>
          </p:cNvPr>
          <p:cNvSpPr>
            <a:spLocks xmlns:a="http://schemas.openxmlformats.org/drawingml/2006/main" noGrp="1"/>
          </p:cNvSpPr>
          <p:nvPr/>
        </p:nvSpPr>
        <p:spPr>
          <a:xfrm xmlns:a="http://schemas.openxmlformats.org/drawingml/2006/main">
            <a:off x="762000" y="1952625"/>
            <a:ext cx="1047750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0">
                <a:solidFill>
                  <a:srgbClr val="173044"/>
                </a:solidFill>
                <a:latin typeface="Arial"/>
                <a:ea typeface="Arial"/>
                <a:cs typeface="Arial"/>
              </a:defRPr>
            </a:pPr>
            <a:r>
              <a:rPr sz="2850" b="0">
                <a:solidFill>
                  <a:srgbClr val="173044"/>
                </a:solidFill>
                <a:latin typeface="Arial"/>
                <a:ea typeface="Arial"/>
                <a:cs typeface="Arial"/>
              </a:rPr>
              <a:t>What did you expect?</a:t>
            </a:r>
          </a:p>
        </p:txBody>
      </p:sp>
      <p:sp>
        <p:nvSpPr>
          <p:cNvPr id="3" name="">
            <a:extLst xmlns:a="http://schemas.openxmlformats.org/drawingml/2006/main">
              <a:ext uri="{FF2B5EF4-FFF2-40B4-BE49-F238E27FC236}">
                <a16:creationId xmlns:a16="http://schemas.microsoft.com/office/drawing/2014/main" id="{C0F6AA57-C3FF-496A-8D06-E44B8ACFBDC2}"/>
              </a:ext>
            </a:extLst>
          </p:cNvPr>
          <p:cNvSpPr>
            <a:spLocks xmlns:a="http://schemas.openxmlformats.org/drawingml/2006/main" noGrp="1"/>
          </p:cNvSpPr>
          <p:nvPr/>
        </p:nvSpPr>
        <p:spPr>
          <a:xfrm xmlns:a="http://schemas.openxmlformats.org/drawingml/2006/main">
            <a:off x="762000" y="3143250"/>
            <a:ext cx="1047750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0">
                <a:solidFill>
                  <a:srgbClr val="173044"/>
                </a:solidFill>
                <a:latin typeface="Arial"/>
                <a:ea typeface="Arial"/>
                <a:cs typeface="Arial"/>
              </a:defRPr>
            </a:pPr>
            <a:r>
              <a:rPr sz="2850" b="0">
                <a:solidFill>
                  <a:srgbClr val="173044"/>
                </a:solidFill>
                <a:latin typeface="Arial"/>
                <a:ea typeface="Arial"/>
                <a:cs typeface="Arial"/>
              </a:rPr>
              <a:t>What did you observe?</a:t>
            </a:r>
          </a:p>
        </p:txBody>
      </p:sp>
      <p:sp>
        <p:nvSpPr>
          <p:cNvPr id="4" name="">
            <a:extLst xmlns:a="http://schemas.openxmlformats.org/drawingml/2006/main">
              <a:ext uri="{FF2B5EF4-FFF2-40B4-BE49-F238E27FC236}">
                <a16:creationId xmlns:a16="http://schemas.microsoft.com/office/drawing/2014/main" id="{2CF6FD73-B372-44FE-8FE5-207D3929896C}"/>
              </a:ext>
            </a:extLst>
          </p:cNvPr>
          <p:cNvSpPr>
            <a:spLocks xmlns:a="http://schemas.openxmlformats.org/drawingml/2006/main" noGrp="1"/>
          </p:cNvSpPr>
          <p:nvPr/>
        </p:nvSpPr>
        <p:spPr>
          <a:xfrm xmlns:a="http://schemas.openxmlformats.org/drawingml/2006/main">
            <a:off x="762000" y="4333875"/>
            <a:ext cx="1047750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0">
                <a:solidFill>
                  <a:srgbClr val="173044"/>
                </a:solidFill>
                <a:latin typeface="Arial"/>
                <a:ea typeface="Arial"/>
                <a:cs typeface="Arial"/>
              </a:defRPr>
            </a:pPr>
            <a:r>
              <a:rPr sz="2850" b="0">
                <a:solidFill>
                  <a:srgbClr val="173044"/>
                </a:solidFill>
                <a:latin typeface="Arial"/>
                <a:ea typeface="Arial"/>
                <a:cs typeface="Arial"/>
              </a:rPr>
              <a:t>What one change could test your idea?</a:t>
            </a:r>
          </a:p>
        </p:txBody>
      </p:sp>
    </p:spTree>
    <p:extLst>
      <p:ext uri="{BB962C8B-B14F-4D97-AF65-F5344CB8AC3E}">
        <p14:creationId xmlns:p14="http://schemas.microsoft.com/office/powerpoint/2010/main" val="584599098"/>
      </p:ext>
    </p:extLst>
  </p:cSld>
</p:sld>
</file>

<file path=ppt/slides/slide7.xml><?xml version="1.0" encoding="utf-8"?>
<p:sld xmlns:p="http://schemas.openxmlformats.org/presentationml/2006/main">
  <p:cSld>
    <p:bg>
      <p:bgPr>
        <a:solidFill xmlns:a="http://schemas.openxmlformats.org/drawingml/2006/main">
          <a:srgbClr val="FBFAF6"/>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F338FAFF-1A0A-48EF-B53C-44A050716EA8}"/>
              </a:ext>
            </a:extLst>
          </p:cNvPr>
          <p:cNvSpPr>
            <a:spLocks xmlns:a="http://schemas.openxmlformats.org/drawingml/2006/main" noGrp="1"/>
          </p:cNvSpPr>
          <p:nvPr/>
        </p:nvSpPr>
        <p:spPr>
          <a:xfrm xmlns:a="http://schemas.openxmlformats.org/drawingml/2006/main">
            <a:off x="685800" y="457200"/>
            <a:ext cx="108204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173044"/>
                </a:solidFill>
                <a:latin typeface="Arial"/>
                <a:ea typeface="Arial"/>
                <a:cs typeface="Arial"/>
              </a:defRPr>
            </a:pPr>
            <a:r>
              <a:rPr sz="3600" b="1">
                <a:solidFill>
                  <a:srgbClr val="173044"/>
                </a:solidFill>
                <a:latin typeface="Arial"/>
                <a:ea typeface="Arial"/>
                <a:cs typeface="Arial"/>
              </a:rPr>
              <a:t>Two pairs share each robot</a:t>
            </a:r>
          </a:p>
        </p:txBody>
      </p:sp>
      <p:sp>
        <p:nvSpPr>
          <p:cNvPr id="2" name="">
            <a:extLst xmlns:a="http://schemas.openxmlformats.org/drawingml/2006/main">
              <a:ext uri="{FF2B5EF4-FFF2-40B4-BE49-F238E27FC236}">
                <a16:creationId xmlns:a16="http://schemas.microsoft.com/office/drawing/2014/main" id="{54053E4A-57D4-4041-873E-6B5F8AE34448}"/>
              </a:ext>
            </a:extLst>
          </p:cNvPr>
          <p:cNvSpPr>
            <a:spLocks xmlns:a="http://schemas.openxmlformats.org/drawingml/2006/main" noGrp="1"/>
          </p:cNvSpPr>
          <p:nvPr/>
        </p:nvSpPr>
        <p:spPr>
          <a:xfrm xmlns:a="http://schemas.openxmlformats.org/drawingml/2006/main">
            <a:off x="762000" y="1952625"/>
            <a:ext cx="10477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3044"/>
                </a:solidFill>
                <a:latin typeface="Arial"/>
                <a:ea typeface="Arial"/>
                <a:cs typeface="Arial"/>
              </a:defRPr>
            </a:pPr>
            <a:r>
              <a:rPr sz="2250" b="0">
                <a:solidFill>
                  <a:srgbClr val="173044"/>
                </a:solidFill>
                <a:latin typeface="Arial"/>
                <a:ea typeface="Arial"/>
                <a:cs typeface="Arial"/>
              </a:rPr>
              <a:t>15–27 minutes   First pair tests, second pair plans.</a:t>
            </a:r>
          </a:p>
        </p:txBody>
      </p:sp>
      <p:sp>
        <p:nvSpPr>
          <p:cNvPr id="3" name="">
            <a:extLst xmlns:a="http://schemas.openxmlformats.org/drawingml/2006/main">
              <a:ext uri="{FF2B5EF4-FFF2-40B4-BE49-F238E27FC236}">
                <a16:creationId xmlns:a16="http://schemas.microsoft.com/office/drawing/2014/main" id="{BF01407B-D5EB-42B0-9167-931D8F36E1FC}"/>
              </a:ext>
            </a:extLst>
          </p:cNvPr>
          <p:cNvSpPr>
            <a:spLocks xmlns:a="http://schemas.openxmlformats.org/drawingml/2006/main" noGrp="1"/>
          </p:cNvSpPr>
          <p:nvPr/>
        </p:nvSpPr>
        <p:spPr>
          <a:xfrm xmlns:a="http://schemas.openxmlformats.org/drawingml/2006/main">
            <a:off x="762000" y="2867025"/>
            <a:ext cx="10477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3044"/>
                </a:solidFill>
                <a:latin typeface="Arial"/>
                <a:ea typeface="Arial"/>
                <a:cs typeface="Arial"/>
              </a:defRPr>
            </a:pPr>
            <a:r>
              <a:rPr sz="2250" b="0">
                <a:solidFill>
                  <a:srgbClr val="173044"/>
                </a:solidFill>
                <a:latin typeface="Arial"/>
                <a:ea typeface="Arial"/>
                <a:cs typeface="Arial"/>
              </a:rPr>
              <a:t>27–39 minutes   Pairs switch stations.</a:t>
            </a:r>
          </a:p>
        </p:txBody>
      </p:sp>
      <p:sp>
        <p:nvSpPr>
          <p:cNvPr id="4" name="">
            <a:extLst xmlns:a="http://schemas.openxmlformats.org/drawingml/2006/main">
              <a:ext uri="{FF2B5EF4-FFF2-40B4-BE49-F238E27FC236}">
                <a16:creationId xmlns:a16="http://schemas.microsoft.com/office/drawing/2014/main" id="{FD6CBD0F-B14D-4A8E-8316-570DE508CEC3}"/>
              </a:ext>
            </a:extLst>
          </p:cNvPr>
          <p:cNvSpPr>
            <a:spLocks xmlns:a="http://schemas.openxmlformats.org/drawingml/2006/main" noGrp="1"/>
          </p:cNvSpPr>
          <p:nvPr/>
        </p:nvSpPr>
        <p:spPr>
          <a:xfrm xmlns:a="http://schemas.openxmlformats.org/drawingml/2006/main">
            <a:off x="762000" y="3781425"/>
            <a:ext cx="10477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3044"/>
                </a:solidFill>
                <a:latin typeface="Arial"/>
                <a:ea typeface="Arial"/>
                <a:cs typeface="Arial"/>
              </a:defRPr>
            </a:pPr>
            <a:r>
              <a:rPr sz="2250" b="0">
                <a:solidFill>
                  <a:srgbClr val="173044"/>
                </a:solidFill>
                <a:latin typeface="Arial"/>
                <a:ea typeface="Arial"/>
                <a:cs typeface="Arial"/>
              </a:rPr>
              <a:t>39–49 minutes   Each pair gets a five-minute retest.</a:t>
            </a:r>
          </a:p>
        </p:txBody>
      </p:sp>
      <p:sp>
        <p:nvSpPr>
          <p:cNvPr id="5" name="">
            <a:extLst xmlns:a="http://schemas.openxmlformats.org/drawingml/2006/main">
              <a:ext uri="{FF2B5EF4-FFF2-40B4-BE49-F238E27FC236}">
                <a16:creationId xmlns:a16="http://schemas.microsoft.com/office/drawing/2014/main" id="{D302E854-F537-419E-9D42-1599E1B62644}"/>
              </a:ext>
            </a:extLst>
          </p:cNvPr>
          <p:cNvSpPr>
            <a:spLocks xmlns:a="http://schemas.openxmlformats.org/drawingml/2006/main" noGrp="1"/>
          </p:cNvSpPr>
          <p:nvPr/>
        </p:nvSpPr>
        <p:spPr>
          <a:xfrm xmlns:a="http://schemas.openxmlformats.org/drawingml/2006/main">
            <a:off x="762000" y="4695825"/>
            <a:ext cx="10477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3044"/>
                </a:solidFill>
                <a:latin typeface="Arial"/>
                <a:ea typeface="Arial"/>
                <a:cs typeface="Arial"/>
              </a:defRPr>
            </a:pPr>
            <a:r>
              <a:rPr sz="2250" b="0">
                <a:solidFill>
                  <a:srgbClr val="173044"/>
                </a:solidFill>
                <a:latin typeface="Arial"/>
                <a:ea typeface="Arial"/>
                <a:cs typeface="Arial"/>
              </a:rPr>
              <a:t>Drivers swap midway through every robot turn.</a:t>
            </a:r>
          </a:p>
        </p:txBody>
      </p:sp>
    </p:spTree>
    <p:extLst>
      <p:ext uri="{BB962C8B-B14F-4D97-AF65-F5344CB8AC3E}">
        <p14:creationId xmlns:p14="http://schemas.microsoft.com/office/powerpoint/2010/main" val="811952202"/>
      </p:ext>
    </p:extLst>
  </p:cSld>
</p:sld>
</file>

<file path=ppt/slides/slide8.xml><?xml version="1.0" encoding="utf-8"?>
<p:sld xmlns:p="http://schemas.openxmlformats.org/presentationml/2006/main">
  <p:cSld>
    <p:bg>
      <p:bgPr>
        <a:solidFill xmlns:a="http://schemas.openxmlformats.org/drawingml/2006/main">
          <a:srgbClr val="FBFAF6"/>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E02A87BC-9833-4B93-8BB6-40A344B1837C}"/>
              </a:ext>
            </a:extLst>
          </p:cNvPr>
          <p:cNvSpPr>
            <a:spLocks xmlns:a="http://schemas.openxmlformats.org/drawingml/2006/main" noGrp="1"/>
          </p:cNvSpPr>
          <p:nvPr/>
        </p:nvSpPr>
        <p:spPr>
          <a:xfrm xmlns:a="http://schemas.openxmlformats.org/drawingml/2006/main">
            <a:off x="685800" y="457200"/>
            <a:ext cx="108204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173044"/>
                </a:solidFill>
                <a:latin typeface="Arial"/>
                <a:ea typeface="Arial"/>
                <a:cs typeface="Arial"/>
              </a:defRPr>
            </a:pPr>
            <a:r>
              <a:rPr sz="3600" b="1">
                <a:solidFill>
                  <a:srgbClr val="173044"/>
                </a:solidFill>
                <a:latin typeface="Arial"/>
                <a:ea typeface="Arial"/>
                <a:cs typeface="Arial"/>
              </a:rPr>
              <a:t>Ready to lead a pod</a:t>
            </a:r>
          </a:p>
        </p:txBody>
      </p:sp>
      <p:sp>
        <p:nvSpPr>
          <p:cNvPr id="2" name="">
            <a:extLst xmlns:a="http://schemas.openxmlformats.org/drawingml/2006/main">
              <a:ext uri="{FF2B5EF4-FFF2-40B4-BE49-F238E27FC236}">
                <a16:creationId xmlns:a16="http://schemas.microsoft.com/office/drawing/2014/main" id="{89C4291F-1835-44FD-B8FD-04056612F323}"/>
              </a:ext>
            </a:extLst>
          </p:cNvPr>
          <p:cNvSpPr>
            <a:spLocks xmlns:a="http://schemas.openxmlformats.org/drawingml/2006/main" noGrp="1"/>
          </p:cNvSpPr>
          <p:nvPr/>
        </p:nvSpPr>
        <p:spPr>
          <a:xfrm xmlns:a="http://schemas.openxmlformats.org/drawingml/2006/main">
            <a:off x="762000" y="1952625"/>
            <a:ext cx="10477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3044"/>
                </a:solidFill>
                <a:latin typeface="Arial"/>
                <a:ea typeface="Arial"/>
                <a:cs typeface="Arial"/>
              </a:defRPr>
            </a:pPr>
            <a:r>
              <a:rPr sz="2250" b="0">
                <a:solidFill>
                  <a:srgbClr val="173044"/>
                </a:solidFill>
                <a:latin typeface="Arial"/>
                <a:ea typeface="Arial"/>
                <a:cs typeface="Arial"/>
              </a:rPr>
              <a:t>Connect, stop, and restore a known-good project.</a:t>
            </a:r>
          </a:p>
        </p:txBody>
      </p:sp>
      <p:sp>
        <p:nvSpPr>
          <p:cNvPr id="3" name="">
            <a:extLst xmlns:a="http://schemas.openxmlformats.org/drawingml/2006/main">
              <a:ext uri="{FF2B5EF4-FFF2-40B4-BE49-F238E27FC236}">
                <a16:creationId xmlns:a16="http://schemas.microsoft.com/office/drawing/2014/main" id="{3DD063C4-4772-46E2-B9D2-3EDD460242E6}"/>
              </a:ext>
            </a:extLst>
          </p:cNvPr>
          <p:cNvSpPr>
            <a:spLocks xmlns:a="http://schemas.openxmlformats.org/drawingml/2006/main" noGrp="1"/>
          </p:cNvSpPr>
          <p:nvPr/>
        </p:nvSpPr>
        <p:spPr>
          <a:xfrm xmlns:a="http://schemas.openxmlformats.org/drawingml/2006/main">
            <a:off x="762000" y="2867025"/>
            <a:ext cx="10477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3044"/>
                </a:solidFill>
                <a:latin typeface="Arial"/>
                <a:ea typeface="Arial"/>
                <a:cs typeface="Arial"/>
              </a:defRPr>
            </a:pPr>
            <a:r>
              <a:rPr sz="2250" b="0">
                <a:solidFill>
                  <a:srgbClr val="173044"/>
                </a:solidFill>
                <a:latin typeface="Arial"/>
                <a:ea typeface="Arial"/>
                <a:cs typeface="Arial"/>
              </a:rPr>
              <a:t>Explain this week’s idea and its common mistakes.</a:t>
            </a:r>
          </a:p>
        </p:txBody>
      </p:sp>
      <p:sp>
        <p:nvSpPr>
          <p:cNvPr id="4" name="">
            <a:extLst xmlns:a="http://schemas.openxmlformats.org/drawingml/2006/main">
              <a:ext uri="{FF2B5EF4-FFF2-40B4-BE49-F238E27FC236}">
                <a16:creationId xmlns:a16="http://schemas.microsoft.com/office/drawing/2014/main" id="{67C20199-EBB4-4904-BAB3-D56D6AEBDFF0}"/>
              </a:ext>
            </a:extLst>
          </p:cNvPr>
          <p:cNvSpPr>
            <a:spLocks xmlns:a="http://schemas.openxmlformats.org/drawingml/2006/main" noGrp="1"/>
          </p:cNvSpPr>
          <p:nvPr/>
        </p:nvSpPr>
        <p:spPr>
          <a:xfrm xmlns:a="http://schemas.openxmlformats.org/drawingml/2006/main">
            <a:off x="762000" y="3781425"/>
            <a:ext cx="10477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3044"/>
                </a:solidFill>
                <a:latin typeface="Arial"/>
                <a:ea typeface="Arial"/>
                <a:cs typeface="Arial"/>
              </a:defRPr>
            </a:pPr>
            <a:r>
              <a:rPr sz="2250" b="0">
                <a:solidFill>
                  <a:srgbClr val="173044"/>
                </a:solidFill>
                <a:latin typeface="Arial"/>
                <a:ea typeface="Arial"/>
                <a:cs typeface="Arial"/>
              </a:rPr>
              <a:t>Give both students meaningful operating turns.</a:t>
            </a:r>
          </a:p>
        </p:txBody>
      </p:sp>
      <p:sp>
        <p:nvSpPr>
          <p:cNvPr id="5" name="">
            <a:extLst xmlns:a="http://schemas.openxmlformats.org/drawingml/2006/main">
              <a:ext uri="{FF2B5EF4-FFF2-40B4-BE49-F238E27FC236}">
                <a16:creationId xmlns:a16="http://schemas.microsoft.com/office/drawing/2014/main" id="{C4239547-43B1-4A68-AC77-866C0BA74021}"/>
              </a:ext>
            </a:extLst>
          </p:cNvPr>
          <p:cNvSpPr>
            <a:spLocks xmlns:a="http://schemas.openxmlformats.org/drawingml/2006/main" noGrp="1"/>
          </p:cNvSpPr>
          <p:nvPr/>
        </p:nvSpPr>
        <p:spPr>
          <a:xfrm xmlns:a="http://schemas.openxmlformats.org/drawingml/2006/main">
            <a:off x="762000" y="4695825"/>
            <a:ext cx="10477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3044"/>
                </a:solidFill>
                <a:latin typeface="Arial"/>
                <a:ea typeface="Arial"/>
                <a:cs typeface="Arial"/>
              </a:defRPr>
            </a:pPr>
            <a:r>
              <a:rPr sz="2250" b="0">
                <a:solidFill>
                  <a:srgbClr val="173044"/>
                </a:solidFill>
                <a:latin typeface="Arial"/>
                <a:ea typeface="Arial"/>
                <a:cs typeface="Arial"/>
              </a:rPr>
              <a:t>Save the pair’s work and record what actually happened.</a:t>
            </a:r>
          </a:p>
        </p:txBody>
      </p:sp>
    </p:spTree>
    <p:extLst>
      <p:ext uri="{BB962C8B-B14F-4D97-AF65-F5344CB8AC3E}">
        <p14:creationId xmlns:p14="http://schemas.microsoft.com/office/powerpoint/2010/main" val="69272203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2026-10-02T02:43:21.0180000Z</dcterms:created>
  <dcterms:modified xsi:type="dcterms:W3CDTF">2026-10-02T02:43:21.0180000Z</dcterms:modified>
</coreProperties>
</file>