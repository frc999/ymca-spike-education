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d497d260364e20" /><Relationship Type="http://schemas.openxmlformats.org/officeDocument/2006/relationships/extended-properties" Target="/docProps/app.xml" Id="R0835aca96b304976" /><Relationship Type="http://schemas.openxmlformats.org/officeDocument/2006/relationships/officeDocument" Target="/ppt/presentation.xml" Id="R02b550bb684549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a87b5fc47c4124"/>
  </p:sldMasterIdLst>
  <p:notesMasterIdLst>
    <p:notesMasterId xmlns:r="http://schemas.openxmlformats.org/officeDocument/2006/relationships" r:id="Rff4efce33db149b4"/>
  </p:notesMasterIdLst>
  <p:sldIdLst>
    <p:sldId xmlns:r="http://schemas.openxmlformats.org/officeDocument/2006/relationships" id="256" r:id="R36401529ca9a4ef3"/>
    <p:sldId xmlns:r="http://schemas.openxmlformats.org/officeDocument/2006/relationships" id="257" r:id="R27ba0413337c4b5e"/>
    <p:sldId xmlns:r="http://schemas.openxmlformats.org/officeDocument/2006/relationships" id="258" r:id="R86d18e1118e24037"/>
    <p:sldId xmlns:r="http://schemas.openxmlformats.org/officeDocument/2006/relationships" id="259" r:id="Red5d15f3c5c743fd"/>
    <p:sldId xmlns:r="http://schemas.openxmlformats.org/officeDocument/2006/relationships" id="260" r:id="R9638cb31faaf415a"/>
    <p:sldId xmlns:r="http://schemas.openxmlformats.org/officeDocument/2006/relationships" id="261" r:id="R8d80176334ba419e"/>
    <p:sldId xmlns:r="http://schemas.openxmlformats.org/officeDocument/2006/relationships" id="262" r:id="R85c99e4f48e14f77"/>
    <p:sldId xmlns:r="http://schemas.openxmlformats.org/officeDocument/2006/relationships" id="263" r:id="R80cc79d3963745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7d5bc068914d57" /><Relationship Type="http://schemas.openxmlformats.org/officeDocument/2006/relationships/slideMaster" Target="/ppt/slideMasters/slideMaster1.xml" Id="R3aa87b5fc47c4124" /><Relationship Type="http://schemas.openxmlformats.org/officeDocument/2006/relationships/notesMaster" Target="/ppt/notesMasters/notesMaster1.xml" Id="Rff4efce33db149b4" /><Relationship Type="http://schemas.openxmlformats.org/officeDocument/2006/relationships/presProps" Target="/ppt/presProps.xml" Id="R01e97697f36f48be" /><Relationship Type="http://schemas.openxmlformats.org/officeDocument/2006/relationships/tableStyles" Target="/ppt/tableStyles.xml" Id="Rd08e9cafe37843af" /><Relationship Type="http://schemas.openxmlformats.org/officeDocument/2006/relationships/slide" Target="/ppt/slides/slide1.xml" Id="R36401529ca9a4ef3" /><Relationship Type="http://schemas.openxmlformats.org/officeDocument/2006/relationships/slide" Target="/ppt/slides/slide2.xml" Id="R27ba0413337c4b5e" /><Relationship Type="http://schemas.openxmlformats.org/officeDocument/2006/relationships/slide" Target="/ppt/slides/slide3.xml" Id="R86d18e1118e24037" /><Relationship Type="http://schemas.openxmlformats.org/officeDocument/2006/relationships/slide" Target="/ppt/slides/slide4.xml" Id="Red5d15f3c5c743fd" /><Relationship Type="http://schemas.openxmlformats.org/officeDocument/2006/relationships/slide" Target="/ppt/slides/slide5.xml" Id="R9638cb31faaf415a" /><Relationship Type="http://schemas.openxmlformats.org/officeDocument/2006/relationships/slide" Target="/ppt/slides/slide6.xml" Id="R8d80176334ba419e" /><Relationship Type="http://schemas.openxmlformats.org/officeDocument/2006/relationships/slide" Target="/ppt/slides/slide7.xml" Id="R85c99e4f48e14f77" /><Relationship Type="http://schemas.openxmlformats.org/officeDocument/2006/relationships/slide" Target="/ppt/slides/slide8.xml" Id="R80cc79d3963745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3d9c2f6d354c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eb41ee3a304b36" /><Relationship Type="http://schemas.openxmlformats.org/officeDocument/2006/relationships/notesMaster" Target="/ppt/notesMasters/notesMaster1.xml" Id="R5f2dda696eee45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b33fa98e484803" /><Relationship Type="http://schemas.openxmlformats.org/officeDocument/2006/relationships/notesMaster" Target="/ppt/notesMasters/notesMaster1.xml" Id="R8c2f5bbd18c644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3b5325ece94368" /><Relationship Type="http://schemas.openxmlformats.org/officeDocument/2006/relationships/notesMaster" Target="/ppt/notesMasters/notesMaster1.xml" Id="Rfbf5fe5fff3f42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5ad4f7b367944b7" /><Relationship Type="http://schemas.openxmlformats.org/officeDocument/2006/relationships/notesMaster" Target="/ppt/notesMasters/notesMaster1.xml" Id="R8dcb173969374e0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f2cbdc35064552" /><Relationship Type="http://schemas.openxmlformats.org/officeDocument/2006/relationships/notesMaster" Target="/ppt/notesMasters/notesMaster1.xml" Id="R45e92295a3e046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acc35b20334857" /><Relationship Type="http://schemas.openxmlformats.org/officeDocument/2006/relationships/notesMaster" Target="/ppt/notesMasters/notesMaster1.xml" Id="R8a14e8c26f3b43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a5d63e893e4936" /><Relationship Type="http://schemas.openxmlformats.org/officeDocument/2006/relationships/notesMaster" Target="/ppt/notesMasters/notesMaster1.xml" Id="R13992771f47b4d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166d144206460e" /><Relationship Type="http://schemas.openxmlformats.org/officeDocument/2006/relationships/notesMaster" Target="/ppt/notesMasters/notesMaster1.xml" Id="R14a57ee62d4747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general 120-minute workshop deck is a reference. For the student-led build-first preparation session use 01_Instructor/Trainer_Session_Plan.md and Trainer_Work_Orders.md. Instructors practiced October 25; actual kit acceptance records remain to be supplied.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[object Object]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[object Object]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[object Object]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Practice the weekly build-table routine. Prepare four team parts packs and two mentor examples. A team can build with a footprint/mounting template while another uses the robot. Check every approved attachment with the actual stopped base before testing. Teach builder, designer/parts manager and tester/reporter jobs.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[object Object]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Driver edits and starts after clear. Navigator predicts, positions the stopped robot/payload and checks the lane. Observer measures and records a brief result. At the build table, rotate builder, designer/parts manager and tester/reporter. Switch roles at minutes 18, 22, 30, 34, 40, 42, 46 and 48. Two laptops stay with robots; two show build references without hub connections. Four mentors cover the four stations; additional mentors float.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[object Object]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479fffa11543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e9b21defc84ca7" /><Relationship Type="http://schemas.openxmlformats.org/officeDocument/2006/relationships/slideLayout" Target="/ppt/slideLayouts/slideLayout1.xml" Id="R2a3e146a170a40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3e146a170a40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7d7fa58ebb42f8" /><Relationship Type="http://schemas.openxmlformats.org/officeDocument/2006/relationships/notesSlide" Target="/ppt/notesSlides/notesSlide1.xml" Id="R4a68221d91c74d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062bf34e54b6d" /><Relationship Type="http://schemas.openxmlformats.org/officeDocument/2006/relationships/notesSlide" Target="/ppt/notesSlides/notesSlide2.xml" Id="R64db0f721f4b42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4ea90553df44e8" /><Relationship Type="http://schemas.openxmlformats.org/officeDocument/2006/relationships/notesSlide" Target="/ppt/notesSlides/notesSlide3.xml" Id="R2123da37c9ad47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c481b074e43ef" /><Relationship Type="http://schemas.openxmlformats.org/officeDocument/2006/relationships/notesSlide" Target="/ppt/notesSlides/notesSlide4.xml" Id="Rb52d722ba66b44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8bdd9d4dd4d62" /><Relationship Type="http://schemas.openxmlformats.org/officeDocument/2006/relationships/notesSlide" Target="/ppt/notesSlides/notesSlide5.xml" Id="Rb3c99a7d27a246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43d5652eb47b9" /><Relationship Type="http://schemas.openxmlformats.org/officeDocument/2006/relationships/notesSlide" Target="/ppt/notesSlides/notesSlide6.xml" Id="R3135d545efc743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524c41a8343ce" /><Relationship Type="http://schemas.openxmlformats.org/officeDocument/2006/relationships/notesSlide" Target="/ppt/notesSlides/notesSlide7.xml" Id="R97bce95ce6eb48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b2ca51365489f" /><Relationship Type="http://schemas.openxmlformats.org/officeDocument/2006/relationships/notesSlide" Target="/ppt/notesSlides/notesSlide8.xml" Id="R4a3b01e6f45f41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0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74A710-A07A-44F9-A483-03F91CE1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5727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Teaching the robotics club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9175D6-936A-4198-872A-14CB27CD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10382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9DDADD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9DDADD"/>
                </a:solidFill>
                <a:latin typeface="Arial"/>
                <a:ea typeface="Arial"/>
                <a:cs typeface="Arial"/>
              </a:rPr>
              <a:t>A practical workshop for high school mentors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9AA247-739B-4D5F-B001-0D452C34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817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B9D4D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9D4DC"/>
                </a:solidFill>
                <a:latin typeface="Arial"/>
                <a:ea typeface="Arial"/>
                <a:cs typeface="Arial"/>
              </a:rPr>
              <a:t>MechaRAMS · Proposed workshop time: 120 minutes</a:t>
            </a:r>
          </a:p>
        </p:txBody>
      </p:sp>
    </p:spTree>
    <p:extLst>
      <p:ext uri="{BB962C8B-B14F-4D97-AF65-F5344CB8AC3E}">
        <p14:creationId xmlns:p14="http://schemas.microsoft.com/office/powerpoint/2010/main" val="13684782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824A8E-E0BF-4BFF-B189-59CAB88F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044"/>
                </a:solidFill>
                <a:latin typeface="Arial"/>
                <a:ea typeface="Arial"/>
                <a:cs typeface="Arial"/>
              </a:rPr>
              <a:t>The robot setup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694D3C-C040-4F05-BB85-7377F92D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A   Left wheel motor       B   Right wheel motor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0CDF40-912D-4B3A-85CF-B97CF0F58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C   Forward distance sensor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A2587-7AD8-4E0C-8F49-39A00E32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D   Downward color sensor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9CA7BB-B054-4D81-ACD6-DDAA4A96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The auxiliary attachment motor stays unplugged.</a:t>
            </a:r>
          </a:p>
        </p:txBody>
      </p:sp>
    </p:spTree>
    <p:extLst>
      <p:ext uri="{BB962C8B-B14F-4D97-AF65-F5344CB8AC3E}">
        <p14:creationId xmlns:p14="http://schemas.microsoft.com/office/powerpoint/2010/main" val="4563062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30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464B1B-EB73-484B-A6D3-7CEF9A9A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recipe inside a complete program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7EF467-6AD0-4FE9-8B99-FC8A8A5B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10572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8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travel = 180</a:t>
            </a:r>
          </a:p>
          <a:p xmlns:a="http://schemas.openxmlformats.org/drawingml/2006/main">
            <a:pPr>
              <a:buNone/>
              <a:defRPr sz="28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8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await drive(travel)</a:t>
            </a:r>
          </a:p>
          <a:p xmlns:a="http://schemas.openxmlformats.org/drawingml/2006/main">
            <a:pPr>
              <a:buNone/>
              <a:defRPr sz="28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8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await signal("D")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60A904-98CA-4588-BB09-DFF2C116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9DDAD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9DDADD"/>
                </a:solidFill>
                <a:latin typeface="Arial"/>
                <a:ea typeface="Arial"/>
                <a:cs typeface="Arial"/>
              </a:rPr>
              <a:t>Students edit the recipe. Mentors prepare the support code.</a:t>
            </a:r>
          </a:p>
        </p:txBody>
      </p:sp>
    </p:spTree>
    <p:extLst>
      <p:ext uri="{BB962C8B-B14F-4D97-AF65-F5344CB8AC3E}">
        <p14:creationId xmlns:p14="http://schemas.microsoft.com/office/powerpoint/2010/main" val="16832919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918C7-35F1-448C-8BC4-BCD4B7AD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044"/>
                </a:solidFill>
                <a:latin typeface="Arial"/>
                <a:ea typeface="Arial"/>
                <a:cs typeface="Arial"/>
              </a:rPr>
              <a:t>Sensor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619569-BE7E-42C4-9AA6-0D74358E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A valid gap of 150 mm or less means parking is close.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A3352-5868-4186-BC8E-E505B860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A negative distance reading means check the sensor.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C59EC2-497E-4E40-B90E-AE2EFC43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A dark marker needs a measured reflection threshold.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23A41D-D80A-493F-A5DB-0BFEDE71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A movement limit means the target was not detected.</a:t>
            </a:r>
          </a:p>
        </p:txBody>
      </p:sp>
    </p:spTree>
    <p:extLst>
      <p:ext uri="{BB962C8B-B14F-4D97-AF65-F5344CB8AC3E}">
        <p14:creationId xmlns:p14="http://schemas.microsoft.com/office/powerpoint/2010/main" val="1400030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7B6EC0-3F25-4985-BCEE-32216139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044"/>
                </a:solidFill>
                <a:latin typeface="Arial"/>
                <a:ea typeface="Arial"/>
                <a:cs typeface="Arial"/>
              </a:rPr>
              <a:t>A small attachment and a fair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1A396B-96E7-4588-ADDD-D6D65616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Build and hand-test a guide for a lightweight cube.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A5A7B6-6701-48F5-B6F5-6CFBF43E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670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Keep wheels and the color sensor clear.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0D9954-E0BB-4E32-8623-D21ECD97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Test two designs with the same program and start.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6B749-F67F-498D-97FF-B665945C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958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Store each team’s removable attachment separately.</a:t>
            </a:r>
          </a:p>
        </p:txBody>
      </p:sp>
    </p:spTree>
    <p:extLst>
      <p:ext uri="{BB962C8B-B14F-4D97-AF65-F5344CB8AC3E}">
        <p14:creationId xmlns:p14="http://schemas.microsoft.com/office/powerpoint/2010/main" val="9239359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761022-7AE7-4B00-94A0-C64C9950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044"/>
                </a:solidFill>
                <a:latin typeface="Arial"/>
                <a:ea typeface="Arial"/>
                <a:cs typeface="Arial"/>
              </a:rPr>
              <a:t>The coaching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BB74A8-F1B5-44EF-88E3-14201213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04775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What did you expect?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6AA57-C3FF-496A-8D06-E44B8ACF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104775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What did you observe?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6FD73-B372-44FE-8FE5-207D3929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33875"/>
            <a:ext cx="104775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What one change could test your idea?</a:t>
            </a:r>
          </a:p>
        </p:txBody>
      </p:sp>
    </p:spTree>
    <p:extLst>
      <p:ext uri="{BB962C8B-B14F-4D97-AF65-F5344CB8AC3E}">
        <p14:creationId xmlns:p14="http://schemas.microsoft.com/office/powerpoint/2010/main" val="5845990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38FAFF-1A0A-48EF-B53C-44A05071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044"/>
                </a:solidFill>
                <a:latin typeface="Arial"/>
                <a:ea typeface="Arial"/>
                <a:cs typeface="Arial"/>
              </a:rPr>
              <a:t>Two teams of three share each robot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053E4A-57D4-4041-873E-6B5F8AE3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14–26 minutes   T1/T3 test. T2/T4 build.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1407B-D5EB-42B0-9167-931D8F36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670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26–38 minutes   Teams switch stations.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6CBD0F-B14D-4A8E-8316-570DE508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38–50 minutes   Each team gets a six-minute retest.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2E854-F537-419E-9D42-1599E1B6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958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Rotate three jobs in equal thirds of each turn.</a:t>
            </a:r>
          </a:p>
        </p:txBody>
      </p:sp>
    </p:spTree>
    <p:extLst>
      <p:ext uri="{BB962C8B-B14F-4D97-AF65-F5344CB8AC3E}">
        <p14:creationId xmlns:p14="http://schemas.microsoft.com/office/powerpoint/2010/main" val="8119522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2A87BC-9833-4B93-8BB6-40A344B1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044"/>
                </a:solidFill>
                <a:latin typeface="Arial"/>
                <a:ea typeface="Arial"/>
                <a:cs typeface="Arial"/>
              </a:rPr>
              <a:t>Ready to lead a pod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C4291F-1835-44FD-B8FD-04056612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Connect, stop, and restore a known-good project.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063C4-4772-46E2-B9D2-3EDD4602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670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Explain this week’s idea and its common mistakes.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20199-EBB4-4904-BAB3-D56D6AEB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Give all three students meaningful operating turns.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239547-43B1-4A68-AC77-866C0BA7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958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730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044"/>
                </a:solidFill>
                <a:latin typeface="Arial"/>
                <a:ea typeface="Arial"/>
                <a:cs typeface="Arial"/>
              </a:rPr>
              <a:t>Save the team’s work and record what actually happened.</a:t>
            </a:r>
          </a:p>
        </p:txBody>
      </p:sp>
    </p:spTree>
    <p:extLst>
      <p:ext uri="{BB962C8B-B14F-4D97-AF65-F5344CB8AC3E}">
        <p14:creationId xmlns:p14="http://schemas.microsoft.com/office/powerpoint/2010/main" val="6927220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2026-10-25T23:24:42.9980000Z</dcterms:created>
  <dcterms:modified xsi:type="dcterms:W3CDTF">2026-10-25T23:24:42.9980000Z</dcterms:modified>
</coreProperties>
</file>