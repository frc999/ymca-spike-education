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944428e2fc4508" /><Relationship Type="http://schemas.openxmlformats.org/officeDocument/2006/relationships/extended-properties" Target="/docProps/app.xml" Id="Rab849ff1fc454b2e" /><Relationship Type="http://schemas.openxmlformats.org/officeDocument/2006/relationships/officeDocument" Target="/ppt/presentation.xml" Id="Rc930b8c0100a43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9d38625a7e40a8"/>
  </p:sldMasterIdLst>
  <p:notesMasterIdLst>
    <p:notesMasterId xmlns:r="http://schemas.openxmlformats.org/officeDocument/2006/relationships" r:id="R9ae13038776d4780"/>
  </p:notesMasterIdLst>
  <p:sldIdLst>
    <p:sldId xmlns:r="http://schemas.openxmlformats.org/officeDocument/2006/relationships" id="256" r:id="Rb01e2c1302c04290"/>
    <p:sldId xmlns:r="http://schemas.openxmlformats.org/officeDocument/2006/relationships" id="257" r:id="R792313a95069415e"/>
    <p:sldId xmlns:r="http://schemas.openxmlformats.org/officeDocument/2006/relationships" id="258" r:id="R306da45ed3d145fb"/>
    <p:sldId xmlns:r="http://schemas.openxmlformats.org/officeDocument/2006/relationships" id="259" r:id="R1eec4dad7042439c"/>
    <p:sldId xmlns:r="http://schemas.openxmlformats.org/officeDocument/2006/relationships" id="260" r:id="R0fe28c54fb514b6d"/>
    <p:sldId xmlns:r="http://schemas.openxmlformats.org/officeDocument/2006/relationships" id="261" r:id="Rf65eced6fdd645b3"/>
    <p:sldId xmlns:r="http://schemas.openxmlformats.org/officeDocument/2006/relationships" id="262" r:id="R648b041900364c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0c05abfa7b4780" /><Relationship Type="http://schemas.openxmlformats.org/officeDocument/2006/relationships/slideMaster" Target="/ppt/slideMasters/slideMaster1.xml" Id="R499d38625a7e40a8" /><Relationship Type="http://schemas.openxmlformats.org/officeDocument/2006/relationships/notesMaster" Target="/ppt/notesMasters/notesMaster1.xml" Id="R9ae13038776d4780" /><Relationship Type="http://schemas.openxmlformats.org/officeDocument/2006/relationships/presProps" Target="/ppt/presProps.xml" Id="R9c163dacbac94532" /><Relationship Type="http://schemas.openxmlformats.org/officeDocument/2006/relationships/tableStyles" Target="/ppt/tableStyles.xml" Id="R93142de257354c52" /><Relationship Type="http://schemas.openxmlformats.org/officeDocument/2006/relationships/slide" Target="/ppt/slides/slide1.xml" Id="Rb01e2c1302c04290" /><Relationship Type="http://schemas.openxmlformats.org/officeDocument/2006/relationships/slide" Target="/ppt/slides/slide2.xml" Id="R792313a95069415e" /><Relationship Type="http://schemas.openxmlformats.org/officeDocument/2006/relationships/slide" Target="/ppt/slides/slide3.xml" Id="R306da45ed3d145fb" /><Relationship Type="http://schemas.openxmlformats.org/officeDocument/2006/relationships/slide" Target="/ppt/slides/slide4.xml" Id="R1eec4dad7042439c" /><Relationship Type="http://schemas.openxmlformats.org/officeDocument/2006/relationships/slide" Target="/ppt/slides/slide5.xml" Id="R0fe28c54fb514b6d" /><Relationship Type="http://schemas.openxmlformats.org/officeDocument/2006/relationships/slide" Target="/ppt/slides/slide6.xml" Id="Rf65eced6fdd645b3" /><Relationship Type="http://schemas.openxmlformats.org/officeDocument/2006/relationships/slide" Target="/ppt/slides/slide7.xml" Id="R648b041900364c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b29d4894c544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73f23d241e4686" /><Relationship Type="http://schemas.openxmlformats.org/officeDocument/2006/relationships/notesMaster" Target="/ppt/notesMasters/notesMaster1.xml" Id="Raf06bb0c116f49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c5b70c5213409b" /><Relationship Type="http://schemas.openxmlformats.org/officeDocument/2006/relationships/notesMaster" Target="/ppt/notesMasters/notesMaster1.xml" Id="R0afaaf391b184f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aa8688474c4e5c" /><Relationship Type="http://schemas.openxmlformats.org/officeDocument/2006/relationships/notesMaster" Target="/ppt/notesMasters/notesMaster1.xml" Id="R4a7fde0d344b4f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7d919119304cc2" /><Relationship Type="http://schemas.openxmlformats.org/officeDocument/2006/relationships/notesMaster" Target="/ppt/notesMasters/notesMaster1.xml" Id="Rbfc4aef8d02d48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0a9fd25e714fa0" /><Relationship Type="http://schemas.openxmlformats.org/officeDocument/2006/relationships/notesMaster" Target="/ppt/notesMasters/notesMaster1.xml" Id="Re78e4554fa0a40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9766e71fc049c2" /><Relationship Type="http://schemas.openxmlformats.org/officeDocument/2006/relationships/notesMaster" Target="/ppt/notesMasters/notesMaster1.xml" Id="Rf8723c24e13f4f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82c86324bc4e6b" /><Relationship Type="http://schemas.openxmlformats.org/officeDocument/2006/relationships/notesMaster" Target="/ppt/notesMasters/notesMaster1.xml" Id="R2c334e9133e448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0–5 minutes: welcome and retrieval. Who could use your robot, and what would count as a useful result?</a:t>
            </a:r>
          </a:p>
          <a:p xmlns:a="http://schemas.openxmlformats.org/drawingml/2006/main">
            <a:r>
              <a:t>Learning goal: Each pair breaks a community task into at least three ordered actions and tests the most uncertain part first.</a:t>
            </a:r>
          </a:p>
          <a:p xmlns:a="http://schemas.openxmlformats.org/drawingml/2006/main">
            <a:r>
              <a:t>Minimum success: The pair has a mission plan, one saved program, one tested subsystem, and a realistic demo goal for week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5–10 minutes, or 7–12 in week 8. Model a short plan: signal ready, approach the marker, report the result. Separate required behavior from an extra feature. A turn or obstacle route is optional only after the basic task works.</a:t>
            </a:r>
          </a:p>
          <a:p xmlns:a="http://schemas.openxmlformats.org/drawingml/2006/main">
            <a:r>
              <a:t>Preparation: Keep the same base and ports. Offer two core routes: supply delivery to a marker or careful parking near a shelf. Open W07_mission.py. Reserve a marked 100 × 100 cm area per kit. Each pair gets its own saved recipe.</a:t>
            </a:r>
          </a:p>
          <a:p xmlns:a="http://schemas.openxmlformats.org/drawingml/2006/main">
            <a:r>
              <a:t>The core challenge uses an assembled base and the supplied complete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discussion fragment. It belongs in the supplied project, not in an empty file. The student function is named student_recipe. Model a short plan: signal ready, approach the marker, report the result. Separate required behavior from an extra feature. A turn or obstacle route is optional only after the basic task works.</a:t>
            </a:r>
          </a:p>
          <a:p xmlns:a="http://schemas.openxmlformats.org/drawingml/2006/main">
            <a:r>
              <a:t>Expected reasoning: There is no single mission solution. A good plan names an observable outcome and a test of its least certain behavior. Both partners must explain a code choice.</a:t>
            </a:r>
          </a:p>
          <a:p xmlns:a="http://schemas.openxmlformats.org/drawingml/2006/main">
            <a:r>
              <a:t>Technical references: https://spike.legoeducation.com/prime/modal/help/lls-help-python ; https://tuftsceeo.github.io/SPIKEPythonDocs/SPIKE3.html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10–15 minutes in the standard lesson. Which part of your mission is most likely to fail? What small test could answer that before you run everything?</a:t>
            </a:r>
          </a:p>
          <a:p xmlns:a="http://schemas.openxmlformats.org/drawingml/2006/main">
            <a:r>
              <a:t>Do not reveal the answer immediately. Ask students to point to a line or a measured value. Expected reasoning: There is no single mission solution. A good plan names an observable outcome and a test of its least certain behavior. Both partners must explain a code choice.</a:t>
            </a:r>
          </a:p>
          <a:p xmlns:a="http://schemas.openxmlformats.org/drawingml/2006/main">
            <a:r>
              <a:t>Support: Offer the three-action example and a choice of only two missions. Remove extra turns. A working stationary sensor explanation is a legitimate reduced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Robot and planning rotations. 1. Choose marker delivery or shelf parking. Name a user and write three actions in order. Agree on a measurable goal, such as two controlled deliveries in three trials.</a:t>
            </a:r>
          </a:p>
          <a:p xmlns:a="http://schemas.openxmlformats.org/drawingml/2006/main">
            <a:r>
              <a:t>2. Reuse the previous function for the core job. Edit the mission selector and calibrated threshold or distance. Add a start or finish signal in the recipe. Mentor checks the selected mode before running.</a:t>
            </a:r>
          </a:p>
          <a:p xmlns:a="http://schemas.openxmlformats.org/drawingml/2006/main">
            <a:r>
              <a:t>3. During the first robot turn, test the riskiest part alone: sensor reading, attachment, or final stop. Record the result. Each student operates the program during the turn.</a:t>
            </a:r>
          </a:p>
          <a:p xmlns:a="http://schemas.openxmlformats.org/drawingml/2006/main">
            <a:r>
              <a:t>4. Join the actions into one run. Keep the start mark fixed. If adding a pivot, calibrate it in an empty area first, then record the value; the default starter deliberately uses a straight route.</a:t>
            </a:r>
          </a:p>
          <a:p xmlns:a="http://schemas.openxmlformats.org/drawingml/2006/main">
            <a:r>
              <a:t>5. During the final turn, try the full mission and prepare a 45-second explanation: user, program decision, result, and next improvement. Save both the recipe and a copy outside the app.</a:t>
            </a:r>
          </a:p>
          <a:p xmlns:a="http://schemas.openxmlformats.org/drawingml/2006/main">
            <a:r>
              <a:t>Off-robot task: Complete the mission blueprint and trace the code with a pencil. Rehearse the explanation with the other pair. Give feedback about one criterion, then revise the plan.</a:t>
            </a:r>
          </a:p>
          <a:p xmlns:a="http://schemas.openxmlformats.org/drawingml/2006/main">
            <a:r>
              <a:t>Week 8 schedule: 12–24 rehearsals, 24–28 setup, 28–44 demos. Otherwise 15–27 first pair, 27–39 second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39–49 minutes for improvement in standard lessons. User and need, ordered plan, criterion, first test result, and planned improvement. Preserve each pair’s own file even though the kit is shared.</a:t>
            </a:r>
          </a:p>
          <a:p xmlns:a="http://schemas.openxmlformats.org/drawingml/2006/main">
            <a:r>
              <a:t>Troubleshooting: Combined program fails: run one part at a time. Wrong pair program: check pair ID and save name. Mission too large: return to one sensor, one useful action, and a clear finish signal.</a:t>
            </a:r>
          </a:p>
          <a:p xmlns:a="http://schemas.openxmlformats.org/drawingml/2006/main">
            <a:r>
              <a:t>Optional extension: Add a calibrated turn or combine a delivery with a parking check, keeping bounded movement. Add a custom function name and explain its input.</a:t>
            </a:r>
          </a:p>
          <a:p xmlns:a="http://schemas.openxmlformats.org/drawingml/2006/main">
            <a:r>
              <a:t>If Python becomes a barrier, preserve the concept using this fallback: Choose the week 4 or week 5 bounded sensor stack, add a start signal and a result signal, and name the task. Students explain the same input, decision, and output as Python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49–54 minutes: individual explanation. Reserve 54–60 for saving and reset. There is no single mission solution. A good plan names an observable outcome and a test of its least certain behavior. Both partners must explain a code choice.</a:t>
            </a:r>
          </a:p>
          <a:p xmlns:a="http://schemas.openxmlformats.org/drawingml/2006/main">
            <a:r>
              <a:t>FRC teams split a larger challenge into testable subsystems.</a:t>
            </a:r>
          </a:p>
          <a:p xmlns:a="http://schemas.openxmlformats.org/drawingml/2006/main">
            <a:r>
              <a:t>Keep invitations to future activities optional and parent-mediated. Do not equate club attendance with FRC membership.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f954a8eade44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309a8fa920473e" /><Relationship Type="http://schemas.openxmlformats.org/officeDocument/2006/relationships/slideLayout" Target="/ppt/slideLayouts/slideLayout1.xml" Id="Rf9e120222d2d4b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e120222d2d4b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22d616d834897" /><Relationship Type="http://schemas.openxmlformats.org/officeDocument/2006/relationships/notesSlide" Target="/ppt/notesSlides/notesSlide1.xml" Id="R1f28eba9399443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f671acdbe447b" /><Relationship Type="http://schemas.openxmlformats.org/officeDocument/2006/relationships/notesSlide" Target="/ppt/notesSlides/notesSlide2.xml" Id="R15302f5401294e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5668a17314fe9" /><Relationship Type="http://schemas.openxmlformats.org/officeDocument/2006/relationships/notesSlide" Target="/ppt/notesSlides/notesSlide3.xml" Id="R5b0f9e8e6f0f4c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0e203aee94f45" /><Relationship Type="http://schemas.openxmlformats.org/officeDocument/2006/relationships/notesSlide" Target="/ppt/notesSlides/notesSlide4.xml" Id="R108de886fa144c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6de9fe01f488a" /><Relationship Type="http://schemas.openxmlformats.org/officeDocument/2006/relationships/notesSlide" Target="/ppt/notesSlides/notesSlide5.xml" Id="R9c550f87d08e4a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9f2799e864cd8" /><Relationship Type="http://schemas.openxmlformats.org/officeDocument/2006/relationships/notesSlide" Target="/ppt/notesSlides/notesSlide6.xml" Id="R023f116a67bd48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31de7a30e4018" /><Relationship Type="http://schemas.openxmlformats.org/officeDocument/2006/relationships/notesSlide" Target="/ppt/notesSlides/notesSlide7.xml" Id="R98c52f338a1640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6CAD1-954A-4792-AB54-538D1102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0572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Community robot 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B6FCD-CA0B-48B8-91D0-C71572F4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38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9DDADD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9DDADD"/>
                </a:solidFill>
                <a:latin typeface="Arial"/>
                <a:ea typeface="Arial"/>
                <a:cs typeface="Arial"/>
              </a:rPr>
              <a:t>Pairs choose and test a complete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CE096-A95B-403D-A1BD-3B1C1BD5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D4D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D4DC"/>
                </a:solidFill>
                <a:latin typeface="Arial"/>
                <a:ea typeface="Arial"/>
                <a:cs typeface="Arial"/>
              </a:rPr>
              <a:t>Week 7 · MechaRAMS at the YMCA</a:t>
            </a:r>
          </a:p>
        </p:txBody>
      </p:sp>
    </p:spTree>
    <p:extLst>
      <p:ext uri="{BB962C8B-B14F-4D97-AF65-F5344CB8AC3E}">
        <p14:creationId xmlns:p14="http://schemas.microsoft.com/office/powerpoint/2010/main" val="502736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32A9C-AD23-4929-BF7C-58DFB99E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Today’s robot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0883C-36A4-4FB9-8563-9EF236B0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A user and a useful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80EB7-3F57-4B49-B129-44EA0DD0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Three ordered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42B70-886E-4EC8-9328-3C1033F6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A measurable goal for the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3741769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1434D-B55B-45BC-BF55-A8C6256D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Decomposition and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C19C2-801E-4F70-8E2F-04949E41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572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mission = "marker"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if mission == "marker":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result = await seek_marker(threshold)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else: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result = await park(stop_mm)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print(result)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AE3D4-A8A6-4859-B977-694E5FD1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D4D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9D4DC"/>
                </a:solidFill>
                <a:latin typeface="Arial"/>
                <a:ea typeface="Arial"/>
                <a:cs typeface="Arial"/>
              </a:rPr>
              <a:t>Reading fragment from a complete supplied Python project</a:t>
            </a:r>
          </a:p>
        </p:txBody>
      </p:sp>
    </p:spTree>
    <p:extLst>
      <p:ext uri="{BB962C8B-B14F-4D97-AF65-F5344CB8AC3E}">
        <p14:creationId xmlns:p14="http://schemas.microsoft.com/office/powerpoint/2010/main" val="715496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8F128-2D1E-4303-BB40-064D9CFC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A prediction before the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07CF20-986D-421C-A851-DE53C599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Which part of your mission is least certain?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AECC-4547-4C15-BB4E-721C4990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0477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What small test could answer that first?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1947A-C9F1-402B-8EE7-99166309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Both partners explain a prediction before anyone presses Run.</a:t>
            </a:r>
          </a:p>
        </p:txBody>
      </p:sp>
    </p:spTree>
    <p:extLst>
      <p:ext uri="{BB962C8B-B14F-4D97-AF65-F5344CB8AC3E}">
        <p14:creationId xmlns:p14="http://schemas.microsoft.com/office/powerpoint/2010/main" val="1745956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7BD88-D1B1-470D-85FF-D8B7C670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Your work with a partner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5687D-2D9D-4364-8674-E85A2FBF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Driver: edit and start after the lane check.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B96EA-624B-43B2-87F9-1802D9F6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Navigator: predict, check, and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A9444-3BD3-4766-94AC-5439C8A6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Swap roles halfway through your robot turn.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BB7C6-0837-4A65-8CE5-4F155E02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Away from the robot: complete the worksheet task.</a:t>
            </a:r>
          </a:p>
        </p:txBody>
      </p:sp>
    </p:spTree>
    <p:extLst>
      <p:ext uri="{BB962C8B-B14F-4D97-AF65-F5344CB8AC3E}">
        <p14:creationId xmlns:p14="http://schemas.microsoft.com/office/powerpoint/2010/main" val="1389708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416F9-FAEC-4EF1-B336-5760A4A4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Evidence from our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3B5CF-C6BC-4F85-9198-6DAA4B2E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We changed ____________________.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E2358-653D-43AC-AFB0-BFD43903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We predicted ____________________.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9E8DE-1EFD-4083-95A5-98C3DD16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We observed ____________________.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84310-6E69-454B-9EBD-1D0B42DC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86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Our next test would ____________________.</a:t>
            </a:r>
          </a:p>
        </p:txBody>
      </p:sp>
    </p:spTree>
    <p:extLst>
      <p:ext uri="{BB962C8B-B14F-4D97-AF65-F5344CB8AC3E}">
        <p14:creationId xmlns:p14="http://schemas.microsoft.com/office/powerpoint/2010/main" val="1371880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C1270-71A8-49F0-84B0-0AB4D339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044"/>
                </a:solidFill>
                <a:latin typeface="Arial"/>
                <a:ea typeface="Arial"/>
                <a:cs typeface="Arial"/>
              </a:rPr>
              <a:t>What you can explain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C6B71-5E56-4F29-B72B-F0D9F744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047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3044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3044"/>
                </a:solidFill>
                <a:latin typeface="Arial"/>
                <a:ea typeface="Arial"/>
                <a:cs typeface="Arial"/>
              </a:rPr>
              <a:t>What evidence will show that your mission worked next week?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8DAF0-263F-44AC-BE54-7BD97E43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6E7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6E75"/>
                </a:solidFill>
                <a:latin typeface="Arial"/>
                <a:ea typeface="Arial"/>
                <a:cs typeface="Arial"/>
              </a:rPr>
              <a:t>Save your project. Reset the robot and parts for the next pair.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8A284-7357-4294-A5A2-72B4A6D5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A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A77"/>
                </a:solidFill>
                <a:latin typeface="Arial"/>
                <a:ea typeface="Arial"/>
                <a:cs typeface="Arial"/>
              </a:rPr>
              <a:t>FRC teams split a larger challenge into testable subsystems.</a:t>
            </a:r>
          </a:p>
        </p:txBody>
      </p:sp>
    </p:spTree>
    <p:extLst>
      <p:ext uri="{BB962C8B-B14F-4D97-AF65-F5344CB8AC3E}">
        <p14:creationId xmlns:p14="http://schemas.microsoft.com/office/powerpoint/2010/main" val="1012161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2026-10-02T02:44:04.3880000Z</dcterms:created>
  <dcterms:modified xsi:type="dcterms:W3CDTF">2026-10-02T02:44:04.3880000Z</dcterms:modified>
</coreProperties>
</file>