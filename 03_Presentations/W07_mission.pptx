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c82e24224d94d50" /><Relationship Type="http://schemas.openxmlformats.org/officeDocument/2006/relationships/extended-properties" Target="/docProps/app.xml" Id="Rcf23cdb7deb24413" /><Relationship Type="http://schemas.openxmlformats.org/officeDocument/2006/relationships/officeDocument" Target="/ppt/presentation.xml" Id="R757706927b5d450d" /></Relationships>
</file>

<file path=ppt/presentation.xml><?xml version="1.0" encoding="utf-8"?>
<p:presentation xmlns:p="http://schemas.openxmlformats.org/presentationml/2006/main">
  <p:sldMasterIdLst>
    <p:sldMasterId xmlns:r="http://schemas.openxmlformats.org/officeDocument/2006/relationships" id="2147483648" r:id="R9ef102d35dff4bb3"/>
  </p:sldMasterIdLst>
  <p:notesMasterIdLst>
    <p:notesMasterId xmlns:r="http://schemas.openxmlformats.org/officeDocument/2006/relationships" r:id="R7f7e51afd66c4ef8"/>
  </p:notesMasterIdLst>
  <p:sldIdLst>
    <p:sldId xmlns:r="http://schemas.openxmlformats.org/officeDocument/2006/relationships" id="256" r:id="R383f7f19d5fa4a52"/>
    <p:sldId xmlns:r="http://schemas.openxmlformats.org/officeDocument/2006/relationships" id="257" r:id="R64ea49c1d70149e4"/>
    <p:sldId xmlns:r="http://schemas.openxmlformats.org/officeDocument/2006/relationships" id="258" r:id="Rc2020253418c4a6d"/>
    <p:sldId xmlns:r="http://schemas.openxmlformats.org/officeDocument/2006/relationships" id="259" r:id="Rf6f2f8c428e746f1"/>
    <p:sldId xmlns:r="http://schemas.openxmlformats.org/officeDocument/2006/relationships" id="260" r:id="R9f3cd66578084029"/>
    <p:sldId xmlns:r="http://schemas.openxmlformats.org/officeDocument/2006/relationships" id="261" r:id="R66879e9a5632459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0a4e45e61a4781" /><Relationship Type="http://schemas.openxmlformats.org/officeDocument/2006/relationships/slideMaster" Target="/ppt/slideMasters/slideMaster1.xml" Id="R9ef102d35dff4bb3" /><Relationship Type="http://schemas.openxmlformats.org/officeDocument/2006/relationships/notesMaster" Target="/ppt/notesMasters/notesMaster1.xml" Id="R7f7e51afd66c4ef8" /><Relationship Type="http://schemas.openxmlformats.org/officeDocument/2006/relationships/presProps" Target="/ppt/presProps.xml" Id="R67040b2216bb4ccb" /><Relationship Type="http://schemas.openxmlformats.org/officeDocument/2006/relationships/tableStyles" Target="/ppt/tableStyles.xml" Id="R9e6792a756824c59" /><Relationship Type="http://schemas.openxmlformats.org/officeDocument/2006/relationships/slide" Target="/ppt/slides/slide1.xml" Id="R383f7f19d5fa4a52" /><Relationship Type="http://schemas.openxmlformats.org/officeDocument/2006/relationships/slide" Target="/ppt/slides/slide2.xml" Id="R64ea49c1d70149e4" /><Relationship Type="http://schemas.openxmlformats.org/officeDocument/2006/relationships/slide" Target="/ppt/slides/slide3.xml" Id="Rc2020253418c4a6d" /><Relationship Type="http://schemas.openxmlformats.org/officeDocument/2006/relationships/slide" Target="/ppt/slides/slide4.xml" Id="Rf6f2f8c428e746f1" /><Relationship Type="http://schemas.openxmlformats.org/officeDocument/2006/relationships/slide" Target="/ppt/slides/slide5.xml" Id="R9f3cd66578084029" /><Relationship Type="http://schemas.openxmlformats.org/officeDocument/2006/relationships/slide" Target="/ppt/slides/slide6.xml" Id="R66879e9a5632459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8aa18615604e5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1fbb0322ae4caf" /><Relationship Type="http://schemas.openxmlformats.org/officeDocument/2006/relationships/notesMaster" Target="/ppt/notesMasters/notesMaster1.xml" Id="Recabc524173541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183f05f44a374256" /><Relationship Type="http://schemas.openxmlformats.org/officeDocument/2006/relationships/notesMaster" Target="/ppt/notesMasters/notesMaster1.xml" Id="R4dfaa805bb5d46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3e413a1f1c564b09" /><Relationship Type="http://schemas.openxmlformats.org/officeDocument/2006/relationships/notesMaster" Target="/ppt/notesMasters/notesMaster1.xml" Id="R837abaedbf4c49f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bb11b2828d4420" /><Relationship Type="http://schemas.openxmlformats.org/officeDocument/2006/relationships/notesMaster" Target="/ppt/notesMasters/notesMaster1.xml" Id="Rf97df61f4e6a40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f9f63237e14ca9" /><Relationship Type="http://schemas.openxmlformats.org/officeDocument/2006/relationships/notesMaster" Target="/ppt/notesMasters/notesMaster1.xml" Id="R9c8f1b34201c43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ae9d6fd77a44fb7" /><Relationship Type="http://schemas.openxmlformats.org/officeDocument/2006/relationships/notesMaster" Target="/ppt/notesMasters/notesMaster1.xml" Id="R4a87b0ef123b4b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PREPARATION</a:t>
            </a:r>
          </a:p>
          <a:p xmlns:a="http://schemas.openxmlformats.org/drawingml/2006/main">
            <a:r>
              <a:t/>
            </a:r>
          </a:p>
          <a:p xmlns:a="http://schemas.openxmlformats.org/drawingml/2006/main">
            <a:r>
              <a:t>Week 7 Community robot mission</a:t>
            </a:r>
          </a:p>
          <a:p xmlns:a="http://schemas.openxmlformats.org/drawingml/2006/main">
            <a:r>
              <a:t/>
            </a:r>
          </a:p>
          <a:p xmlns:a="http://schemas.openxmlformats.org/drawingml/2006/main">
            <a:r>
              <a:t>Speaker notes for the six-slide class presentation. Use the slides as brief prompts and leave time for children to build, operate and explain. This is a robotics session with a small prepared Python recipe.</a:t>
            </a:r>
          </a:p>
          <a:p xmlns:a="http://schemas.openxmlformats.org/drawingml/2006/main">
            <a:r>
              <a:t/>
            </a:r>
          </a:p>
          <a:p xmlns:a="http://schemas.openxmlformats.org/drawingml/2006/main">
            <a:r>
              <a:t>Class setup</a:t>
            </a:r>
          </a:p>
          <a:p xmlns:a="http://schemas.openxmlformats.org/drawingml/2006/main">
            <a:r>
              <a:t/>
            </a:r>
          </a:p>
          <a:p xmlns:a="http://schemas.openxmlformats.org/drawingml/2006/main">
            <a:r>
              <a:t>12 children in grades 5–6 form four teams of three: T1/T2 share Kit A and T3/T4 share Kit B. Four student instructors cover two robot stations and two build tables; a fifth or sixth can float. The adult lead oversees the room and YMCA procedures. Bring four available laptops: two remain connected to robots and two show build references. Printed build cards make the build activity work with two laptops too.</a:t>
            </a:r>
          </a:p>
          <a:p xmlns:a="http://schemas.openxmlformats.org/drawingml/2006/main">
            <a:r>
              <a:t/>
            </a:r>
          </a:p>
          <a:p xmlns:a="http://schemas.openxmlformats.org/drawingml/2006/main">
            <a:r>
              <a:t>Learning goal Each team breaks a community task into at least three ordered actions and tests the most uncertain part first.</a:t>
            </a:r>
          </a:p>
          <a:p xmlns:a="http://schemas.openxmlformats.org/drawingml/2006/main">
            <a:r>
              <a:t/>
            </a:r>
          </a:p>
          <a:p xmlns:a="http://schemas.openxmlformats.org/drawingml/2006/main">
            <a:r>
              <a:t>Minimum success The team has a mission plan, one saved program, one tested subsystem, and a realistic demo goal for week 8.</a:t>
            </a:r>
          </a:p>
          <a:p xmlns:a="http://schemas.openxmlformats.org/drawingml/2006/main">
            <a:r>
              <a:t/>
            </a:r>
          </a:p>
          <a:p xmlns:a="http://schemas.openxmlformats.org/drawingml/2006/main">
            <a:r>
              <a:t>Prepare Keep the same base and ports. Offer two core routes: supply delivery to a marker or careful parking near a shelf. Open W07_mission.py. Reserve a marked 100 × 100 cm area per kit. Each team gets its own saved recipe. Prepare two mentor examples and four labeled team build packs. Rehearse attachment clearance, a hand test and a quick swap. Show the hub color guide.</a:t>
            </a:r>
          </a:p>
          <a:p xmlns:a="http://schemas.openxmlformats.org/drawingml/2006/main">
            <a:r>
              <a:t/>
            </a:r>
          </a:p>
          <a:p xmlns:a="http://schemas.openxmlformats.org/drawingml/2006/main">
            <a:r>
              <a:t>Materials and files Print and pack from the matching checklist in 01_Instructor/Class_Preparation. Use the team sheet and build card. Keep the original two bases assembled, A left/B right, auxiliary motor unplugged; add C/D only as the lessons require. Hardware rehearsal remains required.</a:t>
            </a:r>
          </a:p>
          <a:p xmlns:a="http://schemas.openxmlformats.org/drawingml/2006/main">
            <a:r>
              <a:t/>
            </a:r>
          </a:p>
          <a:p xmlns:a="http://schemas.openxmlformats.org/drawingml/2006/main">
            <a:r>
              <a:t>Slide 1 Community robot mission</a:t>
            </a:r>
          </a:p>
          <a:p xmlns:a="http://schemas.openxmlformats.org/drawingml/2006/main">
            <a:r>
              <a:t/>
            </a:r>
          </a:p>
          <a:p xmlns:a="http://schemas.openxmlformats.org/drawingml/2006/main">
            <a:r>
              <a:t>Timing 0–5 minutes</a:t>
            </a:r>
          </a:p>
          <a:p xmlns:a="http://schemas.openxmlformats.org/drawingml/2006/main">
            <a:r>
              <a:t/>
            </a:r>
          </a:p>
          <a:p xmlns:a="http://schemas.openxmlformats.org/drawingml/2006/main">
            <a:r>
              <a:t>Say “Today’s challenge is a community helper prototype. You will predict, test, and use evidence to explain your choice. All three teammates will operate and explain.”</a:t>
            </a:r>
          </a:p>
          <a:p xmlns:a="http://schemas.openxmlformats.org/drawingml/2006/main">
            <a:r>
              <a:t/>
            </a:r>
          </a:p>
          <a:p xmlns:a="http://schemas.openxmlformats.org/drawingml/2006/main">
            <a:r>
              <a:t>Ask before explaining Which design change improved your cube control, and what evidence showed that?</a:t>
            </a:r>
          </a:p>
          <a:p xmlns:a="http://schemas.openxmlformats.org/drawingml/2006/main">
            <a:r>
              <a:t/>
            </a:r>
          </a:p>
          <a:p xmlns:a="http://schemas.openxmlformats.org/drawingml/2006/main">
            <a:r>
              <a:t>Listen for Accept a specific change linked to an actual observation, including a change that did not help.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Todays robot challenge</a:t>
            </a:r>
          </a:p>
          <a:p xmlns:a="http://schemas.openxmlformats.org/drawingml/2006/main">
            <a:r>
              <a:t/>
            </a:r>
          </a:p>
          <a:p xmlns:a="http://schemas.openxmlformats.org/drawingml/2006/main">
            <a:r>
              <a:t>Timing 5–10 minutes</a:t>
            </a:r>
          </a:p>
          <a:p xmlns:a="http://schemas.openxmlformats.org/drawingml/2006/main">
            <a:r>
              <a:t/>
            </a:r>
          </a:p>
          <a:p xmlns:a="http://schemas.openxmlformats.org/drawingml/2006/main">
            <a:r>
              <a:t>Purpose Each team breaks a community task into at least three ordered actions and tests the most uncertain part first.</a:t>
            </a:r>
          </a:p>
          <a:p xmlns:a="http://schemas.openxmlformats.org/drawingml/2006/main">
            <a:r>
              <a:t/>
            </a:r>
          </a:p>
          <a:p xmlns:a="http://schemas.openxmlformats.org/drawingml/2006/main">
            <a:r>
              <a:t>Do and explain Model a short plan: signal ready, approach the marker, report the result. Separate required behavior from an extra feature. A turn or obstacle route is optional only after the basic task works.</a:t>
            </a:r>
          </a:p>
          <a:p xmlns:a="http://schemas.openxmlformats.org/drawingml/2006/main">
            <a:r>
              <a:t/>
            </a:r>
          </a:p>
          <a:p xmlns:a="http://schemas.openxmlformats.org/drawingml/2006/main">
            <a:r>
              <a:t>Suggested words “Our useful result today is this: The team has a mission plan, one saved program, one tested subsystem, and a realistic demo goal for week 8. A test that misses still gives us information if we record it accurately.”</a:t>
            </a:r>
          </a:p>
          <a:p xmlns:a="http://schemas.openxmlformats.org/drawingml/2006/main">
            <a:r>
              <a:t/>
            </a:r>
          </a:p>
          <a:p xmlns:a="http://schemas.openxmlformats.org/drawingml/2006/main">
            <a:r>
              <a:t>Ask “What did the robot do? What evidence could we record? What must stay the same when we compare the next run?” Let a different student answer each question.</a:t>
            </a:r>
          </a:p>
          <a:p xmlns:a="http://schemas.openxmlformats.org/drawingml/2006/main">
            <a:r>
              <a:t/>
            </a:r>
          </a:p>
          <a:p xmlns:a="http://schemas.openxmlformats.org/drawingml/2006/main">
            <a:r>
              <a:t>If the example fails Combined program fails: run one part at a time. Wrong team program: check team ID and save name. Mission too large: return to one sensor, one useful action, and a clear finish signal. Allow one quick reset, then use the prepared stationary or paper explanation. Student testing time should not become a repair demonstration.</a:t>
            </a:r>
          </a:p>
          <a:p xmlns:a="http://schemas.openxmlformats.org/drawingml/2006/main">
            <a:r>
              <a:t/>
            </a:r>
          </a:p>
          <a:p xmlns:a="http://schemas.openxmlformats.org/drawingml/2006/main">
            <a:r>
              <a:t>Hub check Read the light on the correct button: steady green center means powered on with a compatible OS and at least 20% battery; flashing orange center means charge; flashing red center means stop, power off and cool for 15 minutes. White center needs a compatible OS; flashing purple center means updating. Blue is the connection button: flashing means waiting for Bluetooth, steady means connected. A display letter is a program output, not a battery or connection status. See the full SPIKE Hub Color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Decomposition and integration and prediction</a:t>
            </a:r>
          </a:p>
          <a:p xmlns:a="http://schemas.openxmlformats.org/drawingml/2006/main">
            <a:r>
              <a:t/>
            </a:r>
          </a:p>
          <a:p xmlns:a="http://schemas.openxmlformats.org/drawingml/2006/main">
            <a:r>
              <a:t>Timing 10–14 minutes</a:t>
            </a:r>
          </a:p>
          <a:p xmlns:a="http://schemas.openxmlformats.org/drawingml/2006/main">
            <a:r>
              <a:t/>
            </a:r>
          </a:p>
          <a:p xmlns:a="http://schemas.openxmlformats.org/drawingml/2006/main">
            <a:r>
              <a:t>mission = "marker"</a:t>
            </a:r>
          </a:p>
          <a:p xmlns:a="http://schemas.openxmlformats.org/drawingml/2006/main">
            <a:r>
              <a:t>if mission == "marker":</a:t>
            </a:r>
          </a:p>
          <a:p xmlns:a="http://schemas.openxmlformats.org/drawingml/2006/main">
            <a:r>
              <a:t>    result = await seek_marker(threshold)</a:t>
            </a:r>
          </a:p>
          <a:p xmlns:a="http://schemas.openxmlformats.org/drawingml/2006/main">
            <a:r>
              <a:t>else:</a:t>
            </a:r>
          </a:p>
          <a:p xmlns:a="http://schemas.openxmlformats.org/drawingml/2006/main">
            <a:r>
              <a:t>    result = await park(stop_mm)</a:t>
            </a:r>
          </a:p>
          <a:p xmlns:a="http://schemas.openxmlformats.org/drawingml/2006/main">
            <a:r>
              <a:t>print(result)</a:t>
            </a:r>
          </a:p>
          <a:p xmlns:a="http://schemas.openxmlformats.org/drawingml/2006/main">
            <a:r>
              <a:t/>
            </a:r>
          </a:p>
          <a:p xmlns:a="http://schemas.openxmlformats.org/drawingml/2006/main">
            <a:r>
              <a:t>Say “Break the useful job into small actions. Choose the least certain part and test that before connecting everything.”</a:t>
            </a:r>
          </a:p>
          <a:p xmlns:a="http://schemas.openxmlformats.org/drawingml/2006/main">
            <a:r>
              <a:t/>
            </a:r>
          </a:p>
          <a:p xmlns:a="http://schemas.openxmlformats.org/drawingml/2006/main">
            <a:r>
              <a:t>Point The slide summarizes the two routes. The full starter accepts exactly "marker" or "parking". It uses elif for parking and raises an error for any other value; the slide’s shorter else is not the complete validation logic.</a:t>
            </a:r>
          </a:p>
          <a:p xmlns:a="http://schemas.openxmlformats.org/drawingml/2006/main">
            <a:r>
              <a:t/>
            </a:r>
          </a:p>
          <a:p xmlns:a="http://schemas.openxmlformats.org/drawingml/2006/main">
            <a:r>
              <a:t>Keep scope achievable Use the calibrated threshold or parking distance from earlier sessions. A finish result must describe the actual helper outcome. Keep one straight route until it works; only then consider a calibrated pivot. Preserve the movement limits.</a:t>
            </a:r>
          </a:p>
          <a:p xmlns:a="http://schemas.openxmlformats.org/drawingml/2006/main">
            <a:r>
              <a:t/>
            </a:r>
          </a:p>
          <a:p xmlns:a="http://schemas.openxmlformats.org/drawingml/2006/main">
            <a:r>
              <a:t>Ask Which part of your mission is most likely to fail? What small test could answer that before you run everything?</a:t>
            </a:r>
          </a:p>
          <a:p xmlns:a="http://schemas.openxmlformats.org/drawingml/2006/main">
            <a:r>
              <a:t/>
            </a:r>
          </a:p>
          <a:p xmlns:a="http://schemas.openxmlformats.org/drawingml/2006/main">
            <a:r>
              <a:t>Expected reasoning There is no single mission solution. A good plan names an observable outcome and a test of its least certain behavior. All three teammates must explain a code choice.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Our robot and build jobs</a:t>
            </a:r>
          </a:p>
          <a:p xmlns:a="http://schemas.openxmlformats.org/drawingml/2006/main">
            <a:r>
              <a:t/>
            </a:r>
          </a:p>
          <a:p xmlns:a="http://schemas.openxmlformats.org/drawingml/2006/main">
            <a:r>
              <a:t>Timing 14–38 then retests minutes</a:t>
            </a:r>
          </a:p>
          <a:p xmlns:a="http://schemas.openxmlformats.org/drawingml/2006/main">
            <a:r>
              <a:t/>
            </a:r>
          </a:p>
          <a:p xmlns:a="http://schemas.openxmlformats.org/drawingml/2006/main">
            <a:r>
              <a:t>Station map 14–26: T1/T3 use robots and T2/T4 build. 26–38: teams switch stations. 38–44: T1/T3 retest while the other teams finish builds. 44–50: T2/T4 retest. Rotate roles at 18, 22, 30, 34, 40, 42, 46 and 48 minutes. Each team has 18 robot minutes, giving each child about six minutes as driver plus handling, observing and building. Transitions occur within these blocks.</a:t>
            </a:r>
          </a:p>
          <a:p xmlns:a="http://schemas.openxmlformats.org/drawingml/2006/main">
            <a:r>
              <a:t/>
            </a:r>
          </a:p>
          <a:p xmlns:a="http://schemas.openxmlformats.org/drawingml/2006/main">
            <a:r>
              <a:t>Jobs At the robot, the driver edits and starts after “clear.” The navigator reads the step, predicts, positions the stopped robot and payload, fits an approved attachment and checks the lane. The observer watches, measures and records one number, tick or phrase. Rotate all three jobs every four minutes in the first turn and every two minutes in the retest. At the build table, rotate builder, designer/parts manager and tester/reporter on the same timer. Everyone contributes hands-on work.</a:t>
            </a:r>
          </a:p>
          <a:p xmlns:a="http://schemas.openxmlformats.org/drawingml/2006/main">
            <a:r>
              <a:t/>
            </a:r>
          </a:p>
          <a:p xmlns:a="http://schemas.openxmlformats.org/drawingml/2006/main">
            <a:r>
              <a:t>Robot steps 1. Choose marker delivery or shelf parking. Name a user and write three actions in order. Agree on a measurable goal, such as two controlled deliveries in three trials. 2. Reuse the previous function for the core job. Edit the mission selector and calibrated threshold or distance. Add a start or finish signal in the recipe. Mentor checks the selected mode before running. 3. During the first robot turn, test the riskiest part alone: sensor reading, attachment, or final stop. Record the result. Each student operates the program during the turn. 4. Join the actions into one run. Keep the start mark fixed. If adding a pivot, calibrate it in an empty area first, then record the value; the default starter deliberately uses a straight route. 5. During the final turn, try the full mission and prepare a 45-second explanation: user, program decision, result, and next improvement. Save both the recipe and a copy outside the app.</a:t>
            </a:r>
          </a:p>
          <a:p xmlns:a="http://schemas.openxmlformats.org/drawingml/2006/main">
            <a:r>
              <a:t/>
            </a:r>
          </a:p>
          <a:p xmlns:a="http://schemas.openxmlformats.org/drawingml/2006/main">
            <a:r>
              <a:t>Build A small community mission scene. Build a small scene or improve an attachment for a chosen community job. Choose a user and one job: deliver to a floor marker or stop near a garage wall. Build the matching destination, useful attachment or model of the user’s need. Hand-test the scene, identify one weak feature and improve it. Test: One useful job, a clear route and a visible success condition; no new untested electronics.</a:t>
            </a:r>
          </a:p>
          <a:p xmlns:a="http://schemas.openxmlformats.org/drawingml/2006/main">
            <a:r>
              <a:t/>
            </a:r>
          </a:p>
          <a:p xmlns:a="http://schemas.openxmlformats.org/drawingml/2006/main">
            <a:r>
              <a:t>Connection to robot The robot uses one familiar tested mission. T1/T3 can test with mentor course pieces before their own scene is built. Combine the approved scene and program in the retest.</a:t>
            </a:r>
          </a:p>
          <a:p xmlns:a="http://schemas.openxmlformats.org/drawingml/2006/main">
            <a:r>
              <a:t/>
            </a:r>
          </a:p>
          <a:p xmlns:a="http://schemas.openxmlformats.org/drawingml/2006/main">
            <a:r>
              <a:t>Coaching Ask for an observation before suggesting a change. Help with one connection or edit, then return control. Typing can be assisted; the child still chooses, predicts and starts the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Evidence from our test</a:t>
            </a:r>
          </a:p>
          <a:p xmlns:a="http://schemas.openxmlformats.org/drawingml/2006/main">
            <a:r>
              <a:t/>
            </a:r>
          </a:p>
          <a:p xmlns:a="http://schemas.openxmlformats.org/drawingml/2006/main">
            <a:r>
              <a:t>Timing 38–50 minutes in two six-minute retests.</a:t>
            </a:r>
          </a:p>
          <a:p xmlns:a="http://schemas.openxmlformats.org/drawingml/2006/main">
            <a:r>
              <a:t/>
            </a:r>
          </a:p>
          <a:p xmlns:a="http://schemas.openxmlformats.org/drawingml/2006/main">
            <a:r>
              <a:t>Evidence At the robot: each child makes a prediction and takes a driver turn. Keep one number, tick or short phrase per trial. At the build table: show the model and its hand-test result. User and need, ordered plan, criterion, first test result, and planned improvement. Preserve each team’s own file even though the kit is shared.</a:t>
            </a:r>
          </a:p>
          <a:p xmlns:a="http://schemas.openxmlformats.org/drawingml/2006/main">
            <a:r>
              <a:t/>
            </a:r>
          </a:p>
          <a:p xmlns:a="http://schemas.openxmlformats.org/drawingml/2006/main">
            <a:r>
              <a:t>Ask What changed? What stayed the same? What did the real run show? Record a tick, short phrase or number at the robot. The build table tests the model by hand rather than repeating a worksheet.</a:t>
            </a:r>
          </a:p>
          <a:p xmlns:a="http://schemas.openxmlformats.org/drawingml/2006/main">
            <a:r>
              <a:t/>
            </a:r>
          </a:p>
          <a:p xmlns:a="http://schemas.openxmlformats.org/drawingml/2006/main">
            <a:r>
              <a:t>Troubleshooting Combined program fails: run one part at a time. Wrong team program: check team ID and save name. Mission too large: return to one sensor, one useful action, and a clear finish signal.</a:t>
            </a:r>
          </a:p>
          <a:p xmlns:a="http://schemas.openxmlformats.org/drawingml/2006/main">
            <a:r>
              <a:t/>
            </a:r>
          </a:p>
          <a:p xmlns:a="http://schemas.openxmlformats.org/drawingml/2006/main">
            <a:r>
              <a:t>Support Offer the three-action example and a choice of only two missions. Remove extra turns. A working stationary sensor explanation is a legitimate reduced demo.</a:t>
            </a:r>
          </a:p>
          <a:p xmlns:a="http://schemas.openxmlformats.org/drawingml/2006/main">
            <a:r>
              <a:t/>
            </a:r>
          </a:p>
          <a:p xmlns:a="http://schemas.openxmlformats.org/drawingml/2006/main">
            <a:r>
              <a:t>Extension Add a calibrated turn or combine a delivery with a parking check, keeping bounded movement. Add a custom function name and explain its input.</a:t>
            </a:r>
          </a:p>
          <a:p xmlns:a="http://schemas.openxmlformats.org/drawingml/2006/main">
            <a:r>
              <a:t/>
            </a:r>
          </a:p>
          <a:p xmlns:a="http://schemas.openxmlformats.org/drawingml/2006/main">
            <a:r>
              <a:t>If needed Choose the week 4 or week 5 bounded sensor stack, add a start signal and a result signal, and name the task. Students explain the same input, decision, and output as Python users.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What we learned and noticed</a:t>
            </a:r>
          </a:p>
          <a:p xmlns:a="http://schemas.openxmlformats.org/drawingml/2006/main">
            <a:r>
              <a:t/>
            </a:r>
          </a:p>
          <a:p xmlns:a="http://schemas.openxmlformats.org/drawingml/2006/main">
            <a:r>
              <a:t>Timing 50–54 minutes for reflection; 54–60 for saving, packing and pickup.</a:t>
            </a:r>
          </a:p>
          <a:p xmlns:a="http://schemas.openxmlformats.org/drawingml/2006/main">
            <a:r>
              <a:t/>
            </a:r>
          </a:p>
          <a:p xmlns:a="http://schemas.openxmlformats.org/drawingml/2006/main">
            <a:r>
              <a:t>Ask each child What did you learn while combining your mission? What did you observe in your first complete test? What will you improve before the showcase?</a:t>
            </a:r>
          </a:p>
          <a:p xmlns:a="http://schemas.openxmlformats.org/drawingml/2006/main">
            <a:r>
              <a:t/>
            </a:r>
          </a:p>
          <a:p xmlns:a="http://schemas.openxmlformats.org/drawingml/2006/main">
            <a:r>
              <a:t>Facilitate Run two pod conversations in parallel. Give each of the six children about 20–30 seconds for one chosen prompt. Invite a concrete observation from the robot or build. Accept pointing, a demonstration or a short sentence.</a:t>
            </a:r>
          </a:p>
          <a:p xmlns:a="http://schemas.openxmlformats.org/drawingml/2006/main">
            <a:r>
              <a:t/>
            </a:r>
          </a:p>
          <a:p xmlns:a="http://schemas.openxmlformats.org/drawingml/2006/main">
            <a:r>
              <a:t>Listen for There is no single mission solution. A good plan names an observable outcome and a test of its least certain behavior. All three teammates must explain a code choice.</a:t>
            </a:r>
          </a:p>
          <a:p xmlns:a="http://schemas.openxmlformats.org/drawingml/2006/main">
            <a:r>
              <a:t/>
            </a:r>
          </a:p>
          <a:p xmlns:a="http://schemas.openxmlformats.org/drawingml/2006/main">
            <a:r>
              <a:t>Close Save T1–T4 projects, stop and park both robots, remove only approved temporary attachments, store four labeled builds and count parts. Follow YMCA pickup procedures.</a:t>
            </a:r>
          </a:p>
          <a:p xmlns:a="http://schemas.openxmlformats.org/drawingml/2006/main">
            <a:r>
              <a:t/>
            </a:r>
          </a:p>
          <a:p xmlns:a="http://schemas.openxmlformats.org/drawingml/2006/main">
            <a:r>
              <a:t>Optional connection FRC teams split a larger challenge into testable subsystems.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b8fae390c144a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d3a96ec6a8e4e75" /><Relationship Type="http://schemas.openxmlformats.org/officeDocument/2006/relationships/slideLayout" Target="/ppt/slideLayouts/slideLayout1.xml" Id="Rc7dea62d599049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7dea62d599049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ab36ee0ed4f4953" /><Relationship Type="http://schemas.openxmlformats.org/officeDocument/2006/relationships/notesSlide" Target="/ppt/notesSlides/notesSlide1.xml" Id="R6c9b30cdd28f47c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cef1ffafd564e81" /><Relationship Type="http://schemas.openxmlformats.org/officeDocument/2006/relationships/notesSlide" Target="/ppt/notesSlides/notesSlide2.xml" Id="R8e1e0fcc197845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d2b517bb15c4e49" /><Relationship Type="http://schemas.openxmlformats.org/officeDocument/2006/relationships/notesSlide" Target="/ppt/notesSlides/notesSlide3.xml" Id="R49b4e758016e49e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6e733e52c2046e6" /><Relationship Type="http://schemas.openxmlformats.org/officeDocument/2006/relationships/notesSlide" Target="/ppt/notesSlides/notesSlide4.xml" Id="Rf0edea81b3994e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5e2ecaa64894e1f" /><Relationship Type="http://schemas.openxmlformats.org/officeDocument/2006/relationships/notesSlide" Target="/ppt/notesSlides/notesSlide5.xml" Id="R74fe8292bf114bd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90f0f7367424a9f" /><Relationship Type="http://schemas.openxmlformats.org/officeDocument/2006/relationships/notesSlide" Target="/ppt/notesSlides/notesSlide6.xml" Id="R782cebb6008c49cf"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616CAD1-954A-4792-AB54-538D1102C6A1}"/>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100" b="1">
                <a:solidFill>
                  <a:srgbClr val="FFFFFF"/>
                </a:solidFill>
                <a:latin typeface="Arial"/>
                <a:ea typeface="Arial"/>
                <a:cs typeface="Arial"/>
              </a:defRPr>
            </a:pPr>
            <a:r>
              <a:rPr sz="5100" b="1">
                <a:solidFill>
                  <a:srgbClr val="FFFFFF"/>
                </a:solidFill>
                <a:latin typeface="Arial"/>
                <a:ea typeface="Arial"/>
                <a:cs typeface="Arial"/>
              </a:rPr>
              <a:t>Community robot mission</a:t>
            </a:r>
          </a:p>
        </p:txBody>
      </p:sp>
      <p:sp>
        <p:nvSpPr>
          <p:cNvPr id="2" name="">
            <a:extLst xmlns:a="http://schemas.openxmlformats.org/drawingml/2006/main">
              <a:ext uri="{FF2B5EF4-FFF2-40B4-BE49-F238E27FC236}">
                <a16:creationId xmlns:a16="http://schemas.microsoft.com/office/drawing/2014/main" id="{760B6FCD-CA0B-48B8-91D0-C71572F49B23}"/>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a:solidFill>
                  <a:srgbClr val="9DDADD"/>
                </a:solidFill>
                <a:latin typeface="Arial"/>
                <a:ea typeface="Arial"/>
                <a:cs typeface="Arial"/>
              </a:defRPr>
            </a:defPPr>
          </a:lstStyle>
          <a:p xmlns:a="http://schemas.openxmlformats.org/drawingml/2006/main">
            <a:pPr>
              <a:buNone/>
              <a:defRPr sz="2400" b="0">
                <a:solidFill>
                  <a:srgbClr val="9DDADD"/>
                </a:solidFill>
                <a:latin typeface="Arial"/>
                <a:ea typeface="Arial"/>
                <a:cs typeface="Arial"/>
              </a:defRPr>
            </a:pPr>
            <a:r>
              <a:rPr sz="2400" b="0">
                <a:solidFill>
                  <a:srgbClr val="9DDADD"/>
                </a:solidFill>
                <a:latin typeface="Arial"/>
                <a:ea typeface="Arial"/>
                <a:cs typeface="Arial"/>
              </a:rPr>
              <a:t>Teams choose and test a complete job</a:t>
            </a:r>
          </a:p>
        </p:txBody>
      </p:sp>
      <p:sp>
        <p:nvSpPr>
          <p:cNvPr id="3" name="">
            <a:extLst xmlns:a="http://schemas.openxmlformats.org/drawingml/2006/main">
              <a:ext uri="{FF2B5EF4-FFF2-40B4-BE49-F238E27FC236}">
                <a16:creationId xmlns:a16="http://schemas.microsoft.com/office/drawing/2014/main" id="{6D0CE096-A95B-403D-A1BD-3B1C1BD5031B}"/>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Week 7 · MechaRAMS at the YMCA</a:t>
            </a:r>
          </a:p>
        </p:txBody>
      </p:sp>
    </p:spTree>
    <p:extLst>
      <p:ext uri="{BB962C8B-B14F-4D97-AF65-F5344CB8AC3E}">
        <p14:creationId xmlns:p14="http://schemas.microsoft.com/office/powerpoint/2010/main" val="502736925"/>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9332A9C-AD23-4929-BF7C-58DFB99E7DDE}"/>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C680883C-36A4-4FB9-8563-9EF236B081A8}"/>
              </a:ext>
            </a:extLst>
          </p:cNvPr>
          <p:cNvSpPr>
            <a:spLocks xmlns:a="http://schemas.openxmlformats.org/drawingml/2006/main" noGrp="1"/>
          </p:cNvSpPr>
          <p:nvPr/>
        </p:nvSpPr>
        <p:spPr>
          <a:xfrm xmlns:a="http://schemas.openxmlformats.org/drawingml/2006/main">
            <a:off x="762000" y="19526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user and a useful job</a:t>
            </a:r>
          </a:p>
        </p:txBody>
      </p:sp>
      <p:sp>
        <p:nvSpPr>
          <p:cNvPr id="3" name="">
            <a:extLst xmlns:a="http://schemas.openxmlformats.org/drawingml/2006/main">
              <a:ext uri="{FF2B5EF4-FFF2-40B4-BE49-F238E27FC236}">
                <a16:creationId xmlns:a16="http://schemas.microsoft.com/office/drawing/2014/main" id="{29980EB7-3F57-4B49-B129-44EA0DD03746}"/>
              </a:ext>
            </a:extLst>
          </p:cNvPr>
          <p:cNvSpPr>
            <a:spLocks xmlns:a="http://schemas.openxmlformats.org/drawingml/2006/main" noGrp="1"/>
          </p:cNvSpPr>
          <p:nvPr/>
        </p:nvSpPr>
        <p:spPr>
          <a:xfrm xmlns:a="http://schemas.openxmlformats.org/drawingml/2006/main">
            <a:off x="762000" y="30575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Three ordered actions</a:t>
            </a:r>
          </a:p>
        </p:txBody>
      </p:sp>
      <p:sp>
        <p:nvSpPr>
          <p:cNvPr id="4" name="">
            <a:extLst xmlns:a="http://schemas.openxmlformats.org/drawingml/2006/main">
              <a:ext uri="{FF2B5EF4-FFF2-40B4-BE49-F238E27FC236}">
                <a16:creationId xmlns:a16="http://schemas.microsoft.com/office/drawing/2014/main" id="{67A42B70-886E-4EC8-9328-3C1033F67815}"/>
              </a:ext>
            </a:extLst>
          </p:cNvPr>
          <p:cNvSpPr>
            <a:spLocks xmlns:a="http://schemas.openxmlformats.org/drawingml/2006/main" noGrp="1"/>
          </p:cNvSpPr>
          <p:nvPr/>
        </p:nvSpPr>
        <p:spPr>
          <a:xfrm xmlns:a="http://schemas.openxmlformats.org/drawingml/2006/main">
            <a:off x="762000" y="41624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measurable goal for the demonstration</a:t>
            </a:r>
          </a:p>
        </p:txBody>
      </p:sp>
      <p:sp>
        <p:nvSpPr>
          <p:cNvPr id="6" name="">
            <a:extLst xmlns:a="http://schemas.openxmlformats.org/drawingml/2006/main">
              <a:ext uri="{FF2B5EF4-FFF2-40B4-BE49-F238E27FC236}">
                <a16:creationId xmlns:a16="http://schemas.microsoft.com/office/drawing/2014/main" id="{721B4C50-1D65-40FC-80B0-40597A350956}"/>
              </a:ext>
            </a:extLst>
          </p:cNvPr>
          <p:cNvSpPr>
            <a:spLocks xmlns:a="http://schemas.openxmlformats.org/drawingml/2006/main" noGrp="1"/>
          </p:cNvSpPr>
          <p:nvPr/>
        </p:nvSpPr>
        <p:spPr>
          <a:xfrm xmlns:a="http://schemas.openxmlformats.org/drawingml/2006/main">
            <a:off x="762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7713A"/>
                </a:solidFill>
                <a:latin typeface="Arial"/>
                <a:ea typeface="Arial"/>
                <a:cs typeface="Arial"/>
              </a:defRPr>
            </a:defPPr>
          </a:lstStyle>
          <a:p xmlns:a="http://schemas.openxmlformats.org/drawingml/2006/main">
            <a:pPr>
              <a:buNone/>
              <a:defRPr sz="1575" b="1">
                <a:solidFill>
                  <a:srgbClr val="17713A"/>
                </a:solidFill>
                <a:latin typeface="Arial"/>
                <a:ea typeface="Arial"/>
                <a:cs typeface="Arial"/>
              </a:defRPr>
            </a:pPr>
            <a:r>
              <a:rPr sz="1575" b="1">
                <a:solidFill>
                  <a:srgbClr val="17713A"/>
                </a:solidFill>
                <a:latin typeface="Arial"/>
                <a:ea typeface="Arial"/>
                <a:cs typeface="Arial"/>
              </a:rPr>
              <a:t>GREEN steady: on</a:t>
            </a:r>
          </a:p>
        </p:txBody>
      </p:sp>
      <p:sp>
        <p:nvSpPr>
          <p:cNvPr id="7" name="">
            <a:extLst xmlns:a="http://schemas.openxmlformats.org/drawingml/2006/main">
              <a:ext uri="{FF2B5EF4-FFF2-40B4-BE49-F238E27FC236}">
                <a16:creationId xmlns:a16="http://schemas.microsoft.com/office/drawing/2014/main" id="{7DFEF3E3-B9B8-4169-A0BF-BB140F88AA27}"/>
              </a:ext>
            </a:extLst>
          </p:cNvPr>
          <p:cNvSpPr>
            <a:spLocks xmlns:a="http://schemas.openxmlformats.org/drawingml/2006/main" noGrp="1"/>
          </p:cNvSpPr>
          <p:nvPr/>
        </p:nvSpPr>
        <p:spPr>
          <a:xfrm xmlns:a="http://schemas.openxmlformats.org/drawingml/2006/main">
            <a:off x="43815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915500"/>
                </a:solidFill>
                <a:latin typeface="Arial"/>
                <a:ea typeface="Arial"/>
                <a:cs typeface="Arial"/>
              </a:defRPr>
            </a:defPPr>
          </a:lstStyle>
          <a:p xmlns:a="http://schemas.openxmlformats.org/drawingml/2006/main">
            <a:pPr>
              <a:buNone/>
              <a:defRPr sz="1575" b="1">
                <a:solidFill>
                  <a:srgbClr val="915500"/>
                </a:solidFill>
                <a:latin typeface="Arial"/>
                <a:ea typeface="Arial"/>
                <a:cs typeface="Arial"/>
              </a:defRPr>
            </a:pPr>
            <a:r>
              <a:rPr sz="1575" b="1">
                <a:solidFill>
                  <a:srgbClr val="915500"/>
                </a:solidFill>
                <a:latin typeface="Arial"/>
                <a:ea typeface="Arial"/>
                <a:cs typeface="Arial"/>
              </a:rPr>
              <a:t>ORANGE flashing: charge</a:t>
            </a:r>
          </a:p>
        </p:txBody>
      </p:sp>
      <p:sp>
        <p:nvSpPr>
          <p:cNvPr id="8" name="">
            <a:extLst xmlns:a="http://schemas.openxmlformats.org/drawingml/2006/main">
              <a:ext uri="{FF2B5EF4-FFF2-40B4-BE49-F238E27FC236}">
                <a16:creationId xmlns:a16="http://schemas.microsoft.com/office/drawing/2014/main" id="{BA9FF71F-431F-4679-9E89-3B2B9F8B8F6C}"/>
              </a:ext>
            </a:extLst>
          </p:cNvPr>
          <p:cNvSpPr>
            <a:spLocks xmlns:a="http://schemas.openxmlformats.org/drawingml/2006/main" noGrp="1"/>
          </p:cNvSpPr>
          <p:nvPr/>
        </p:nvSpPr>
        <p:spPr>
          <a:xfrm xmlns:a="http://schemas.openxmlformats.org/drawingml/2006/main">
            <a:off x="8001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B1292D"/>
                </a:solidFill>
                <a:latin typeface="Arial"/>
                <a:ea typeface="Arial"/>
                <a:cs typeface="Arial"/>
              </a:defRPr>
            </a:defPPr>
          </a:lstStyle>
          <a:p xmlns:a="http://schemas.openxmlformats.org/drawingml/2006/main">
            <a:pPr>
              <a:buNone/>
              <a:defRPr sz="1575" b="1">
                <a:solidFill>
                  <a:srgbClr val="B1292D"/>
                </a:solidFill>
                <a:latin typeface="Arial"/>
                <a:ea typeface="Arial"/>
                <a:cs typeface="Arial"/>
              </a:defRPr>
            </a:pPr>
            <a:r>
              <a:rPr sz="1575" b="1">
                <a:solidFill>
                  <a:srgbClr val="B1292D"/>
                </a:solidFill>
                <a:latin typeface="Arial"/>
                <a:ea typeface="Arial"/>
                <a:cs typeface="Arial"/>
              </a:rPr>
              <a:t>RED flashing: stop + mentor</a:t>
            </a:r>
          </a:p>
        </p:txBody>
      </p:sp>
      <p:sp>
        <p:nvSpPr>
          <p:cNvPr id="9" name="">
            <a:extLst xmlns:a="http://schemas.openxmlformats.org/drawingml/2006/main">
              <a:ext uri="{FF2B5EF4-FFF2-40B4-BE49-F238E27FC236}">
                <a16:creationId xmlns:a16="http://schemas.microsoft.com/office/drawing/2014/main" id="{9E1BA390-0E7D-4E24-9F68-5924CFF7F7FB}"/>
              </a:ext>
            </a:extLst>
          </p:cNvPr>
          <p:cNvSpPr>
            <a:spLocks xmlns:a="http://schemas.openxmlformats.org/drawingml/2006/main" noGrp="1"/>
          </p:cNvSpPr>
          <p:nvPr/>
        </p:nvSpPr>
        <p:spPr>
          <a:xfrm xmlns:a="http://schemas.openxmlformats.org/drawingml/2006/main">
            <a:off x="762000" y="62007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Center button lights. A letter on the display is your program’s output.</a:t>
            </a:r>
          </a:p>
        </p:txBody>
      </p:sp>
    </p:spTree>
    <p:extLst>
      <p:ext uri="{BB962C8B-B14F-4D97-AF65-F5344CB8AC3E}">
        <p14:creationId xmlns:p14="http://schemas.microsoft.com/office/powerpoint/2010/main" val="1374176914"/>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901434D-B55B-45BC-BF55-A8C6256D234A}"/>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FFFFFF"/>
                </a:solidFill>
                <a:latin typeface="Arial"/>
                <a:ea typeface="Arial"/>
                <a:cs typeface="Arial"/>
              </a:defRPr>
            </a:defPPr>
          </a:lstStyle>
          <a:p xmlns:a="http://schemas.openxmlformats.org/drawingml/2006/main">
            <a:pPr>
              <a:buNone/>
              <a:defRPr sz="3600" b="1">
                <a:solidFill>
                  <a:srgbClr val="FFFFFF"/>
                </a:solidFill>
                <a:latin typeface="Arial"/>
                <a:ea typeface="Arial"/>
                <a:cs typeface="Arial"/>
              </a:defRPr>
            </a:pPr>
            <a:r>
              <a:rPr sz="3600" b="1">
                <a:solidFill>
                  <a:srgbClr val="FFFFFF"/>
                </a:solidFill>
                <a:latin typeface="Arial"/>
                <a:ea typeface="Arial"/>
                <a:cs typeface="Arial"/>
              </a:rPr>
              <a:t>Decomposition and integration</a:t>
            </a:r>
          </a:p>
        </p:txBody>
      </p:sp>
      <p:sp>
        <p:nvSpPr>
          <p:cNvPr id="2" name="">
            <a:extLst xmlns:a="http://schemas.openxmlformats.org/drawingml/2006/main">
              <a:ext uri="{FF2B5EF4-FFF2-40B4-BE49-F238E27FC236}">
                <a16:creationId xmlns:a16="http://schemas.microsoft.com/office/drawing/2014/main" id="{8B9C19C2-801E-4F70-8E2F-04949E415147}"/>
              </a:ext>
            </a:extLst>
          </p:cNvPr>
          <p:cNvSpPr>
            <a:spLocks xmlns:a="http://schemas.openxmlformats.org/drawingml/2006/main" noGrp="1"/>
          </p:cNvSpPr>
          <p:nvPr/>
        </p:nvSpPr>
        <p:spPr>
          <a:xfrm xmlns:a="http://schemas.openxmlformats.org/drawingml/2006/main">
            <a:off x="781050" y="1666875"/>
            <a:ext cx="1057275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FFFFFF"/>
                </a:solidFill>
                <a:latin typeface="Consolas"/>
                <a:ea typeface="Consolas"/>
                <a:cs typeface="Consolas"/>
              </a:defRPr>
            </a:defPPr>
          </a:lstStyle>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mission = "marker"</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if mission == "marker":</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    result = await seek_marker(threshold)</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else:</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    result = await park(stop_mm)</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print(result)</a:t>
            </a:r>
          </a:p>
        </p:txBody>
      </p:sp>
      <p:sp>
        <p:nvSpPr>
          <p:cNvPr id="3" name="">
            <a:extLst xmlns:a="http://schemas.openxmlformats.org/drawingml/2006/main">
              <a:ext uri="{FF2B5EF4-FFF2-40B4-BE49-F238E27FC236}">
                <a16:creationId xmlns:a16="http://schemas.microsoft.com/office/drawing/2014/main" id="{B54AE3D4-A8A6-4859-B977-694E5FD15E1B}"/>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B9D4DC"/>
                </a:solidFill>
                <a:latin typeface="Arial"/>
                <a:ea typeface="Arial"/>
                <a:cs typeface="Arial"/>
              </a:defRPr>
            </a:defPPr>
          </a:lstStyle>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Reading fragment from the complete supplied project</a:t>
            </a:r>
          </a:p>
        </p:txBody>
      </p:sp>
      <p:sp>
        <p:nvSpPr>
          <p:cNvPr id="5" name="">
            <a:extLst xmlns:a="http://schemas.openxmlformats.org/drawingml/2006/main">
              <a:ext uri="{FF2B5EF4-FFF2-40B4-BE49-F238E27FC236}">
                <a16:creationId xmlns:a16="http://schemas.microsoft.com/office/drawing/2014/main" id="{DA10EDBD-BC32-4148-BEBB-BD9E9EF48B31}"/>
              </a:ext>
            </a:extLst>
          </p:cNvPr>
          <p:cNvSpPr>
            <a:spLocks xmlns:a="http://schemas.openxmlformats.org/drawingml/2006/main" noGrp="1"/>
          </p:cNvSpPr>
          <p:nvPr/>
        </p:nvSpPr>
        <p:spPr>
          <a:xfrm xmlns:a="http://schemas.openxmlformats.org/drawingml/2006/main">
            <a:off x="781050" y="4314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9DDADD"/>
                </a:solidFill>
                <a:latin typeface="Arial"/>
                <a:ea typeface="Arial"/>
                <a:cs typeface="Arial"/>
              </a:defRPr>
            </a:defPPr>
          </a:lstStyle>
          <a:p xmlns:a="http://schemas.openxmlformats.org/drawingml/2006/main">
            <a:pPr>
              <a:buNone/>
              <a:defRPr sz="2100" b="1">
                <a:solidFill>
                  <a:srgbClr val="9DDADD"/>
                </a:solidFill>
                <a:latin typeface="Arial"/>
                <a:ea typeface="Arial"/>
                <a:cs typeface="Arial"/>
              </a:defRPr>
            </a:pPr>
            <a:r>
              <a:rPr sz="2100" b="1">
                <a:solidFill>
                  <a:srgbClr val="9DDADD"/>
                </a:solidFill>
                <a:latin typeface="Arial"/>
                <a:ea typeface="Arial"/>
                <a:cs typeface="Arial"/>
              </a:rPr>
              <a:t>Our prediction</a:t>
            </a:r>
          </a:p>
        </p:txBody>
      </p:sp>
      <p:sp>
        <p:nvSpPr>
          <p:cNvPr id="6" name="">
            <a:extLst xmlns:a="http://schemas.openxmlformats.org/drawingml/2006/main">
              <a:ext uri="{FF2B5EF4-FFF2-40B4-BE49-F238E27FC236}">
                <a16:creationId xmlns:a16="http://schemas.microsoft.com/office/drawing/2014/main" id="{3B94D21A-D514-428E-AED2-2A9E7B71152A}"/>
              </a:ext>
            </a:extLst>
          </p:cNvPr>
          <p:cNvSpPr>
            <a:spLocks xmlns:a="http://schemas.openxmlformats.org/drawingml/2006/main" noGrp="1"/>
          </p:cNvSpPr>
          <p:nvPr/>
        </p:nvSpPr>
        <p:spPr>
          <a:xfrm xmlns:a="http://schemas.openxmlformats.org/drawingml/2006/main">
            <a:off x="781050" y="47720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Which part of your mission is least certain?</a:t>
            </a:r>
          </a:p>
        </p:txBody>
      </p:sp>
      <p:sp>
        <p:nvSpPr>
          <p:cNvPr id="7" name="">
            <a:extLst xmlns:a="http://schemas.openxmlformats.org/drawingml/2006/main">
              <a:ext uri="{FF2B5EF4-FFF2-40B4-BE49-F238E27FC236}">
                <a16:creationId xmlns:a16="http://schemas.microsoft.com/office/drawing/2014/main" id="{B9F09311-6A02-4E27-B634-CFA2F24F98FF}"/>
              </a:ext>
            </a:extLst>
          </p:cNvPr>
          <p:cNvSpPr>
            <a:spLocks xmlns:a="http://schemas.openxmlformats.org/drawingml/2006/main" noGrp="1"/>
          </p:cNvSpPr>
          <p:nvPr/>
        </p:nvSpPr>
        <p:spPr>
          <a:xfrm xmlns:a="http://schemas.openxmlformats.org/drawingml/2006/main">
            <a:off x="781050" y="54006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What small test could answer that first?</a:t>
            </a:r>
          </a:p>
        </p:txBody>
      </p:sp>
    </p:spTree>
    <p:extLst>
      <p:ext uri="{BB962C8B-B14F-4D97-AF65-F5344CB8AC3E}">
        <p14:creationId xmlns:p14="http://schemas.microsoft.com/office/powerpoint/2010/main" val="715496397"/>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6F7BD88-D1B1-470D-85FF-D8B7C67079EC}"/>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Our robot and build jobs</a:t>
            </a:r>
          </a:p>
        </p:txBody>
      </p:sp>
      <p:sp>
        <p:nvSpPr>
          <p:cNvPr id="2" name="">
            <a:extLst xmlns:a="http://schemas.openxmlformats.org/drawingml/2006/main">
              <a:ext uri="{FF2B5EF4-FFF2-40B4-BE49-F238E27FC236}">
                <a16:creationId xmlns:a16="http://schemas.microsoft.com/office/drawing/2014/main" id="{5BB5687D-2D9D-4364-8674-E85A2FBF05D4}"/>
              </a:ext>
            </a:extLst>
          </p:cNvPr>
          <p:cNvSpPr>
            <a:spLocks xmlns:a="http://schemas.openxmlformats.org/drawingml/2006/main" noGrp="1"/>
          </p:cNvSpPr>
          <p:nvPr/>
        </p:nvSpPr>
        <p:spPr>
          <a:xfrm xmlns:a="http://schemas.openxmlformats.org/drawingml/2006/main">
            <a:off x="762000" y="18478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Driver edits and starts after “clear.”</a:t>
            </a:r>
          </a:p>
        </p:txBody>
      </p:sp>
      <p:sp>
        <p:nvSpPr>
          <p:cNvPr id="3" name="">
            <a:extLst xmlns:a="http://schemas.openxmlformats.org/drawingml/2006/main">
              <a:ext uri="{FF2B5EF4-FFF2-40B4-BE49-F238E27FC236}">
                <a16:creationId xmlns:a16="http://schemas.microsoft.com/office/drawing/2014/main" id="{8C5B96EA-624B-43B2-87F9-1802D9F65C23}"/>
              </a:ext>
            </a:extLst>
          </p:cNvPr>
          <p:cNvSpPr>
            <a:spLocks xmlns:a="http://schemas.openxmlformats.org/drawingml/2006/main" noGrp="1"/>
          </p:cNvSpPr>
          <p:nvPr/>
        </p:nvSpPr>
        <p:spPr>
          <a:xfrm xmlns:a="http://schemas.openxmlformats.org/drawingml/2006/main">
            <a:off x="762000" y="2781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Navigator predicts and resets the stopped robot.</a:t>
            </a:r>
          </a:p>
        </p:txBody>
      </p:sp>
      <p:sp>
        <p:nvSpPr>
          <p:cNvPr id="4" name="">
            <a:extLst xmlns:a="http://schemas.openxmlformats.org/drawingml/2006/main">
              <a:ext uri="{FF2B5EF4-FFF2-40B4-BE49-F238E27FC236}">
                <a16:creationId xmlns:a16="http://schemas.microsoft.com/office/drawing/2014/main" id="{AA4A9444-3BD3-4766-94AC-5439C8A646A0}"/>
              </a:ext>
            </a:extLst>
          </p:cNvPr>
          <p:cNvSpPr>
            <a:spLocks xmlns:a="http://schemas.openxmlformats.org/drawingml/2006/main" noGrp="1"/>
          </p:cNvSpPr>
          <p:nvPr/>
        </p:nvSpPr>
        <p:spPr>
          <a:xfrm xmlns:a="http://schemas.openxmlformats.org/drawingml/2006/main">
            <a:off x="762000" y="37147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Observer watches, measures and records.</a:t>
            </a:r>
          </a:p>
        </p:txBody>
      </p:sp>
      <p:sp>
        <p:nvSpPr>
          <p:cNvPr id="5" name="">
            <a:extLst xmlns:a="http://schemas.openxmlformats.org/drawingml/2006/main">
              <a:ext uri="{FF2B5EF4-FFF2-40B4-BE49-F238E27FC236}">
                <a16:creationId xmlns:a16="http://schemas.microsoft.com/office/drawing/2014/main" id="{D78BB7C6-0837-4A65-8CE5-4F155E02F1CB}"/>
              </a:ext>
            </a:extLst>
          </p:cNvPr>
          <p:cNvSpPr>
            <a:spLocks xmlns:a="http://schemas.openxmlformats.org/drawingml/2006/main" noGrp="1"/>
          </p:cNvSpPr>
          <p:nvPr/>
        </p:nvSpPr>
        <p:spPr>
          <a:xfrm xmlns:a="http://schemas.openxmlformats.org/drawingml/2006/main">
            <a:off x="762000" y="46482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Other team builds. Everyone rotates jobs.</a:t>
            </a:r>
          </a:p>
        </p:txBody>
      </p:sp>
      <p:sp>
        <p:nvSpPr>
          <p:cNvPr id="7" name="">
            <a:extLst xmlns:a="http://schemas.openxmlformats.org/drawingml/2006/main">
              <a:ext uri="{FF2B5EF4-FFF2-40B4-BE49-F238E27FC236}">
                <a16:creationId xmlns:a16="http://schemas.microsoft.com/office/drawing/2014/main" id="{34C5146C-FD47-43DD-8EEE-C646AF042834}"/>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Robot turns: rotate every 4 minutes. Retests: every 2 minutes.</a:t>
            </a:r>
          </a:p>
        </p:txBody>
      </p:sp>
    </p:spTree>
    <p:extLst>
      <p:ext uri="{BB962C8B-B14F-4D97-AF65-F5344CB8AC3E}">
        <p14:creationId xmlns:p14="http://schemas.microsoft.com/office/powerpoint/2010/main" val="1389708832"/>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33416F9-FAEC-4EF1-B336-5760A4A4458F}"/>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E2E3B5CF-C6BC-4F85-9198-6DAA4B2EE84B}"/>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CF6E2358-653D-43AC-AFB0-BFD43903CA85}"/>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09E9E8DE-1EFD-4083-95A5-98C3DD163159}"/>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0C784310-6E69-454B-9EBD-1D0B42DC0DF8}"/>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1371880661"/>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82C1270-71A8-49F0-84B0-0AB4D33969C4}"/>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What we learned and noticed</a:t>
            </a:r>
          </a:p>
        </p:txBody>
      </p:sp>
      <p:sp>
        <p:nvSpPr>
          <p:cNvPr id="2" name="">
            <a:extLst xmlns:a="http://schemas.openxmlformats.org/drawingml/2006/main">
              <a:ext uri="{FF2B5EF4-FFF2-40B4-BE49-F238E27FC236}">
                <a16:creationId xmlns:a16="http://schemas.microsoft.com/office/drawing/2014/main" id="{82AC6B71-5E56-4F29-B72B-F0D9F7443B12}"/>
              </a:ext>
            </a:extLst>
          </p:cNvPr>
          <p:cNvSpPr>
            <a:spLocks xmlns:a="http://schemas.openxmlformats.org/drawingml/2006/main" noGrp="1"/>
          </p:cNvSpPr>
          <p:nvPr/>
        </p:nvSpPr>
        <p:spPr>
          <a:xfrm xmlns:a="http://schemas.openxmlformats.org/drawingml/2006/main">
            <a:off x="762000" y="1743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learn while combining your mission?</a:t>
            </a:r>
          </a:p>
        </p:txBody>
      </p:sp>
      <p:sp>
        <p:nvSpPr>
          <p:cNvPr id="3" name="">
            <a:extLst xmlns:a="http://schemas.openxmlformats.org/drawingml/2006/main">
              <a:ext uri="{FF2B5EF4-FFF2-40B4-BE49-F238E27FC236}">
                <a16:creationId xmlns:a16="http://schemas.microsoft.com/office/drawing/2014/main" id="{CBE8DAF0-263F-44AC-BE54-7BD97E432DFE}"/>
              </a:ext>
            </a:extLst>
          </p:cNvPr>
          <p:cNvSpPr>
            <a:spLocks xmlns:a="http://schemas.openxmlformats.org/drawingml/2006/main" noGrp="1"/>
          </p:cNvSpPr>
          <p:nvPr/>
        </p:nvSpPr>
        <p:spPr>
          <a:xfrm xmlns:a="http://schemas.openxmlformats.org/drawingml/2006/main">
            <a:off x="762000" y="2886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observe in your first complete test?</a:t>
            </a:r>
          </a:p>
        </p:txBody>
      </p:sp>
      <p:sp>
        <p:nvSpPr>
          <p:cNvPr id="4" name="">
            <a:extLst xmlns:a="http://schemas.openxmlformats.org/drawingml/2006/main">
              <a:ext uri="{FF2B5EF4-FFF2-40B4-BE49-F238E27FC236}">
                <a16:creationId xmlns:a16="http://schemas.microsoft.com/office/drawing/2014/main" id="{EB18A284-7357-4294-A5A2-72B4A6D5AE6A}"/>
              </a:ext>
            </a:extLst>
          </p:cNvPr>
          <p:cNvSpPr>
            <a:spLocks xmlns:a="http://schemas.openxmlformats.org/drawingml/2006/main" noGrp="1"/>
          </p:cNvSpPr>
          <p:nvPr/>
        </p:nvSpPr>
        <p:spPr>
          <a:xfrm xmlns:a="http://schemas.openxmlformats.org/drawingml/2006/main">
            <a:off x="762000" y="4029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will you improve before the showcase?</a:t>
            </a:r>
          </a:p>
        </p:txBody>
      </p:sp>
      <p:sp>
        <p:nvSpPr>
          <p:cNvPr id="6" name="">
            <a:extLst xmlns:a="http://schemas.openxmlformats.org/drawingml/2006/main">
              <a:ext uri="{FF2B5EF4-FFF2-40B4-BE49-F238E27FC236}">
                <a16:creationId xmlns:a16="http://schemas.microsoft.com/office/drawing/2014/main" id="{9A5F46D6-5710-4283-9301-0EED4AEBA344}"/>
              </a:ext>
            </a:extLst>
          </p:cNvPr>
          <p:cNvSpPr>
            <a:spLocks xmlns:a="http://schemas.openxmlformats.org/drawingml/2006/main" noGrp="1"/>
          </p:cNvSpPr>
          <p:nvPr/>
        </p:nvSpPr>
        <p:spPr>
          <a:xfrm xmlns:a="http://schemas.openxmlformats.org/drawingml/2006/main">
            <a:off x="7620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06E75"/>
                </a:solidFill>
                <a:latin typeface="Arial"/>
                <a:ea typeface="Arial"/>
                <a:cs typeface="Arial"/>
              </a:defRPr>
            </a:defPPr>
          </a:lstStyle>
          <a:p xmlns:a="http://schemas.openxmlformats.org/drawingml/2006/main">
            <a:pPr>
              <a:buNone/>
              <a:defRPr sz="2025" b="0">
                <a:solidFill>
                  <a:srgbClr val="006E75"/>
                </a:solidFill>
                <a:latin typeface="Arial"/>
                <a:ea typeface="Arial"/>
                <a:cs typeface="Arial"/>
              </a:defRPr>
            </a:pPr>
            <a:r>
              <a:rPr sz="2025" b="0">
                <a:solidFill>
                  <a:srgbClr val="006E75"/>
                </a:solidFill>
                <a:latin typeface="Arial"/>
                <a:ea typeface="Arial"/>
                <a:cs typeface="Arial"/>
              </a:rPr>
              <a:t>Save your team project. Store your build. Reset the robot and parts.</a:t>
            </a:r>
          </a:p>
        </p:txBody>
      </p:sp>
    </p:spTree>
    <p:extLst>
      <p:ext uri="{BB962C8B-B14F-4D97-AF65-F5344CB8AC3E}">
        <p14:creationId xmlns:p14="http://schemas.microsoft.com/office/powerpoint/2010/main" val="10121619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2026-10-25T23:39:33.9290000Z</dcterms:created>
  <dcterms:modified xsi:type="dcterms:W3CDTF">2026-10-25T23:39:33.9290000Z</dcterms:modified>
</coreProperties>
</file>