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1a0e50c9c04096" /><Relationship Type="http://schemas.openxmlformats.org/officeDocument/2006/relationships/extended-properties" Target="/docProps/app.xml" Id="Rc2f6590242ed4a9e" /><Relationship Type="http://schemas.openxmlformats.org/officeDocument/2006/relationships/officeDocument" Target="/ppt/presentation.xml" Id="R211d5804cf0a4bb2" /></Relationships>
</file>

<file path=ppt/presentation.xml><?xml version="1.0" encoding="utf-8"?>
<p:presentation xmlns:p="http://schemas.openxmlformats.org/presentationml/2006/main">
  <p:sldMasterIdLst>
    <p:sldMasterId xmlns:r="http://schemas.openxmlformats.org/officeDocument/2006/relationships" id="2147483648" r:id="Rbd6aaf24c0524967"/>
  </p:sldMasterIdLst>
  <p:notesMasterIdLst>
    <p:notesMasterId xmlns:r="http://schemas.openxmlformats.org/officeDocument/2006/relationships" r:id="R2e36762ab2e74efc"/>
  </p:notesMasterIdLst>
  <p:sldIdLst>
    <p:sldId xmlns:r="http://schemas.openxmlformats.org/officeDocument/2006/relationships" id="256" r:id="Rff64ebfc03cc4ec5"/>
    <p:sldId xmlns:r="http://schemas.openxmlformats.org/officeDocument/2006/relationships" id="257" r:id="R3f0e3ecd7a534afc"/>
    <p:sldId xmlns:r="http://schemas.openxmlformats.org/officeDocument/2006/relationships" id="258" r:id="Rcf301a57de0d4e85"/>
    <p:sldId xmlns:r="http://schemas.openxmlformats.org/officeDocument/2006/relationships" id="259" r:id="R2b04df57eda54249"/>
    <p:sldId xmlns:r="http://schemas.openxmlformats.org/officeDocument/2006/relationships" id="260" r:id="Ra2787345b7c64ecf"/>
    <p:sldId xmlns:r="http://schemas.openxmlformats.org/officeDocument/2006/relationships" id="261" r:id="R01c760a413bc42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b087df8a354611" /><Relationship Type="http://schemas.openxmlformats.org/officeDocument/2006/relationships/slideMaster" Target="/ppt/slideMasters/slideMaster1.xml" Id="Rbd6aaf24c0524967" /><Relationship Type="http://schemas.openxmlformats.org/officeDocument/2006/relationships/notesMaster" Target="/ppt/notesMasters/notesMaster1.xml" Id="R2e36762ab2e74efc" /><Relationship Type="http://schemas.openxmlformats.org/officeDocument/2006/relationships/presProps" Target="/ppt/presProps.xml" Id="Rcb151b738412472d" /><Relationship Type="http://schemas.openxmlformats.org/officeDocument/2006/relationships/tableStyles" Target="/ppt/tableStyles.xml" Id="Rc7e35baad1394add" /><Relationship Type="http://schemas.openxmlformats.org/officeDocument/2006/relationships/slide" Target="/ppt/slides/slide1.xml" Id="Rff64ebfc03cc4ec5" /><Relationship Type="http://schemas.openxmlformats.org/officeDocument/2006/relationships/slide" Target="/ppt/slides/slide2.xml" Id="R3f0e3ecd7a534afc" /><Relationship Type="http://schemas.openxmlformats.org/officeDocument/2006/relationships/slide" Target="/ppt/slides/slide3.xml" Id="Rcf301a57de0d4e85" /><Relationship Type="http://schemas.openxmlformats.org/officeDocument/2006/relationships/slide" Target="/ppt/slides/slide4.xml" Id="R2b04df57eda54249" /><Relationship Type="http://schemas.openxmlformats.org/officeDocument/2006/relationships/slide" Target="/ppt/slides/slide5.xml" Id="Ra2787345b7c64ecf" /><Relationship Type="http://schemas.openxmlformats.org/officeDocument/2006/relationships/slide" Target="/ppt/slides/slide6.xml" Id="R01c760a413bc42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2a64d241394f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5ebdb92aa24f06" /><Relationship Type="http://schemas.openxmlformats.org/officeDocument/2006/relationships/notesMaster" Target="/ppt/notesMasters/notesMaster1.xml" Id="R182694607e9847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e3810af0cc44bd" /><Relationship Type="http://schemas.openxmlformats.org/officeDocument/2006/relationships/notesMaster" Target="/ppt/notesMasters/notesMaster1.xml" Id="R0cbf44d0510349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4fa87c4a8c4782" /><Relationship Type="http://schemas.openxmlformats.org/officeDocument/2006/relationships/notesMaster" Target="/ppt/notesMasters/notesMaster1.xml" Id="R746fef664ddc4c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6c92e042594604" /><Relationship Type="http://schemas.openxmlformats.org/officeDocument/2006/relationships/notesMaster" Target="/ppt/notesMasters/notesMaster1.xml" Id="R045805074c6742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36bf3470c94509" /><Relationship Type="http://schemas.openxmlformats.org/officeDocument/2006/relationships/notesMaster" Target="/ppt/notesMasters/notesMaster1.xml" Id="Rd1ba12bb88a242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3c096f00844d63" /><Relationship Type="http://schemas.openxmlformats.org/officeDocument/2006/relationships/notesMaster" Target="/ppt/notesMasters/notesMaster1.xml" Id="Rfc8cb5b374c84b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PREPARATION</a:t>
            </a:r>
          </a:p>
          <a:p xmlns:a="http://schemas.openxmlformats.org/drawingml/2006/main">
            <a:r>
              <a:t/>
            </a:r>
          </a:p>
          <a:p xmlns:a="http://schemas.openxmlformats.org/drawingml/2006/main">
            <a:r>
              <a:t>Week 2 Delivery to a target</a:t>
            </a:r>
          </a:p>
          <a:p xmlns:a="http://schemas.openxmlformats.org/drawingml/2006/main">
            <a:r>
              <a:t/>
            </a:r>
          </a:p>
          <a:p xmlns:a="http://schemas.openxmlformats.org/drawingml/2006/main">
            <a:r>
              <a:t>Speaker notes for the six-slide class presentation. Use the slides as brief prompts and leave time for children to build, operate and explain. This is a robotics session with a small prepared Python recipe.</a:t>
            </a:r>
          </a:p>
          <a:p xmlns:a="http://schemas.openxmlformats.org/drawingml/2006/main">
            <a:r>
              <a:t/>
            </a:r>
          </a:p>
          <a:p xmlns:a="http://schemas.openxmlformats.org/drawingml/2006/main">
            <a:r>
              <a:t>Class setup</a:t>
            </a:r>
          </a:p>
          <a:p xmlns:a="http://schemas.openxmlformats.org/drawingml/2006/main">
            <a:r>
              <a:t/>
            </a:r>
          </a:p>
          <a:p xmlns:a="http://schemas.openxmlformats.org/drawingml/2006/main">
            <a:r>
              <a:t>12 children in grades 5–6 form four teams of three: T1/T2 share Kit A and T3/T4 share Kit B. Four student instructors cover two robot stations and two build tables; a fifth or sixth can float. The adult lead oversees the room and YMCA procedures. Bring four available laptops: two remain connected to robots and two show build references. Printed build cards make the build activity work with two laptops too.</a:t>
            </a:r>
          </a:p>
          <a:p xmlns:a="http://schemas.openxmlformats.org/drawingml/2006/main">
            <a:r>
              <a:t/>
            </a:r>
          </a:p>
          <a:p xmlns:a="http://schemas.openxmlformats.org/drawingml/2006/main">
            <a:r>
              <a:t>Learning goal Each child changes a named distance value and uses a measurement to justify the next change.</a:t>
            </a:r>
          </a:p>
          <a:p xmlns:a="http://schemas.openxmlformats.org/drawingml/2006/main">
            <a:r>
              <a:t/>
            </a:r>
          </a:p>
          <a:p xmlns:a="http://schemas.openxmlformats.org/drawingml/2006/main">
            <a:r>
              <a:t>Minimum success The team makes three recorded trials and attempts to stop the front of the robot within 5 cm of a 40 cm target. A justified adjustment counts even if precision remains imperfect.</a:t>
            </a:r>
          </a:p>
          <a:p xmlns:a="http://schemas.openxmlformats.org/drawingml/2006/main">
            <a:r>
              <a:t/>
            </a:r>
          </a:p>
          <a:p xmlns:a="http://schemas.openxmlformats.org/drawingml/2006/main">
            <a:r>
              <a:t>Prepare Open W02_delivery.py. Set a 100 cm clear lane with a 40 cm goal and extra stopping space. Check front-edge start marks. Use 180, then 360 wheel degrees as trial values. Keep SPEED at 200. Prepare two mentor examples and four labeled team build packs. Rehearse attachment clearance, a hand test and a quick swap. Show the hub color guide.</a:t>
            </a:r>
          </a:p>
          <a:p xmlns:a="http://schemas.openxmlformats.org/drawingml/2006/main">
            <a:r>
              <a:t/>
            </a:r>
          </a:p>
          <a:p xmlns:a="http://schemas.openxmlformats.org/drawingml/2006/main">
            <a:r>
              <a:t>Materials and files Print and pack from the matching checklist in 01_Instructor/Class_Preparation. Use the team sheet and build card. Keep the original two bases assembled, A left/B right, auxiliary motor unplugged; add C/D only as the lessons require. Hardware rehearsal remains required.</a:t>
            </a:r>
          </a:p>
          <a:p xmlns:a="http://schemas.openxmlformats.org/drawingml/2006/main">
            <a:r>
              <a:t/>
            </a:r>
          </a:p>
          <a:p xmlns:a="http://schemas.openxmlformats.org/drawingml/2006/main">
            <a:r>
              <a:t>Slide 1 Delivery to a target</a:t>
            </a:r>
          </a:p>
          <a:p xmlns:a="http://schemas.openxmlformats.org/drawingml/2006/main">
            <a:r>
              <a:t/>
            </a:r>
          </a:p>
          <a:p xmlns:a="http://schemas.openxmlformats.org/drawingml/2006/main">
            <a:r>
              <a:t>Timing 0–5 minutes</a:t>
            </a:r>
          </a:p>
          <a:p xmlns:a="http://schemas.openxmlformats.org/drawingml/2006/main">
            <a:r>
              <a:t/>
            </a:r>
          </a:p>
          <a:p xmlns:a="http://schemas.openxmlformats.org/drawingml/2006/main">
            <a:r>
              <a:t>Say “Today’s challenge is a 40 cm delivery. You will predict, test, and use evidence to explain your choice. All three teammates will operate and explain.”</a:t>
            </a:r>
          </a:p>
          <a:p xmlns:a="http://schemas.openxmlformats.org/drawingml/2006/main">
            <a:r>
              <a:t/>
            </a:r>
          </a:p>
          <a:p xmlns:a="http://schemas.openxmlformats.org/drawingml/2006/main">
            <a:r>
              <a:t>Ask before explaining Which line made the wheels move last week?</a:t>
            </a:r>
          </a:p>
          <a:p xmlns:a="http://schemas.openxmlformats.org/drawingml/2006/main">
            <a:r>
              <a:t/>
            </a:r>
          </a:p>
          <a:p xmlns:a="http://schemas.openxmlformats.org/drawingml/2006/main">
            <a:r>
              <a:t>Listen for drive caused movement; changing pause changed waiting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Todays robot challenge</a:t>
            </a:r>
          </a:p>
          <a:p xmlns:a="http://schemas.openxmlformats.org/drawingml/2006/main">
            <a:r>
              <a:t/>
            </a:r>
          </a:p>
          <a:p xmlns:a="http://schemas.openxmlformats.org/drawingml/2006/main">
            <a:r>
              <a:t>Timing 5–10 minutes</a:t>
            </a:r>
          </a:p>
          <a:p xmlns:a="http://schemas.openxmlformats.org/drawingml/2006/main">
            <a:r>
              <a:t/>
            </a:r>
          </a:p>
          <a:p xmlns:a="http://schemas.openxmlformats.org/drawingml/2006/main">
            <a:r>
              <a:t>Purpose Each student changes a named distance value and uses a measurement to justify the next change.</a:t>
            </a:r>
          </a:p>
          <a:p xmlns:a="http://schemas.openxmlformats.org/drawingml/2006/main">
            <a:r>
              <a:t/>
            </a:r>
          </a:p>
          <a:p xmlns:a="http://schemas.openxmlformats.org/drawingml/2006/main">
            <a:r>
              <a:t>Do and explain Show travel = 180 and explain that travel names a value. Measure the distance of one run. Change only travel. Motor degrees describe wheel rotation, not centimeters or the robot’s heading.</a:t>
            </a:r>
          </a:p>
          <a:p xmlns:a="http://schemas.openxmlformats.org/drawingml/2006/main">
            <a:r>
              <a:t/>
            </a:r>
          </a:p>
          <a:p xmlns:a="http://schemas.openxmlformats.org/drawingml/2006/main">
            <a:r>
              <a:t>Suggested words “Our useful result today is this: The team makes three recorded trials and attempts to stop the front of the robot within 5 cm of a 40 cm target. A justified adjustment counts even if precision remains imperfect. A test that misses still gives us information if we record it accurately.”</a:t>
            </a:r>
          </a:p>
          <a:p xmlns:a="http://schemas.openxmlformats.org/drawingml/2006/main">
            <a:r>
              <a:t/>
            </a:r>
          </a:p>
          <a:p xmlns:a="http://schemas.openxmlformats.org/drawingml/2006/main">
            <a:r>
              <a:t>Ask “What did the robot do? What evidence could we record? What must stay the same when we compare the next run?” Let a different student answer each question.</a:t>
            </a:r>
          </a:p>
          <a:p xmlns:a="http://schemas.openxmlformats.org/drawingml/2006/main">
            <a:r>
              <a:t/>
            </a:r>
          </a:p>
          <a:p xmlns:a="http://schemas.openxmlformats.org/drawingml/2006/main">
            <a:r>
              <a:t>If the example fails Distance inconsistent: reset to the same front edge and check wheel friction. Robot arcs: check that tires match and both motors connect correctly. A target miss is data, not a coding failure. Allow one quick reset, then use the prepared stationary or paper explanation. Student testing time should not become a repair demonstration.</a:t>
            </a:r>
          </a:p>
          <a:p xmlns:a="http://schemas.openxmlformats.org/drawingml/2006/main">
            <a:r>
              <a:t/>
            </a:r>
          </a:p>
          <a:p xmlns:a="http://schemas.openxmlformats.org/drawingml/2006/main">
            <a:r>
              <a:t>Hub check Read the light on the correct button: steady green center means powered on with a compatible OS and at least 20% battery; flashing orange center means charge; flashing red center means stop, power off and cool for 15 minutes. White center needs a compatible OS; flashing purple center means updating. Blue is the connection button: flashing means waiting for Bluetooth, steady means connected. A display letter is a program output, not a battery or connection status. See the full SPIKE Hub Color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Variables and a fair test and prediction</a:t>
            </a:r>
          </a:p>
          <a:p xmlns:a="http://schemas.openxmlformats.org/drawingml/2006/main">
            <a:r>
              <a:t/>
            </a:r>
          </a:p>
          <a:p xmlns:a="http://schemas.openxmlformats.org/drawingml/2006/main">
            <a:r>
              <a:t>Timing 10–14 minutes</a:t>
            </a:r>
          </a:p>
          <a:p xmlns:a="http://schemas.openxmlformats.org/drawingml/2006/main">
            <a:r>
              <a:t/>
            </a:r>
          </a:p>
          <a:p xmlns:a="http://schemas.openxmlformats.org/drawingml/2006/main">
            <a:r>
              <a:t>travel = 180</a:t>
            </a:r>
          </a:p>
          <a:p xmlns:a="http://schemas.openxmlformats.org/drawingml/2006/main">
            <a:r>
              <a:t>await drive(travel)</a:t>
            </a:r>
          </a:p>
          <a:p xmlns:a="http://schemas.openxmlformats.org/drawingml/2006/main">
            <a:r>
              <a:t>await signal("D")</a:t>
            </a:r>
          </a:p>
          <a:p xmlns:a="http://schemas.openxmlformats.org/drawingml/2006/main">
            <a:r>
              <a:t/>
            </a:r>
          </a:p>
          <a:p xmlns:a="http://schemas.openxmlformats.org/drawingml/2006/main">
            <a:r>
              <a:t>Say “travel is a name for a number. The drive helper reads that number. We can change one value and use a measurement to decide our next test.”</a:t>
            </a:r>
          </a:p>
          <a:p xmlns:a="http://schemas.openxmlformats.org/drawingml/2006/main">
            <a:r>
              <a:t/>
            </a:r>
          </a:p>
          <a:p xmlns:a="http://schemas.openxmlformats.org/drawingml/2006/main">
            <a:r>
              <a:t>Point Read travel = 180, then await drive(travel), then the D signal. The assignment stores wheel degrees; it does not move the robot. The drive call causes the movement. await keeps these actions in sequence.</a:t>
            </a:r>
          </a:p>
          <a:p xmlns:a="http://schemas.openxmlformats.org/drawingml/2006/main">
            <a:r>
              <a:t/>
            </a:r>
          </a:p>
          <a:p xmlns:a="http://schemas.openxmlformats.org/drawingml/2006/main">
            <a:r>
              <a:t>Check understanding “If I rename the value in one place only, will the call still use the same name?” Explain that names must match. Beginners should leave the name travel alone and edit only its number.</a:t>
            </a:r>
          </a:p>
          <a:p xmlns:a="http://schemas.openxmlformats.org/drawingml/2006/main">
            <a:r>
              <a:t/>
            </a:r>
          </a:p>
          <a:p xmlns:a="http://schemas.openxmlformats.org/drawingml/2006/main">
            <a:r>
              <a:t>Keep units clear 180 wheel degrees is half a wheel rotation; 360 is one rotation. Neither is centimeters or a heading angle. Keep SPEED = 200 unchanged. The helper accepts 0–1080 wheel degrees; do not remove the guard.</a:t>
            </a:r>
          </a:p>
          <a:p xmlns:a="http://schemas.openxmlformats.org/drawingml/2006/main">
            <a:r>
              <a:t/>
            </a:r>
          </a:p>
          <a:p xmlns:a="http://schemas.openxmlformats.org/drawingml/2006/main">
            <a:r>
              <a:t>Ask If 180 wheel degrees travels about 9 cm on our floor, what might 360 do? Mark this as a prediction, not a promise.</a:t>
            </a:r>
          </a:p>
          <a:p xmlns:a="http://schemas.openxmlformats.org/drawingml/2006/main">
            <a:r>
              <a:t/>
            </a:r>
          </a:p>
          <a:p xmlns:a="http://schemas.openxmlformats.org/drawingml/2006/main">
            <a:r>
              <a:t>Expected reasoning About 18 cm is a reasonable prediction for the example. The actual distance needs measurement. Increasing wheel degrees should increase travel when other conditions stay 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Our robot and build jobs</a:t>
            </a:r>
          </a:p>
          <a:p xmlns:a="http://schemas.openxmlformats.org/drawingml/2006/main">
            <a:r>
              <a:t/>
            </a:r>
          </a:p>
          <a:p xmlns:a="http://schemas.openxmlformats.org/drawingml/2006/main">
            <a:r>
              <a:t>Timing 14–38 then retests minutes</a:t>
            </a:r>
          </a:p>
          <a:p xmlns:a="http://schemas.openxmlformats.org/drawingml/2006/main">
            <a:r>
              <a:t/>
            </a:r>
          </a:p>
          <a:p xmlns:a="http://schemas.openxmlformats.org/drawingml/2006/main">
            <a:r>
              <a:t>Station map 14–26: T1/T3 use robots and T2/T4 build. 26–38: teams switch stations. 38–44: T1/T3 retest while the other teams finish builds. 44–50: T2/T4 retest. Rotate roles at 18, 22, 30, 34, 40, 42, 46 and 48 minutes. Each team has 18 robot minutes, giving each child about six minutes as driver plus handling, observing and building. Transitions occur within these blocks.</a:t>
            </a:r>
          </a:p>
          <a:p xmlns:a="http://schemas.openxmlformats.org/drawingml/2006/main">
            <a:r>
              <a:t/>
            </a:r>
          </a:p>
          <a:p xmlns:a="http://schemas.openxmlformats.org/drawingml/2006/main">
            <a:r>
              <a:t>Jobs At the robot, the driver edits and starts after “clear.” The navigator reads the step, predicts, positions the stopped robot and payload, fits an approved attachment and checks the lane. The observer watches, measures and records one number, tick or phrase. Rotate all three jobs every four minutes in the first turn and every two minutes in the retest. At the build table, rotate builder, designer/parts manager and tester/reporter on the same timer. Everyone contributes hands-on work.</a:t>
            </a:r>
          </a:p>
          <a:p xmlns:a="http://schemas.openxmlformats.org/drawingml/2006/main">
            <a:r>
              <a:t/>
            </a:r>
          </a:p>
          <a:p xmlns:a="http://schemas.openxmlformats.org/drawingml/2006/main">
            <a:r>
              <a:t>Robot steps 1. Align the same front edge with the start tape every time. Run travel = 180. Measure front-edge displacement in centimeters and enter it in the log. 2. Swap driver. Predict and run travel = 360. Keep the robot, floor, starting angle, and speed the same. Compare the two measurements. 3. Estimate a value for a 40 cm delivery using the measured result. Example only: if 360 gave 18 cm, 40 / 18 × 360 is about 800. The drive helper permits up to 1080 degrees. Use your own result. 4. During the final turn, test the estimate. Record signed error as measured distance minus 40. If it overshoots, reduce travel. If it stops short, increase travel. 5. Explain one reason two identical runs might differ, such as a crooked start or wheel slip. Park the robot and save the team’s best value.</a:t>
            </a:r>
          </a:p>
          <a:p xmlns:a="http://schemas.openxmlformats.org/drawingml/2006/main">
            <a:r>
              <a:t/>
            </a:r>
          </a:p>
          <a:p xmlns:a="http://schemas.openxmlformats.org/drawingml/2006/main">
            <a:r>
              <a:t>Build A cargo tray that keeps its load. Build a removable tray or cradle with an edge that keeps the cube aboard. Choose where the cube will sit and build a flat support. Add an edge or rail without making the tray touch the floor or wheels. Tilt the tray gently by hand and compare one change to its edge. Test: Cube stays in the tray during a gentle tilt; tray does not sag into a wheel.</a:t>
            </a:r>
          </a:p>
          <a:p xmlns:a="http://schemas.openxmlformats.org/drawingml/2006/main">
            <a:r>
              <a:t/>
            </a:r>
          </a:p>
          <a:p xmlns:a="http://schemas.openxmlformats.org/drawingml/2006/main">
            <a:r>
              <a:t>Connection to robot A mentor supplies an example tray for the first robot turn. Keep payload and tray unchanged during each distance comparison; test the team tray during the retest.</a:t>
            </a:r>
          </a:p>
          <a:p xmlns:a="http://schemas.openxmlformats.org/drawingml/2006/main">
            <a:r>
              <a:t/>
            </a:r>
          </a:p>
          <a:p xmlns:a="http://schemas.openxmlformats.org/drawingml/2006/main">
            <a:r>
              <a:t>Coaching Ask for an observation before suggesting a change. Help with one connection or edit, then return control. Typing can be assisted; the child still chooses, predicts and starts the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Evidence from our test</a:t>
            </a:r>
          </a:p>
          <a:p xmlns:a="http://schemas.openxmlformats.org/drawingml/2006/main">
            <a:r>
              <a:t/>
            </a:r>
          </a:p>
          <a:p xmlns:a="http://schemas.openxmlformats.org/drawingml/2006/main">
            <a:r>
              <a:t>Timing 38–50 minutes in two six-minute retests.</a:t>
            </a:r>
          </a:p>
          <a:p xmlns:a="http://schemas.openxmlformats.org/drawingml/2006/main">
            <a:r>
              <a:t/>
            </a:r>
          </a:p>
          <a:p xmlns:a="http://schemas.openxmlformats.org/drawingml/2006/main">
            <a:r>
              <a:t>Evidence At the robot: each child makes a prediction and takes a driver turn. Keep one number, tick or short phrase per trial. At the build table: show the model and its hand-test result. Three rows: wheel degrees, prediction in cm, measured cm, error from 40 cm. Individual exit: identify the variable and defend one proposed change.</a:t>
            </a:r>
          </a:p>
          <a:p xmlns:a="http://schemas.openxmlformats.org/drawingml/2006/main">
            <a:r>
              <a:t/>
            </a:r>
          </a:p>
          <a:p xmlns:a="http://schemas.openxmlformats.org/drawingml/2006/main">
            <a:r>
              <a:t>Ask What changed? What stayed the same? What did the real run show? Record a tick, short phrase or number at the robot. The build table tests the model by hand rather than repeating a worksheet.</a:t>
            </a:r>
          </a:p>
          <a:p xmlns:a="http://schemas.openxmlformats.org/drawingml/2006/main">
            <a:r>
              <a:t/>
            </a:r>
          </a:p>
          <a:p xmlns:a="http://schemas.openxmlformats.org/drawingml/2006/main">
            <a:r>
              <a:t>Troubleshooting Distance inconsistent: reset to the same front edge and check wheel friction. Robot arcs: check that tires match and both motors connect correctly. A target miss is data, not a coding failure.</a:t>
            </a:r>
          </a:p>
          <a:p xmlns:a="http://schemas.openxmlformats.org/drawingml/2006/main">
            <a:r>
              <a:t/>
            </a:r>
          </a:p>
          <a:p xmlns:a="http://schemas.openxmlformats.org/drawingml/2006/main">
            <a:r>
              <a:t>Support Offer trial values 360, 720, and 900 rather than require a ratio calculation. Use a number line and the words too far or too short.</a:t>
            </a:r>
          </a:p>
          <a:p xmlns:a="http://schemas.openxmlformats.org/drawingml/2006/main">
            <a:r>
              <a:t/>
            </a:r>
          </a:p>
          <a:p xmlns:a="http://schemas.openxmlformats.org/drawingml/2006/main">
            <a:r>
              <a:t>Extension Repeat the same command twice and report the range. Then test a different slow speed while holding wheel degrees constant. Discuss duration versus travel.</a:t>
            </a:r>
          </a:p>
          <a:p xmlns:a="http://schemas.openxmlformats.org/drawingml/2006/main">
            <a:r>
              <a:t/>
            </a:r>
          </a:p>
          <a:p xmlns:a="http://schemas.openxmlformats.org/drawingml/2006/main">
            <a:r>
              <a:t>If needed Set variable travel to 0.5 rotations; move straight for travel rotations; display D. Try 1 rotation, then estimate the target. Block speed is a percentage and Python velocity is degrees per second, so do not copy speed numbers between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What we learned and noticed</a:t>
            </a:r>
          </a:p>
          <a:p xmlns:a="http://schemas.openxmlformats.org/drawingml/2006/main">
            <a:r>
              <a:t/>
            </a:r>
          </a:p>
          <a:p xmlns:a="http://schemas.openxmlformats.org/drawingml/2006/main">
            <a:r>
              <a:t>Timing 50–54 minutes for reflection; 54–60 for saving, packing and pickup.</a:t>
            </a:r>
          </a:p>
          <a:p xmlns:a="http://schemas.openxmlformats.org/drawingml/2006/main">
            <a:r>
              <a:t/>
            </a:r>
          </a:p>
          <a:p xmlns:a="http://schemas.openxmlformats.org/drawingml/2006/main">
            <a:r>
              <a:t>Ask each child What did you learn about reaching a target? What did you observe in your distance tests? What would you change in your tray or next run?</a:t>
            </a:r>
          </a:p>
          <a:p xmlns:a="http://schemas.openxmlformats.org/drawingml/2006/main">
            <a:r>
              <a:t/>
            </a:r>
          </a:p>
          <a:p xmlns:a="http://schemas.openxmlformats.org/drawingml/2006/main">
            <a:r>
              <a:t>Facilitate Run two pod conversations in parallel. Give each of the six children about 20–30 seconds for one chosen prompt. Invite a concrete observation from the robot or build. Accept pointing, a demonstration or a short sentence.</a:t>
            </a:r>
          </a:p>
          <a:p xmlns:a="http://schemas.openxmlformats.org/drawingml/2006/main">
            <a:r>
              <a:t/>
            </a:r>
          </a:p>
          <a:p xmlns:a="http://schemas.openxmlformats.org/drawingml/2006/main">
            <a:r>
              <a:t>Listen for About 18 cm is a reasonable prediction for the example. The actual distance needs measurement. Increasing wheel degrees should increase travel when other conditions stay stable.</a:t>
            </a:r>
          </a:p>
          <a:p xmlns:a="http://schemas.openxmlformats.org/drawingml/2006/main">
            <a:r>
              <a:t/>
            </a:r>
          </a:p>
          <a:p xmlns:a="http://schemas.openxmlformats.org/drawingml/2006/main">
            <a:r>
              <a:t>Close Save T1–T4 projects, stop and park both robots, remove only approved temporary attachments, store four labeled builds and count parts. Follow YMCA pickup procedures.</a:t>
            </a:r>
          </a:p>
          <a:p xmlns:a="http://schemas.openxmlformats.org/drawingml/2006/main">
            <a:r>
              <a:t/>
            </a:r>
          </a:p>
          <a:p xmlns:a="http://schemas.openxmlformats.org/drawingml/2006/main">
            <a:r>
              <a:t>Optional connection FRC autonomous routines rely on measurement and repeatable starts.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7359a5b0f842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b40f032b6d4ad6" /><Relationship Type="http://schemas.openxmlformats.org/officeDocument/2006/relationships/slideLayout" Target="/ppt/slideLayouts/slideLayout1.xml" Id="R8303f07140b846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03f07140b846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81890045594b93" /><Relationship Type="http://schemas.openxmlformats.org/officeDocument/2006/relationships/notesSlide" Target="/ppt/notesSlides/notesSlide1.xml" Id="Rc2200287c0a34d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dd5c5c984c4281" /><Relationship Type="http://schemas.openxmlformats.org/officeDocument/2006/relationships/notesSlide" Target="/ppt/notesSlides/notesSlide2.xml" Id="Rf2f9c52036ba40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e33b77829648ba" /><Relationship Type="http://schemas.openxmlformats.org/officeDocument/2006/relationships/notesSlide" Target="/ppt/notesSlides/notesSlide3.xml" Id="R1c306df33da84f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d5a1d7b7fd475c" /><Relationship Type="http://schemas.openxmlformats.org/officeDocument/2006/relationships/notesSlide" Target="/ppt/notesSlides/notesSlide4.xml" Id="R2beb8ccc26004f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d181a160694e82" /><Relationship Type="http://schemas.openxmlformats.org/officeDocument/2006/relationships/notesSlide" Target="/ppt/notesSlides/notesSlide5.xml" Id="Re271e669264e4f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20ee087f3744e8" /><Relationship Type="http://schemas.openxmlformats.org/officeDocument/2006/relationships/notesSlide" Target="/ppt/notesSlides/notesSlide6.xml" Id="Rda69eef0f77b4959" /></Relationships>
</file>

<file path=ppt/slides/slide1.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AB5DD9B-50C0-4EE3-90C0-E11BF6DF49FA}"/>
              </a:ext>
            </a:extLst>
          </p:cNvPr>
          <p:cNvSpPr>
            <a:spLocks xmlns:a="http://schemas.openxmlformats.org/drawingml/2006/main" noGrp="1"/>
          </p:cNvSpPr>
          <p:nvPr/>
        </p:nvSpPr>
        <p:spPr>
          <a:xfrm xmlns:a="http://schemas.openxmlformats.org/drawingml/2006/main">
            <a:off x="762000" y="1257300"/>
            <a:ext cx="10572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100" b="1">
                <a:solidFill>
                  <a:srgbClr val="FFFFFF"/>
                </a:solidFill>
                <a:latin typeface="Arial"/>
                <a:ea typeface="Arial"/>
                <a:cs typeface="Arial"/>
              </a:defRPr>
            </a:pPr>
            <a:r>
              <a:rPr sz="5100" b="1">
                <a:solidFill>
                  <a:srgbClr val="FFFFFF"/>
                </a:solidFill>
                <a:latin typeface="Arial"/>
                <a:ea typeface="Arial"/>
                <a:cs typeface="Arial"/>
              </a:rPr>
              <a:t>Delivery to a target</a:t>
            </a:r>
          </a:p>
        </p:txBody>
      </p:sp>
      <p:sp>
        <p:nvSpPr>
          <p:cNvPr id="2" name="">
            <a:extLst xmlns:a="http://schemas.openxmlformats.org/drawingml/2006/main">
              <a:ext uri="{FF2B5EF4-FFF2-40B4-BE49-F238E27FC236}">
                <a16:creationId xmlns:a16="http://schemas.microsoft.com/office/drawing/2014/main" id="{3A49043E-F6F8-43D6-85E5-A1E9B0B86D60}"/>
              </a:ext>
            </a:extLst>
          </p:cNvPr>
          <p:cNvSpPr>
            <a:spLocks xmlns:a="http://schemas.openxmlformats.org/drawingml/2006/main" noGrp="1"/>
          </p:cNvSpPr>
          <p:nvPr/>
        </p:nvSpPr>
        <p:spPr>
          <a:xfrm xmlns:a="http://schemas.openxmlformats.org/drawingml/2006/main">
            <a:off x="800100" y="4000500"/>
            <a:ext cx="1038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9DDADD"/>
                </a:solidFill>
                <a:latin typeface="Arial"/>
                <a:ea typeface="Arial"/>
                <a:cs typeface="Arial"/>
              </a:defRPr>
            </a:pPr>
            <a:r>
              <a:rPr sz="2475" b="0">
                <a:solidFill>
                  <a:srgbClr val="9DDADD"/>
                </a:solidFill>
                <a:latin typeface="Arial"/>
                <a:ea typeface="Arial"/>
                <a:cs typeface="Arial"/>
              </a:rPr>
              <a:t>A variable controls travel</a:t>
            </a:r>
          </a:p>
        </p:txBody>
      </p:sp>
      <p:sp>
        <p:nvSpPr>
          <p:cNvPr id="3" name="">
            <a:extLst xmlns:a="http://schemas.openxmlformats.org/drawingml/2006/main">
              <a:ext uri="{FF2B5EF4-FFF2-40B4-BE49-F238E27FC236}">
                <a16:creationId xmlns:a16="http://schemas.microsoft.com/office/drawing/2014/main" id="{5674A3D3-D6A8-49C1-B98A-0A18945F3F43}"/>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9D4DC"/>
                </a:solidFill>
                <a:latin typeface="Arial"/>
                <a:ea typeface="Arial"/>
                <a:cs typeface="Arial"/>
              </a:defRPr>
            </a:pPr>
            <a:r>
              <a:rPr sz="1425" b="0">
                <a:solidFill>
                  <a:srgbClr val="B9D4DC"/>
                </a:solidFill>
                <a:latin typeface="Arial"/>
                <a:ea typeface="Arial"/>
                <a:cs typeface="Arial"/>
              </a:rPr>
              <a:t>Week 2 · MechaRAMS at the YMCA</a:t>
            </a:r>
          </a:p>
        </p:txBody>
      </p:sp>
    </p:spTree>
    <p:extLst>
      <p:ext uri="{BB962C8B-B14F-4D97-AF65-F5344CB8AC3E}">
        <p14:creationId xmlns:p14="http://schemas.microsoft.com/office/powerpoint/2010/main" val="1903273257"/>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6B32CA-90E4-41B4-9193-D046DD293B71}"/>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Today’s robot challenge</a:t>
            </a:r>
          </a:p>
        </p:txBody>
      </p:sp>
      <p:sp>
        <p:nvSpPr>
          <p:cNvPr id="2" name="">
            <a:extLst xmlns:a="http://schemas.openxmlformats.org/drawingml/2006/main">
              <a:ext uri="{FF2B5EF4-FFF2-40B4-BE49-F238E27FC236}">
                <a16:creationId xmlns:a16="http://schemas.microsoft.com/office/drawing/2014/main" id="{92634ED2-82C6-47B6-9FC4-2BBC493CE0A9}"/>
              </a:ext>
            </a:extLst>
          </p:cNvPr>
          <p:cNvSpPr>
            <a:spLocks xmlns:a="http://schemas.openxmlformats.org/drawingml/2006/main" noGrp="1"/>
          </p:cNvSpPr>
          <p:nvPr/>
        </p:nvSpPr>
        <p:spPr>
          <a:xfrm xmlns:a="http://schemas.openxmlformats.org/drawingml/2006/main">
            <a:off x="762000" y="19526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A consistent taped start</a:t>
            </a:r>
          </a:p>
        </p:txBody>
      </p:sp>
      <p:sp>
        <p:nvSpPr>
          <p:cNvPr id="3" name="">
            <a:extLst xmlns:a="http://schemas.openxmlformats.org/drawingml/2006/main">
              <a:ext uri="{FF2B5EF4-FFF2-40B4-BE49-F238E27FC236}">
                <a16:creationId xmlns:a16="http://schemas.microsoft.com/office/drawing/2014/main" id="{5D1D3BE3-D449-4B7C-B4C2-4E0B29F9B7E3}"/>
              </a:ext>
            </a:extLst>
          </p:cNvPr>
          <p:cNvSpPr>
            <a:spLocks xmlns:a="http://schemas.openxmlformats.org/drawingml/2006/main" noGrp="1"/>
          </p:cNvSpPr>
          <p:nvPr/>
        </p:nvSpPr>
        <p:spPr>
          <a:xfrm xmlns:a="http://schemas.openxmlformats.org/drawingml/2006/main">
            <a:off x="762000" y="30575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Three measured trials</a:t>
            </a:r>
          </a:p>
        </p:txBody>
      </p:sp>
      <p:sp>
        <p:nvSpPr>
          <p:cNvPr id="4" name="">
            <a:extLst xmlns:a="http://schemas.openxmlformats.org/drawingml/2006/main">
              <a:ext uri="{FF2B5EF4-FFF2-40B4-BE49-F238E27FC236}">
                <a16:creationId xmlns:a16="http://schemas.microsoft.com/office/drawing/2014/main" id="{FBD1A528-CE29-442D-BE2F-601B419371C0}"/>
              </a:ext>
            </a:extLst>
          </p:cNvPr>
          <p:cNvSpPr>
            <a:spLocks xmlns:a="http://schemas.openxmlformats.org/drawingml/2006/main" noGrp="1"/>
          </p:cNvSpPr>
          <p:nvPr/>
        </p:nvSpPr>
        <p:spPr>
          <a:xfrm xmlns:a="http://schemas.openxmlformats.org/drawingml/2006/main">
            <a:off x="762000" y="41624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One value changed at a time</a:t>
            </a:r>
          </a:p>
        </p:txBody>
      </p:sp>
      <p:sp>
        <p:nvSpPr>
          <p:cNvPr id="6" name="">
            <a:extLst xmlns:a="http://schemas.openxmlformats.org/drawingml/2006/main">
              <a:ext uri="{FF2B5EF4-FFF2-40B4-BE49-F238E27FC236}">
                <a16:creationId xmlns:a16="http://schemas.microsoft.com/office/drawing/2014/main" id="{53A9DEAC-E136-4801-B1EB-9B3C67DDAC69}"/>
              </a:ext>
            </a:extLst>
          </p:cNvPr>
          <p:cNvSpPr>
            <a:spLocks xmlns:a="http://schemas.openxmlformats.org/drawingml/2006/main" noGrp="1"/>
          </p:cNvSpPr>
          <p:nvPr/>
        </p:nvSpPr>
        <p:spPr>
          <a:xfrm xmlns:a="http://schemas.openxmlformats.org/drawingml/2006/main">
            <a:off x="7620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713A"/>
                </a:solidFill>
                <a:latin typeface="Arial"/>
                <a:ea typeface="Arial"/>
                <a:cs typeface="Arial"/>
              </a:defRPr>
            </a:defPPr>
          </a:lstStyle>
          <a:p xmlns:a="http://schemas.openxmlformats.org/drawingml/2006/main">
            <a:pPr>
              <a:buNone/>
              <a:defRPr sz="1575" b="1">
                <a:solidFill>
                  <a:srgbClr val="17713A"/>
                </a:solidFill>
                <a:latin typeface="Arial"/>
                <a:ea typeface="Arial"/>
                <a:cs typeface="Arial"/>
              </a:defRPr>
            </a:pPr>
            <a:r>
              <a:rPr sz="1575" b="1">
                <a:solidFill>
                  <a:srgbClr val="17713A"/>
                </a:solidFill>
                <a:latin typeface="Arial"/>
                <a:ea typeface="Arial"/>
                <a:cs typeface="Arial"/>
              </a:rPr>
              <a:t>GREEN steady: on</a:t>
            </a:r>
          </a:p>
        </p:txBody>
      </p:sp>
      <p:sp>
        <p:nvSpPr>
          <p:cNvPr id="7" name="">
            <a:extLst xmlns:a="http://schemas.openxmlformats.org/drawingml/2006/main">
              <a:ext uri="{FF2B5EF4-FFF2-40B4-BE49-F238E27FC236}">
                <a16:creationId xmlns:a16="http://schemas.microsoft.com/office/drawing/2014/main" id="{E42646E8-CC1F-443A-9854-67946C4350D9}"/>
              </a:ext>
            </a:extLst>
          </p:cNvPr>
          <p:cNvSpPr>
            <a:spLocks xmlns:a="http://schemas.openxmlformats.org/drawingml/2006/main" noGrp="1"/>
          </p:cNvSpPr>
          <p:nvPr/>
        </p:nvSpPr>
        <p:spPr>
          <a:xfrm xmlns:a="http://schemas.openxmlformats.org/drawingml/2006/main">
            <a:off x="43815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915500"/>
                </a:solidFill>
                <a:latin typeface="Arial"/>
                <a:ea typeface="Arial"/>
                <a:cs typeface="Arial"/>
              </a:defRPr>
            </a:defPPr>
          </a:lstStyle>
          <a:p xmlns:a="http://schemas.openxmlformats.org/drawingml/2006/main">
            <a:pPr>
              <a:buNone/>
              <a:defRPr sz="1575" b="1">
                <a:solidFill>
                  <a:srgbClr val="915500"/>
                </a:solidFill>
                <a:latin typeface="Arial"/>
                <a:ea typeface="Arial"/>
                <a:cs typeface="Arial"/>
              </a:defRPr>
            </a:pPr>
            <a:r>
              <a:rPr sz="1575" b="1">
                <a:solidFill>
                  <a:srgbClr val="915500"/>
                </a:solidFill>
                <a:latin typeface="Arial"/>
                <a:ea typeface="Arial"/>
                <a:cs typeface="Arial"/>
              </a:rPr>
              <a:t>ORANGE flashing: charge</a:t>
            </a:r>
          </a:p>
        </p:txBody>
      </p:sp>
      <p:sp>
        <p:nvSpPr>
          <p:cNvPr id="8" name="">
            <a:extLst xmlns:a="http://schemas.openxmlformats.org/drawingml/2006/main">
              <a:ext uri="{FF2B5EF4-FFF2-40B4-BE49-F238E27FC236}">
                <a16:creationId xmlns:a16="http://schemas.microsoft.com/office/drawing/2014/main" id="{EE639B05-7232-4600-B00B-4079A839EC2D}"/>
              </a:ext>
            </a:extLst>
          </p:cNvPr>
          <p:cNvSpPr>
            <a:spLocks xmlns:a="http://schemas.openxmlformats.org/drawingml/2006/main" noGrp="1"/>
          </p:cNvSpPr>
          <p:nvPr/>
        </p:nvSpPr>
        <p:spPr>
          <a:xfrm xmlns:a="http://schemas.openxmlformats.org/drawingml/2006/main">
            <a:off x="80010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B1292D"/>
                </a:solidFill>
                <a:latin typeface="Arial"/>
                <a:ea typeface="Arial"/>
                <a:cs typeface="Arial"/>
              </a:defRPr>
            </a:defPPr>
          </a:lstStyle>
          <a:p xmlns:a="http://schemas.openxmlformats.org/drawingml/2006/main">
            <a:pPr>
              <a:buNone/>
              <a:defRPr sz="1575" b="1">
                <a:solidFill>
                  <a:srgbClr val="B1292D"/>
                </a:solidFill>
                <a:latin typeface="Arial"/>
                <a:ea typeface="Arial"/>
                <a:cs typeface="Arial"/>
              </a:defRPr>
            </a:pPr>
            <a:r>
              <a:rPr sz="1575" b="1">
                <a:solidFill>
                  <a:srgbClr val="B1292D"/>
                </a:solidFill>
                <a:latin typeface="Arial"/>
                <a:ea typeface="Arial"/>
                <a:cs typeface="Arial"/>
              </a:rPr>
              <a:t>RED flashing: stop + mentor</a:t>
            </a:r>
          </a:p>
        </p:txBody>
      </p:sp>
      <p:sp>
        <p:nvSpPr>
          <p:cNvPr id="9" name="">
            <a:extLst xmlns:a="http://schemas.openxmlformats.org/drawingml/2006/main">
              <a:ext uri="{FF2B5EF4-FFF2-40B4-BE49-F238E27FC236}">
                <a16:creationId xmlns:a16="http://schemas.microsoft.com/office/drawing/2014/main" id="{2349DABC-7448-4DC0-899B-16CEB6EA1A76}"/>
              </a:ext>
            </a:extLst>
          </p:cNvPr>
          <p:cNvSpPr>
            <a:spLocks xmlns:a="http://schemas.openxmlformats.org/drawingml/2006/main" noGrp="1"/>
          </p:cNvSpPr>
          <p:nvPr/>
        </p:nvSpPr>
        <p:spPr>
          <a:xfrm xmlns:a="http://schemas.openxmlformats.org/drawingml/2006/main">
            <a:off x="762000" y="620077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36A77"/>
                </a:solidFill>
                <a:latin typeface="Arial"/>
                <a:ea typeface="Arial"/>
                <a:cs typeface="Arial"/>
              </a:defRPr>
            </a:defPPr>
          </a:lstStyle>
          <a:p xmlns:a="http://schemas.openxmlformats.org/drawingml/2006/main">
            <a:pPr>
              <a:buNone/>
              <a:defRPr sz="1425" b="0">
                <a:solidFill>
                  <a:srgbClr val="536A77"/>
                </a:solidFill>
                <a:latin typeface="Arial"/>
                <a:ea typeface="Arial"/>
                <a:cs typeface="Arial"/>
              </a:defRPr>
            </a:pPr>
            <a:r>
              <a:rPr sz="1425" b="0">
                <a:solidFill>
                  <a:srgbClr val="536A77"/>
                </a:solidFill>
                <a:latin typeface="Arial"/>
                <a:ea typeface="Arial"/>
                <a:cs typeface="Arial"/>
              </a:rPr>
              <a:t>Center button lights. A letter on the display is your program’s output.</a:t>
            </a:r>
          </a:p>
        </p:txBody>
      </p:sp>
    </p:spTree>
    <p:extLst>
      <p:ext uri="{BB962C8B-B14F-4D97-AF65-F5344CB8AC3E}">
        <p14:creationId xmlns:p14="http://schemas.microsoft.com/office/powerpoint/2010/main" val="1054225405"/>
      </p:ext>
    </p:extLst>
  </p:cSld>
</p:sld>
</file>

<file path=ppt/slides/slide3.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AA33CE0-6DFB-42C7-8CFA-4013DDDC6A12}"/>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FFFFFF"/>
                </a:solidFill>
                <a:latin typeface="Arial"/>
                <a:ea typeface="Arial"/>
                <a:cs typeface="Arial"/>
              </a:defRPr>
            </a:defPPr>
          </a:lstStyle>
          <a:p xmlns:a="http://schemas.openxmlformats.org/drawingml/2006/main">
            <a:pPr>
              <a:buNone/>
              <a:defRPr sz="3600" b="1">
                <a:solidFill>
                  <a:srgbClr val="FFFFFF"/>
                </a:solidFill>
                <a:latin typeface="Arial"/>
                <a:ea typeface="Arial"/>
                <a:cs typeface="Arial"/>
              </a:defRPr>
            </a:pPr>
            <a:r>
              <a:rPr sz="3600" b="1">
                <a:solidFill>
                  <a:srgbClr val="FFFFFF"/>
                </a:solidFill>
                <a:latin typeface="Arial"/>
                <a:ea typeface="Arial"/>
                <a:cs typeface="Arial"/>
              </a:rPr>
              <a:t>Variables and a fair test</a:t>
            </a:r>
          </a:p>
        </p:txBody>
      </p:sp>
      <p:sp>
        <p:nvSpPr>
          <p:cNvPr id="2" name="">
            <a:extLst xmlns:a="http://schemas.openxmlformats.org/drawingml/2006/main">
              <a:ext uri="{FF2B5EF4-FFF2-40B4-BE49-F238E27FC236}">
                <a16:creationId xmlns:a16="http://schemas.microsoft.com/office/drawing/2014/main" id="{D3B3C86E-44B2-485E-A703-50D5EE3422D5}"/>
              </a:ext>
            </a:extLst>
          </p:cNvPr>
          <p:cNvSpPr>
            <a:spLocks xmlns:a="http://schemas.openxmlformats.org/drawingml/2006/main" noGrp="1"/>
          </p:cNvSpPr>
          <p:nvPr/>
        </p:nvSpPr>
        <p:spPr>
          <a:xfrm xmlns:a="http://schemas.openxmlformats.org/drawingml/2006/main">
            <a:off x="781050" y="1666875"/>
            <a:ext cx="1057275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FFFFFF"/>
                </a:solidFill>
                <a:latin typeface="Consolas"/>
                <a:ea typeface="Consolas"/>
                <a:cs typeface="Consolas"/>
              </a:defRPr>
            </a:defPPr>
          </a:lstStyle>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travel = 180</a:t>
            </a:r>
          </a:p>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await drive(travel)</a:t>
            </a:r>
          </a:p>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await signal("D")</a:t>
            </a:r>
          </a:p>
        </p:txBody>
      </p:sp>
      <p:sp>
        <p:nvSpPr>
          <p:cNvPr id="3" name="">
            <a:extLst xmlns:a="http://schemas.openxmlformats.org/drawingml/2006/main">
              <a:ext uri="{FF2B5EF4-FFF2-40B4-BE49-F238E27FC236}">
                <a16:creationId xmlns:a16="http://schemas.microsoft.com/office/drawing/2014/main" id="{4FB72FBD-8951-4F22-B9E4-FF1DC49D1EED}"/>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B9D4DC"/>
                </a:solidFill>
                <a:latin typeface="Arial"/>
                <a:ea typeface="Arial"/>
                <a:cs typeface="Arial"/>
              </a:defRPr>
            </a:defPPr>
          </a:lstStyle>
          <a:p xmlns:a="http://schemas.openxmlformats.org/drawingml/2006/main">
            <a:pPr>
              <a:buNone/>
              <a:defRPr sz="1425" b="0">
                <a:solidFill>
                  <a:srgbClr val="B9D4DC"/>
                </a:solidFill>
                <a:latin typeface="Arial"/>
                <a:ea typeface="Arial"/>
                <a:cs typeface="Arial"/>
              </a:defRPr>
            </a:pPr>
            <a:r>
              <a:rPr sz="1425" b="0">
                <a:solidFill>
                  <a:srgbClr val="B9D4DC"/>
                </a:solidFill>
                <a:latin typeface="Arial"/>
                <a:ea typeface="Arial"/>
                <a:cs typeface="Arial"/>
              </a:rPr>
              <a:t>Reading fragment from the complete supplied project</a:t>
            </a:r>
          </a:p>
        </p:txBody>
      </p:sp>
      <p:sp>
        <p:nvSpPr>
          <p:cNvPr id="5" name="">
            <a:extLst xmlns:a="http://schemas.openxmlformats.org/drawingml/2006/main">
              <a:ext uri="{FF2B5EF4-FFF2-40B4-BE49-F238E27FC236}">
                <a16:creationId xmlns:a16="http://schemas.microsoft.com/office/drawing/2014/main" id="{9C4FAAF5-2312-4729-B7C6-60F00D025B3F}"/>
              </a:ext>
            </a:extLst>
          </p:cNvPr>
          <p:cNvSpPr>
            <a:spLocks xmlns:a="http://schemas.openxmlformats.org/drawingml/2006/main" noGrp="1"/>
          </p:cNvSpPr>
          <p:nvPr/>
        </p:nvSpPr>
        <p:spPr>
          <a:xfrm xmlns:a="http://schemas.openxmlformats.org/drawingml/2006/main">
            <a:off x="781050" y="43148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9DDADD"/>
                </a:solidFill>
                <a:latin typeface="Arial"/>
                <a:ea typeface="Arial"/>
                <a:cs typeface="Arial"/>
              </a:defRPr>
            </a:defPPr>
          </a:lstStyle>
          <a:p xmlns:a="http://schemas.openxmlformats.org/drawingml/2006/main">
            <a:pPr>
              <a:buNone/>
              <a:defRPr sz="2100" b="1">
                <a:solidFill>
                  <a:srgbClr val="9DDADD"/>
                </a:solidFill>
                <a:latin typeface="Arial"/>
                <a:ea typeface="Arial"/>
                <a:cs typeface="Arial"/>
              </a:defRPr>
            </a:pPr>
            <a:r>
              <a:rPr sz="2100" b="1">
                <a:solidFill>
                  <a:srgbClr val="9DDADD"/>
                </a:solidFill>
                <a:latin typeface="Arial"/>
                <a:ea typeface="Arial"/>
                <a:cs typeface="Arial"/>
              </a:rPr>
              <a:t>Our prediction</a:t>
            </a:r>
          </a:p>
        </p:txBody>
      </p:sp>
      <p:sp>
        <p:nvSpPr>
          <p:cNvPr id="6" name="">
            <a:extLst xmlns:a="http://schemas.openxmlformats.org/drawingml/2006/main">
              <a:ext uri="{FF2B5EF4-FFF2-40B4-BE49-F238E27FC236}">
                <a16:creationId xmlns:a16="http://schemas.microsoft.com/office/drawing/2014/main" id="{1341F9CF-093D-4527-9111-26ECC039029A}"/>
              </a:ext>
            </a:extLst>
          </p:cNvPr>
          <p:cNvSpPr>
            <a:spLocks xmlns:a="http://schemas.openxmlformats.org/drawingml/2006/main" noGrp="1"/>
          </p:cNvSpPr>
          <p:nvPr/>
        </p:nvSpPr>
        <p:spPr>
          <a:xfrm xmlns:a="http://schemas.openxmlformats.org/drawingml/2006/main">
            <a:off x="781050" y="47720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If 180 wheel degrees travels 9 cm, what might 360 do?</a:t>
            </a:r>
          </a:p>
        </p:txBody>
      </p:sp>
      <p:sp>
        <p:nvSpPr>
          <p:cNvPr id="7" name="">
            <a:extLst xmlns:a="http://schemas.openxmlformats.org/drawingml/2006/main">
              <a:ext uri="{FF2B5EF4-FFF2-40B4-BE49-F238E27FC236}">
                <a16:creationId xmlns:a16="http://schemas.microsoft.com/office/drawing/2014/main" id="{8ED799B5-9381-4520-8DE5-30D09FEFEE25}"/>
              </a:ext>
            </a:extLst>
          </p:cNvPr>
          <p:cNvSpPr>
            <a:spLocks xmlns:a="http://schemas.openxmlformats.org/drawingml/2006/main" noGrp="1"/>
          </p:cNvSpPr>
          <p:nvPr/>
        </p:nvSpPr>
        <p:spPr>
          <a:xfrm xmlns:a="http://schemas.openxmlformats.org/drawingml/2006/main">
            <a:off x="781050" y="54006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What will you keep the same in your test?</a:t>
            </a:r>
          </a:p>
        </p:txBody>
      </p:sp>
    </p:spTree>
    <p:extLst>
      <p:ext uri="{BB962C8B-B14F-4D97-AF65-F5344CB8AC3E}">
        <p14:creationId xmlns:p14="http://schemas.microsoft.com/office/powerpoint/2010/main" val="884624629"/>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6B7A65-ED0B-44D9-9C6D-2C5C464E99A0}"/>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3044"/>
                </a:solidFill>
                <a:latin typeface="Arial"/>
                <a:ea typeface="Arial"/>
                <a:cs typeface="Arial"/>
              </a:defRPr>
            </a:defPPr>
          </a:lstStyle>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Our robot and build jobs</a:t>
            </a:r>
          </a:p>
        </p:txBody>
      </p:sp>
      <p:sp>
        <p:nvSpPr>
          <p:cNvPr id="2" name="">
            <a:extLst xmlns:a="http://schemas.openxmlformats.org/drawingml/2006/main">
              <a:ext uri="{FF2B5EF4-FFF2-40B4-BE49-F238E27FC236}">
                <a16:creationId xmlns:a16="http://schemas.microsoft.com/office/drawing/2014/main" id="{EF4D4712-BCFD-41FE-A7FF-6FD110252804}"/>
              </a:ext>
            </a:extLst>
          </p:cNvPr>
          <p:cNvSpPr>
            <a:spLocks xmlns:a="http://schemas.openxmlformats.org/drawingml/2006/main" noGrp="1"/>
          </p:cNvSpPr>
          <p:nvPr/>
        </p:nvSpPr>
        <p:spPr>
          <a:xfrm xmlns:a="http://schemas.openxmlformats.org/drawingml/2006/main">
            <a:off x="762000" y="18478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Driver edits and starts after “clear.”</a:t>
            </a:r>
          </a:p>
        </p:txBody>
      </p:sp>
      <p:sp>
        <p:nvSpPr>
          <p:cNvPr id="3" name="">
            <a:extLst xmlns:a="http://schemas.openxmlformats.org/drawingml/2006/main">
              <a:ext uri="{FF2B5EF4-FFF2-40B4-BE49-F238E27FC236}">
                <a16:creationId xmlns:a16="http://schemas.microsoft.com/office/drawing/2014/main" id="{CE705E34-D13A-4FA8-87A0-CBAE67DE88DA}"/>
              </a:ext>
            </a:extLst>
          </p:cNvPr>
          <p:cNvSpPr>
            <a:spLocks xmlns:a="http://schemas.openxmlformats.org/drawingml/2006/main" noGrp="1"/>
          </p:cNvSpPr>
          <p:nvPr/>
        </p:nvSpPr>
        <p:spPr>
          <a:xfrm xmlns:a="http://schemas.openxmlformats.org/drawingml/2006/main">
            <a:off x="762000" y="27813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Navigator predicts and resets the stopped robot.</a:t>
            </a:r>
          </a:p>
        </p:txBody>
      </p:sp>
      <p:sp>
        <p:nvSpPr>
          <p:cNvPr id="4" name="">
            <a:extLst xmlns:a="http://schemas.openxmlformats.org/drawingml/2006/main">
              <a:ext uri="{FF2B5EF4-FFF2-40B4-BE49-F238E27FC236}">
                <a16:creationId xmlns:a16="http://schemas.microsoft.com/office/drawing/2014/main" id="{DBBCABA6-D69E-41D7-B0C1-9310CB5D34FF}"/>
              </a:ext>
            </a:extLst>
          </p:cNvPr>
          <p:cNvSpPr>
            <a:spLocks xmlns:a="http://schemas.openxmlformats.org/drawingml/2006/main" noGrp="1"/>
          </p:cNvSpPr>
          <p:nvPr/>
        </p:nvSpPr>
        <p:spPr>
          <a:xfrm xmlns:a="http://schemas.openxmlformats.org/drawingml/2006/main">
            <a:off x="762000" y="37147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Observer watches, measures and records.</a:t>
            </a:r>
          </a:p>
        </p:txBody>
      </p:sp>
      <p:sp>
        <p:nvSpPr>
          <p:cNvPr id="5" name="">
            <a:extLst xmlns:a="http://schemas.openxmlformats.org/drawingml/2006/main">
              <a:ext uri="{FF2B5EF4-FFF2-40B4-BE49-F238E27FC236}">
                <a16:creationId xmlns:a16="http://schemas.microsoft.com/office/drawing/2014/main" id="{897E3114-A741-4B91-8D51-9D325CF4A993}"/>
              </a:ext>
            </a:extLst>
          </p:cNvPr>
          <p:cNvSpPr>
            <a:spLocks xmlns:a="http://schemas.openxmlformats.org/drawingml/2006/main" noGrp="1"/>
          </p:cNvSpPr>
          <p:nvPr/>
        </p:nvSpPr>
        <p:spPr>
          <a:xfrm xmlns:a="http://schemas.openxmlformats.org/drawingml/2006/main">
            <a:off x="762000" y="46482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Other team builds. Everyone rotates jobs.</a:t>
            </a:r>
          </a:p>
        </p:txBody>
      </p:sp>
      <p:sp>
        <p:nvSpPr>
          <p:cNvPr id="7" name="">
            <a:extLst xmlns:a="http://schemas.openxmlformats.org/drawingml/2006/main">
              <a:ext uri="{FF2B5EF4-FFF2-40B4-BE49-F238E27FC236}">
                <a16:creationId xmlns:a16="http://schemas.microsoft.com/office/drawing/2014/main" id="{84AAAC99-6BE2-4082-9B58-1D188EC2C0C0}"/>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36A77"/>
                </a:solidFill>
                <a:latin typeface="Arial"/>
                <a:ea typeface="Arial"/>
                <a:cs typeface="Arial"/>
              </a:defRPr>
            </a:defPPr>
          </a:lstStyle>
          <a:p xmlns:a="http://schemas.openxmlformats.org/drawingml/2006/main">
            <a:pPr>
              <a:buNone/>
              <a:defRPr sz="1425" b="0">
                <a:solidFill>
                  <a:srgbClr val="536A77"/>
                </a:solidFill>
                <a:latin typeface="Arial"/>
                <a:ea typeface="Arial"/>
                <a:cs typeface="Arial"/>
              </a:defRPr>
            </a:pPr>
            <a:r>
              <a:rPr sz="1425" b="0">
                <a:solidFill>
                  <a:srgbClr val="536A77"/>
                </a:solidFill>
                <a:latin typeface="Arial"/>
                <a:ea typeface="Arial"/>
                <a:cs typeface="Arial"/>
              </a:rPr>
              <a:t>Robot turns: rotate every 4 minutes. Retests: every 2 minutes.</a:t>
            </a:r>
          </a:p>
        </p:txBody>
      </p:sp>
    </p:spTree>
    <p:extLst>
      <p:ext uri="{BB962C8B-B14F-4D97-AF65-F5344CB8AC3E}">
        <p14:creationId xmlns:p14="http://schemas.microsoft.com/office/powerpoint/2010/main" val="250490917"/>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3491E4-4E1C-43F4-97EA-50B329587D58}"/>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Evidence from our test</a:t>
            </a:r>
          </a:p>
        </p:txBody>
      </p:sp>
      <p:sp>
        <p:nvSpPr>
          <p:cNvPr id="2" name="">
            <a:extLst xmlns:a="http://schemas.openxmlformats.org/drawingml/2006/main">
              <a:ext uri="{FF2B5EF4-FFF2-40B4-BE49-F238E27FC236}">
                <a16:creationId xmlns:a16="http://schemas.microsoft.com/office/drawing/2014/main" id="{BB37A796-A2AC-43B9-874B-6CADC20C45CB}"/>
              </a:ext>
            </a:extLst>
          </p:cNvPr>
          <p:cNvSpPr>
            <a:spLocks xmlns:a="http://schemas.openxmlformats.org/drawingml/2006/main" noGrp="1"/>
          </p:cNvSpPr>
          <p:nvPr/>
        </p:nvSpPr>
        <p:spPr>
          <a:xfrm xmlns:a="http://schemas.openxmlformats.org/drawingml/2006/main">
            <a:off x="762000" y="1952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changed ____________________.</a:t>
            </a:r>
          </a:p>
        </p:txBody>
      </p:sp>
      <p:sp>
        <p:nvSpPr>
          <p:cNvPr id="3" name="">
            <a:extLst xmlns:a="http://schemas.openxmlformats.org/drawingml/2006/main">
              <a:ext uri="{FF2B5EF4-FFF2-40B4-BE49-F238E27FC236}">
                <a16:creationId xmlns:a16="http://schemas.microsoft.com/office/drawing/2014/main" id="{84520FA4-2753-41AD-BBC8-2B26A17E494B}"/>
              </a:ext>
            </a:extLst>
          </p:cNvPr>
          <p:cNvSpPr>
            <a:spLocks xmlns:a="http://schemas.openxmlformats.org/drawingml/2006/main" noGrp="1"/>
          </p:cNvSpPr>
          <p:nvPr/>
        </p:nvSpPr>
        <p:spPr>
          <a:xfrm xmlns:a="http://schemas.openxmlformats.org/drawingml/2006/main">
            <a:off x="762000" y="28479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predicted ____________________.</a:t>
            </a:r>
          </a:p>
        </p:txBody>
      </p:sp>
      <p:sp>
        <p:nvSpPr>
          <p:cNvPr id="4" name="">
            <a:extLst xmlns:a="http://schemas.openxmlformats.org/drawingml/2006/main">
              <a:ext uri="{FF2B5EF4-FFF2-40B4-BE49-F238E27FC236}">
                <a16:creationId xmlns:a16="http://schemas.microsoft.com/office/drawing/2014/main" id="{7E85D55C-E56A-4BAA-B557-56183B33B936}"/>
              </a:ext>
            </a:extLst>
          </p:cNvPr>
          <p:cNvSpPr>
            <a:spLocks xmlns:a="http://schemas.openxmlformats.org/drawingml/2006/main" noGrp="1"/>
          </p:cNvSpPr>
          <p:nvPr/>
        </p:nvSpPr>
        <p:spPr>
          <a:xfrm xmlns:a="http://schemas.openxmlformats.org/drawingml/2006/main">
            <a:off x="762000" y="37433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observed ____________________.</a:t>
            </a:r>
          </a:p>
        </p:txBody>
      </p:sp>
      <p:sp>
        <p:nvSpPr>
          <p:cNvPr id="5" name="">
            <a:extLst xmlns:a="http://schemas.openxmlformats.org/drawingml/2006/main">
              <a:ext uri="{FF2B5EF4-FFF2-40B4-BE49-F238E27FC236}">
                <a16:creationId xmlns:a16="http://schemas.microsoft.com/office/drawing/2014/main" id="{079E3865-1441-40C0-BEC6-008E77F80BB8}"/>
              </a:ext>
            </a:extLst>
          </p:cNvPr>
          <p:cNvSpPr>
            <a:spLocks xmlns:a="http://schemas.openxmlformats.org/drawingml/2006/main" noGrp="1"/>
          </p:cNvSpPr>
          <p:nvPr/>
        </p:nvSpPr>
        <p:spPr>
          <a:xfrm xmlns:a="http://schemas.openxmlformats.org/drawingml/2006/main">
            <a:off x="762000" y="46386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Our next test would ____________________.</a:t>
            </a:r>
          </a:p>
        </p:txBody>
      </p:sp>
    </p:spTree>
    <p:extLst>
      <p:ext uri="{BB962C8B-B14F-4D97-AF65-F5344CB8AC3E}">
        <p14:creationId xmlns:p14="http://schemas.microsoft.com/office/powerpoint/2010/main" val="1020591926"/>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D6036E-A2E9-4A36-B97A-34C71969360A}"/>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3044"/>
                </a:solidFill>
                <a:latin typeface="Arial"/>
                <a:ea typeface="Arial"/>
                <a:cs typeface="Arial"/>
              </a:defRPr>
            </a:defPPr>
          </a:lstStyle>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What we learned and noticed</a:t>
            </a:r>
          </a:p>
        </p:txBody>
      </p:sp>
      <p:sp>
        <p:nvSpPr>
          <p:cNvPr id="2" name="">
            <a:extLst xmlns:a="http://schemas.openxmlformats.org/drawingml/2006/main">
              <a:ext uri="{FF2B5EF4-FFF2-40B4-BE49-F238E27FC236}">
                <a16:creationId xmlns:a16="http://schemas.microsoft.com/office/drawing/2014/main" id="{3589665C-0395-4723-B7B6-A39E4F368AFA}"/>
              </a:ext>
            </a:extLst>
          </p:cNvPr>
          <p:cNvSpPr>
            <a:spLocks xmlns:a="http://schemas.openxmlformats.org/drawingml/2006/main" noGrp="1"/>
          </p:cNvSpPr>
          <p:nvPr/>
        </p:nvSpPr>
        <p:spPr>
          <a:xfrm xmlns:a="http://schemas.openxmlformats.org/drawingml/2006/main">
            <a:off x="762000" y="1743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did you learn about reaching a target?</a:t>
            </a:r>
          </a:p>
        </p:txBody>
      </p:sp>
      <p:sp>
        <p:nvSpPr>
          <p:cNvPr id="3" name="">
            <a:extLst xmlns:a="http://schemas.openxmlformats.org/drawingml/2006/main">
              <a:ext uri="{FF2B5EF4-FFF2-40B4-BE49-F238E27FC236}">
                <a16:creationId xmlns:a16="http://schemas.microsoft.com/office/drawing/2014/main" id="{9CCF5E69-6906-42F9-84AE-D99905738210}"/>
              </a:ext>
            </a:extLst>
          </p:cNvPr>
          <p:cNvSpPr>
            <a:spLocks xmlns:a="http://schemas.openxmlformats.org/drawingml/2006/main" noGrp="1"/>
          </p:cNvSpPr>
          <p:nvPr/>
        </p:nvSpPr>
        <p:spPr>
          <a:xfrm xmlns:a="http://schemas.openxmlformats.org/drawingml/2006/main">
            <a:off x="762000" y="2886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did you observe in your distance tests?</a:t>
            </a:r>
          </a:p>
        </p:txBody>
      </p:sp>
      <p:sp>
        <p:nvSpPr>
          <p:cNvPr id="4" name="">
            <a:extLst xmlns:a="http://schemas.openxmlformats.org/drawingml/2006/main">
              <a:ext uri="{FF2B5EF4-FFF2-40B4-BE49-F238E27FC236}">
                <a16:creationId xmlns:a16="http://schemas.microsoft.com/office/drawing/2014/main" id="{29607218-CD6E-415D-822C-BBFC8B6D24BA}"/>
              </a:ext>
            </a:extLst>
          </p:cNvPr>
          <p:cNvSpPr>
            <a:spLocks xmlns:a="http://schemas.openxmlformats.org/drawingml/2006/main" noGrp="1"/>
          </p:cNvSpPr>
          <p:nvPr/>
        </p:nvSpPr>
        <p:spPr>
          <a:xfrm xmlns:a="http://schemas.openxmlformats.org/drawingml/2006/main">
            <a:off x="762000" y="4029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would you change in your tray or next run?</a:t>
            </a:r>
          </a:p>
        </p:txBody>
      </p:sp>
      <p:sp>
        <p:nvSpPr>
          <p:cNvPr id="6" name="">
            <a:extLst xmlns:a="http://schemas.openxmlformats.org/drawingml/2006/main">
              <a:ext uri="{FF2B5EF4-FFF2-40B4-BE49-F238E27FC236}">
                <a16:creationId xmlns:a16="http://schemas.microsoft.com/office/drawing/2014/main" id="{37888790-B63F-4C61-B765-551F3241ADB5}"/>
              </a:ext>
            </a:extLst>
          </p:cNvPr>
          <p:cNvSpPr>
            <a:spLocks xmlns:a="http://schemas.openxmlformats.org/drawingml/2006/main" noGrp="1"/>
          </p:cNvSpPr>
          <p:nvPr/>
        </p:nvSpPr>
        <p:spPr>
          <a:xfrm xmlns:a="http://schemas.openxmlformats.org/drawingml/2006/main">
            <a:off x="762000" y="57150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06E75"/>
                </a:solidFill>
                <a:latin typeface="Arial"/>
                <a:ea typeface="Arial"/>
                <a:cs typeface="Arial"/>
              </a:defRPr>
            </a:defPPr>
          </a:lstStyle>
          <a:p xmlns:a="http://schemas.openxmlformats.org/drawingml/2006/main">
            <a:pPr>
              <a:buNone/>
              <a:defRPr sz="2025" b="0">
                <a:solidFill>
                  <a:srgbClr val="006E75"/>
                </a:solidFill>
                <a:latin typeface="Arial"/>
                <a:ea typeface="Arial"/>
                <a:cs typeface="Arial"/>
              </a:defRPr>
            </a:pPr>
            <a:r>
              <a:rPr sz="2025" b="0">
                <a:solidFill>
                  <a:srgbClr val="006E75"/>
                </a:solidFill>
                <a:latin typeface="Arial"/>
                <a:ea typeface="Arial"/>
                <a:cs typeface="Arial"/>
              </a:rPr>
              <a:t>Save your team project. Store your build. Reset the robot and parts.</a:t>
            </a:r>
          </a:p>
        </p:txBody>
      </p:sp>
    </p:spTree>
    <p:extLst>
      <p:ext uri="{BB962C8B-B14F-4D97-AF65-F5344CB8AC3E}">
        <p14:creationId xmlns:p14="http://schemas.microsoft.com/office/powerpoint/2010/main" val="16431123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2026-10-25T23:30:59.5110000Z</dcterms:created>
  <dcterms:modified xsi:type="dcterms:W3CDTF">2026-10-25T23:30:59.5110000Z</dcterms:modified>
</coreProperties>
</file>