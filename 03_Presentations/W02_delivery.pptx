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c058622de1164897" /><Relationship Type="http://schemas.openxmlformats.org/officeDocument/2006/relationships/extended-properties" Target="/docProps/app.xml" Id="R48b9a31f772d4a7a" /><Relationship Type="http://schemas.openxmlformats.org/officeDocument/2006/relationships/officeDocument" Target="/ppt/presentation.xml" Id="Rf3c6874c1ab54aed" /></Relationships>
</file>

<file path=ppt/presentation.xml><?xml version="1.0" encoding="utf-8"?>
<p:presentation xmlns:p="http://schemas.openxmlformats.org/presentationml/2006/main">
  <p:sldMasterIdLst>
    <p:sldMasterId xmlns:r="http://schemas.openxmlformats.org/officeDocument/2006/relationships" id="2147483648" r:id="R6f3a6d6dba834dde"/>
  </p:sldMasterIdLst>
  <p:notesMasterIdLst>
    <p:notesMasterId xmlns:r="http://schemas.openxmlformats.org/officeDocument/2006/relationships" r:id="R4ec0d25162514a73"/>
  </p:notesMasterIdLst>
  <p:sldIdLst>
    <p:sldId xmlns:r="http://schemas.openxmlformats.org/officeDocument/2006/relationships" id="256" r:id="R3bd84620e8e6401a"/>
    <p:sldId xmlns:r="http://schemas.openxmlformats.org/officeDocument/2006/relationships" id="257" r:id="Rc913564f0a754ab3"/>
    <p:sldId xmlns:r="http://schemas.openxmlformats.org/officeDocument/2006/relationships" id="258" r:id="Rb6238d8a173847f9"/>
    <p:sldId xmlns:r="http://schemas.openxmlformats.org/officeDocument/2006/relationships" id="259" r:id="R5ce61dfa4a9149ab"/>
    <p:sldId xmlns:r="http://schemas.openxmlformats.org/officeDocument/2006/relationships" id="260" r:id="Ra0cc8cbc9c674651"/>
    <p:sldId xmlns:r="http://schemas.openxmlformats.org/officeDocument/2006/relationships" id="261" r:id="R4eaf8d6cda9c48af"/>
    <p:sldId xmlns:r="http://schemas.openxmlformats.org/officeDocument/2006/relationships" id="262" r:id="R5a6552730e5049bf"/>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590900bcb1604baf" /><Relationship Type="http://schemas.openxmlformats.org/officeDocument/2006/relationships/slideMaster" Target="/ppt/slideMasters/slideMaster1.xml" Id="R6f3a6d6dba834dde" /><Relationship Type="http://schemas.openxmlformats.org/officeDocument/2006/relationships/notesMaster" Target="/ppt/notesMasters/notesMaster1.xml" Id="R4ec0d25162514a73" /><Relationship Type="http://schemas.openxmlformats.org/officeDocument/2006/relationships/presProps" Target="/ppt/presProps.xml" Id="Rdef9e49719104ac7" /><Relationship Type="http://schemas.openxmlformats.org/officeDocument/2006/relationships/tableStyles" Target="/ppt/tableStyles.xml" Id="R4bd0d0c870ee49b3" /><Relationship Type="http://schemas.openxmlformats.org/officeDocument/2006/relationships/slide" Target="/ppt/slides/slide1.xml" Id="R3bd84620e8e6401a" /><Relationship Type="http://schemas.openxmlformats.org/officeDocument/2006/relationships/slide" Target="/ppt/slides/slide2.xml" Id="Rc913564f0a754ab3" /><Relationship Type="http://schemas.openxmlformats.org/officeDocument/2006/relationships/slide" Target="/ppt/slides/slide3.xml" Id="Rb6238d8a173847f9" /><Relationship Type="http://schemas.openxmlformats.org/officeDocument/2006/relationships/slide" Target="/ppt/slides/slide4.xml" Id="R5ce61dfa4a9149ab" /><Relationship Type="http://schemas.openxmlformats.org/officeDocument/2006/relationships/slide" Target="/ppt/slides/slide5.xml" Id="Ra0cc8cbc9c674651" /><Relationship Type="http://schemas.openxmlformats.org/officeDocument/2006/relationships/slide" Target="/ppt/slides/slide6.xml" Id="R4eaf8d6cda9c48af" /><Relationship Type="http://schemas.openxmlformats.org/officeDocument/2006/relationships/slide" Target="/ppt/slides/slide7.xml" Id="R5a6552730e5049bf"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29219e4c9a18480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02d4e45a12f74230" /><Relationship Type="http://schemas.openxmlformats.org/officeDocument/2006/relationships/notesMaster" Target="/ppt/notesMasters/notesMaster1.xml" Id="R545ccbcf4b89488c" /></Relationships>
</file>

<file path=ppt/notesSlides/_rels/notesSlide2.xml.rels>&#65279;<?xml version="1.0" encoding="utf-8"?><Relationships xmlns="http://schemas.openxmlformats.org/package/2006/relationships"><Relationship Type="http://schemas.openxmlformats.org/officeDocument/2006/relationships/slide" Target="/ppt/slides/slide2.xml" Id="Ra4b7fca4988b4b1c" /><Relationship Type="http://schemas.openxmlformats.org/officeDocument/2006/relationships/notesMaster" Target="/ppt/notesMasters/notesMaster1.xml" Id="R788523f4730c4965" /></Relationships>
</file>

<file path=ppt/notesSlides/_rels/notesSlide3.xml.rels>&#65279;<?xml version="1.0" encoding="utf-8"?><Relationships xmlns="http://schemas.openxmlformats.org/package/2006/relationships"><Relationship Type="http://schemas.openxmlformats.org/officeDocument/2006/relationships/slide" Target="/ppt/slides/slide3.xml" Id="Rf50ac1bfe5134809" /><Relationship Type="http://schemas.openxmlformats.org/officeDocument/2006/relationships/notesMaster" Target="/ppt/notesMasters/notesMaster1.xml" Id="Rb59ad4339f074dbc" /></Relationships>
</file>

<file path=ppt/notesSlides/_rels/notesSlide4.xml.rels>&#65279;<?xml version="1.0" encoding="utf-8"?><Relationships xmlns="http://schemas.openxmlformats.org/package/2006/relationships"><Relationship Type="http://schemas.openxmlformats.org/officeDocument/2006/relationships/slide" Target="/ppt/slides/slide4.xml" Id="Re1059e5a06714554" /><Relationship Type="http://schemas.openxmlformats.org/officeDocument/2006/relationships/notesMaster" Target="/ppt/notesMasters/notesMaster1.xml" Id="R6301f37ef8854ed9" /></Relationships>
</file>

<file path=ppt/notesSlides/_rels/notesSlide5.xml.rels>&#65279;<?xml version="1.0" encoding="utf-8"?><Relationships xmlns="http://schemas.openxmlformats.org/package/2006/relationships"><Relationship Type="http://schemas.openxmlformats.org/officeDocument/2006/relationships/slide" Target="/ppt/slides/slide5.xml" Id="R114eff388ac94f65" /><Relationship Type="http://schemas.openxmlformats.org/officeDocument/2006/relationships/notesMaster" Target="/ppt/notesMasters/notesMaster1.xml" Id="R21d3c617ef984bfd" /></Relationships>
</file>

<file path=ppt/notesSlides/_rels/notesSlide6.xml.rels>&#65279;<?xml version="1.0" encoding="utf-8"?><Relationships xmlns="http://schemas.openxmlformats.org/package/2006/relationships"><Relationship Type="http://schemas.openxmlformats.org/officeDocument/2006/relationships/slide" Target="/ppt/slides/slide6.xml" Id="R7fef6e871b464cee" /><Relationship Type="http://schemas.openxmlformats.org/officeDocument/2006/relationships/notesMaster" Target="/ppt/notesMasters/notesMaster1.xml" Id="R843c4721aa96445f" /></Relationships>
</file>

<file path=ppt/notesSlides/_rels/notesSlide7.xml.rels>&#65279;<?xml version="1.0" encoding="utf-8"?><Relationships xmlns="http://schemas.openxmlformats.org/package/2006/relationships"><Relationship Type="http://schemas.openxmlformats.org/officeDocument/2006/relationships/slide" Target="/ppt/slides/slide7.xml" Id="Rc02d2743ac6e43ad" /><Relationship Type="http://schemas.openxmlformats.org/officeDocument/2006/relationships/notesMaster" Target="/ppt/notesMasters/notesMaster1.xml" Id="Rd590360580224334"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0–5 minutes: welcome and retrieval. A delivery cart must reach a shelf. Is guessing enough if it has to make the trip again tomorrow?</a:t>
            </a:r>
          </a:p>
          <a:p xmlns:a="http://schemas.openxmlformats.org/drawingml/2006/main">
            <a:r>
              <a:t>Learning goal: Each student changes a named distance value and uses a measurement to justify the next change.</a:t>
            </a:r>
          </a:p>
          <a:p xmlns:a="http://schemas.openxmlformats.org/drawingml/2006/main">
            <a:r>
              <a:t>Minimum success: The pair makes three recorded trials and attempts to stop the front of the robot within 5 cm of a 40 cm target. A justified adjustment counts even if precision remains imperfect.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5–10 minutes, or 7–12 in week 8. Show travel = 180 and explain that travel names a value. Measure the distance of one run. Change only travel. Motor degrees describe wheel rotation, not centimeters or the robot’s heading.</a:t>
            </a:r>
          </a:p>
          <a:p xmlns:a="http://schemas.openxmlformats.org/drawingml/2006/main">
            <a:r>
              <a:t>Preparation: Open W02_delivery.py. Set a 100 cm clear lane with a 40 cm goal and extra stopping space. Check front-edge start marks. Use 180, then 360 wheel degrees as trial values. Keep SPEED at 200.</a:t>
            </a:r>
          </a:p>
          <a:p xmlns:a="http://schemas.openxmlformats.org/drawingml/2006/main">
            <a:r>
              <a:t>The core challenge uses an assembled base and the supplied complete project.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 discussion fragment. It belongs in the supplied project, not in an empty file. The student function is named student_recipe. Show travel = 180 and explain that travel names a value. Measure the distance of one run. Change only travel. Motor degrees describe wheel rotation, not centimeters or the robot’s heading.</a:t>
            </a:r>
          </a:p>
          <a:p xmlns:a="http://schemas.openxmlformats.org/drawingml/2006/main">
            <a:r>
              <a:t>Expected reasoning: About 18 cm is a reasonable prediction for the example. The actual distance needs measurement. Increasing wheel degrees should increase travel when other conditions stay stable.</a:t>
            </a:r>
          </a:p>
          <a:p xmlns:a="http://schemas.openxmlformats.org/drawingml/2006/main">
            <a:r>
              <a:t>Technical references: https://spike.legoeducation.com/prime/modal/help/lls-help-python ; https://tuftsceeo.github.io/SPIKEPythonDocs/SPIKE3.html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10–15 minutes in the standard lesson. If 180 wheel degrees travels about 9 cm on our floor, what might 360 do? Mark this as a prediction, not a promise.</a:t>
            </a:r>
          </a:p>
          <a:p xmlns:a="http://schemas.openxmlformats.org/drawingml/2006/main">
            <a:r>
              <a:t>Do not reveal the answer immediately. Ask students to point to a line or a measured value. Expected reasoning: About 18 cm is a reasonable prediction for the example. The actual distance needs measurement. Increasing wheel degrees should increase travel when other conditions stay stable.</a:t>
            </a:r>
          </a:p>
          <a:p xmlns:a="http://schemas.openxmlformats.org/drawingml/2006/main">
            <a:r>
              <a:t>Support: Offer trial values 360, 720, and 900 rather than require a ratio calculation. Use a number line and the words too far or too short.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Robot and planning rotations. 1. Align the same front edge with the start tape every time. Run travel = 180. Measure front-edge displacement in centimeters and enter it in the log.</a:t>
            </a:r>
          </a:p>
          <a:p xmlns:a="http://schemas.openxmlformats.org/drawingml/2006/main">
            <a:r>
              <a:t>2. Swap driver. Predict and run travel = 360. Keep the robot, floor, starting angle, and speed the same. Compare the two measurements.</a:t>
            </a:r>
          </a:p>
          <a:p xmlns:a="http://schemas.openxmlformats.org/drawingml/2006/main">
            <a:r>
              <a:t>3. Estimate a value for a 40 cm delivery using the measured result. Example only: if 360 gave 18 cm, 40 / 18 × 360 is about 800. The drive helper permits up to 1080 degrees. Use your own result.</a:t>
            </a:r>
          </a:p>
          <a:p xmlns:a="http://schemas.openxmlformats.org/drawingml/2006/main">
            <a:r>
              <a:t>4. During the final turn, test the estimate. Record signed error as measured distance minus 40. If it overshoots, reduce travel. If it stops short, increase travel.</a:t>
            </a:r>
          </a:p>
          <a:p xmlns:a="http://schemas.openxmlformats.org/drawingml/2006/main">
            <a:r>
              <a:t>5. Explain one reason two identical runs might differ, such as a crooked start or wheel slip. Park the robot and save the pair’s best value.</a:t>
            </a:r>
          </a:p>
          <a:p xmlns:a="http://schemas.openxmlformats.org/drawingml/2006/main">
            <a:r>
              <a:t>Off-robot task: Sketch the start and goal, measure the paper planning lane, and calculate or estimate the next value. After the robot turn, compare trials and write one controlled change. Advanced pairs estimate using ratios.</a:t>
            </a:r>
          </a:p>
          <a:p xmlns:a="http://schemas.openxmlformats.org/drawingml/2006/main">
            <a:r>
              <a:t>Week 8 schedule: 12–24 rehearsals, 24–28 setup, 28–44 demos. Otherwise 15–27 first pair, 27–39 second pair.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39–49 minutes for improvement in standard lessons. Three rows: wheel degrees, prediction in cm, measured cm, error from 40 cm. Individual exit: identify the variable and defend one proposed change.</a:t>
            </a:r>
          </a:p>
          <a:p xmlns:a="http://schemas.openxmlformats.org/drawingml/2006/main">
            <a:r>
              <a:t>Troubleshooting: Distance inconsistent: reset to the same front edge and check wheel friction. Robot arcs: check that tires match and both motors connect correctly. A target miss is data, not a coding failure.</a:t>
            </a:r>
          </a:p>
          <a:p xmlns:a="http://schemas.openxmlformats.org/drawingml/2006/main">
            <a:r>
              <a:t>Optional extension: Repeat the same command twice and report the range. Then test a different slow speed while holding wheel degrees constant. Discuss duration versus travel.</a:t>
            </a:r>
          </a:p>
          <a:p xmlns:a="http://schemas.openxmlformats.org/drawingml/2006/main">
            <a:r>
              <a:t>If Python becomes a barrier, preserve the concept using this fallback: Set variable travel to 0.5 rotations; move straight for travel rotations; display D. Try 1 rotation, then estimate the target. Block speed is a percentage and Python velocity is degrees per second, so do not copy speed numbers between them.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49–54 minutes: individual explanation. Reserve 54–60 for saving and reset. About 18 cm is a reasonable prediction for the example. The actual distance needs measurement. Increasing wheel degrees should increase travel when other conditions stay stable.</a:t>
            </a:r>
          </a:p>
          <a:p xmlns:a="http://schemas.openxmlformats.org/drawingml/2006/main">
            <a:r>
              <a:t>FRC autonomous routines rely on measurement and repeatable starts.</a:t>
            </a:r>
          </a:p>
          <a:p xmlns:a="http://schemas.openxmlformats.org/drawingml/2006/main">
            <a:r>
              <a:t>Keep invitations to future activities optional and parent-mediated. Do not equate club attendance with FRC membership.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0c12a4b448f48b1"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946cd1d0eb7458e" /><Relationship Type="http://schemas.openxmlformats.org/officeDocument/2006/relationships/slideLayout" Target="/ppt/slideLayouts/slideLayout1.xml" Id="Rda88e1c1c66e405e"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a88e1c1c66e405e"/>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50d46076926541d8" /><Relationship Type="http://schemas.openxmlformats.org/officeDocument/2006/relationships/notesSlide" Target="/ppt/notesSlides/notesSlide1.xml" Id="Rcf11f357d5b54ada"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3adae1dcdb084896" /><Relationship Type="http://schemas.openxmlformats.org/officeDocument/2006/relationships/notesSlide" Target="/ppt/notesSlides/notesSlide2.xml" Id="Rc093643bd03349d1"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8df73f488aeb4328" /><Relationship Type="http://schemas.openxmlformats.org/officeDocument/2006/relationships/notesSlide" Target="/ppt/notesSlides/notesSlide3.xml" Id="R500fd32dc9d547a8"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3f8bc448883948d0" /><Relationship Type="http://schemas.openxmlformats.org/officeDocument/2006/relationships/notesSlide" Target="/ppt/notesSlides/notesSlide4.xml" Id="R79cf426ea0134885"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94b6a1bf3a0b4ba9" /><Relationship Type="http://schemas.openxmlformats.org/officeDocument/2006/relationships/notesSlide" Target="/ppt/notesSlides/notesSlide5.xml" Id="R6ce8ab6740c84895"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848abbe8d0224c7d" /><Relationship Type="http://schemas.openxmlformats.org/officeDocument/2006/relationships/notesSlide" Target="/ppt/notesSlides/notesSlide6.xml" Id="R8880134c7f72492b"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5f218d0b5dc84306" /><Relationship Type="http://schemas.openxmlformats.org/officeDocument/2006/relationships/notesSlide" Target="/ppt/notesSlides/notesSlide7.xml" Id="R2ec63541ce7c44a3" /></Relationships>
</file>

<file path=ppt/slides/slide1.xml><?xml version="1.0" encoding="utf-8"?>
<p:sld xmlns:p="http://schemas.openxmlformats.org/presentationml/2006/main">
  <p:cSld>
    <p:bg>
      <p:bgPr>
        <a:solidFill xmlns:a="http://schemas.openxmlformats.org/drawingml/2006/main">
          <a:srgbClr val="173044"/>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DAB5DD9B-50C0-4EE3-90C0-E11BF6DF49FA}"/>
              </a:ext>
            </a:extLst>
          </p:cNvPr>
          <p:cNvSpPr>
            <a:spLocks xmlns:a="http://schemas.openxmlformats.org/drawingml/2006/main" noGrp="1"/>
          </p:cNvSpPr>
          <p:nvPr/>
        </p:nvSpPr>
        <p:spPr>
          <a:xfrm xmlns:a="http://schemas.openxmlformats.org/drawingml/2006/main">
            <a:off x="762000" y="1257300"/>
            <a:ext cx="10572750" cy="2286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100" b="1">
                <a:solidFill>
                  <a:srgbClr val="FFFFFF"/>
                </a:solidFill>
                <a:latin typeface="Arial"/>
                <a:ea typeface="Arial"/>
                <a:cs typeface="Arial"/>
              </a:defRPr>
            </a:pPr>
            <a:r>
              <a:rPr sz="5100" b="1">
                <a:solidFill>
                  <a:srgbClr val="FFFFFF"/>
                </a:solidFill>
                <a:latin typeface="Arial"/>
                <a:ea typeface="Arial"/>
                <a:cs typeface="Arial"/>
              </a:rPr>
              <a:t>Delivery to a target</a:t>
            </a:r>
          </a:p>
        </p:txBody>
      </p:sp>
      <p:sp>
        <p:nvSpPr>
          <p:cNvPr id="2" name="">
            <a:extLst xmlns:a="http://schemas.openxmlformats.org/drawingml/2006/main">
              <a:ext uri="{FF2B5EF4-FFF2-40B4-BE49-F238E27FC236}">
                <a16:creationId xmlns:a16="http://schemas.microsoft.com/office/drawing/2014/main" id="{3A49043E-F6F8-43D6-85E5-A1E9B0B86D60}"/>
              </a:ext>
            </a:extLst>
          </p:cNvPr>
          <p:cNvSpPr>
            <a:spLocks xmlns:a="http://schemas.openxmlformats.org/drawingml/2006/main" noGrp="1"/>
          </p:cNvSpPr>
          <p:nvPr/>
        </p:nvSpPr>
        <p:spPr>
          <a:xfrm xmlns:a="http://schemas.openxmlformats.org/drawingml/2006/main">
            <a:off x="800100" y="4000500"/>
            <a:ext cx="1038225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75" b="0">
                <a:solidFill>
                  <a:srgbClr val="9DDADD"/>
                </a:solidFill>
                <a:latin typeface="Arial"/>
                <a:ea typeface="Arial"/>
                <a:cs typeface="Arial"/>
              </a:defRPr>
            </a:pPr>
            <a:r>
              <a:rPr sz="2475" b="0">
                <a:solidFill>
                  <a:srgbClr val="9DDADD"/>
                </a:solidFill>
                <a:latin typeface="Arial"/>
                <a:ea typeface="Arial"/>
                <a:cs typeface="Arial"/>
              </a:rPr>
              <a:t>A variable controls travel</a:t>
            </a:r>
          </a:p>
        </p:txBody>
      </p:sp>
      <p:sp>
        <p:nvSpPr>
          <p:cNvPr id="3" name="">
            <a:extLst xmlns:a="http://schemas.openxmlformats.org/drawingml/2006/main">
              <a:ext uri="{FF2B5EF4-FFF2-40B4-BE49-F238E27FC236}">
                <a16:creationId xmlns:a16="http://schemas.microsoft.com/office/drawing/2014/main" id="{5674A3D3-D6A8-49C1-B98A-0A18945F3F43}"/>
              </a:ext>
            </a:extLst>
          </p:cNvPr>
          <p:cNvSpPr>
            <a:spLocks xmlns:a="http://schemas.openxmlformats.org/drawingml/2006/main" noGrp="1"/>
          </p:cNvSpPr>
          <p:nvPr/>
        </p:nvSpPr>
        <p:spPr>
          <a:xfrm xmlns:a="http://schemas.openxmlformats.org/drawingml/2006/main">
            <a:off x="762000" y="6181725"/>
            <a:ext cx="10572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B9D4DC"/>
                </a:solidFill>
                <a:latin typeface="Arial"/>
                <a:ea typeface="Arial"/>
                <a:cs typeface="Arial"/>
              </a:defRPr>
            </a:pPr>
            <a:r>
              <a:rPr sz="1425" b="0">
                <a:solidFill>
                  <a:srgbClr val="B9D4DC"/>
                </a:solidFill>
                <a:latin typeface="Arial"/>
                <a:ea typeface="Arial"/>
                <a:cs typeface="Arial"/>
              </a:rPr>
              <a:t>Week 2 · MechaRAMS at the YMCA</a:t>
            </a:r>
          </a:p>
        </p:txBody>
      </p:sp>
    </p:spTree>
    <p:extLst>
      <p:ext uri="{BB962C8B-B14F-4D97-AF65-F5344CB8AC3E}">
        <p14:creationId xmlns:p14="http://schemas.microsoft.com/office/powerpoint/2010/main" val="1903273257"/>
      </p:ext>
    </p:extLst>
  </p:cSld>
</p:sld>
</file>

<file path=ppt/slides/slide2.xml><?xml version="1.0" encoding="utf-8"?>
<p:sld xmlns:p="http://schemas.openxmlformats.org/presentationml/2006/main">
  <p:cSld>
    <p:bg>
      <p:bgPr>
        <a:solidFill xmlns:a="http://schemas.openxmlformats.org/drawingml/2006/main">
          <a:srgbClr val="FBFAF6"/>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886B32CA-90E4-41B4-9193-D046DD293B71}"/>
              </a:ext>
            </a:extLst>
          </p:cNvPr>
          <p:cNvSpPr>
            <a:spLocks xmlns:a="http://schemas.openxmlformats.org/drawingml/2006/main" noGrp="1"/>
          </p:cNvSpPr>
          <p:nvPr/>
        </p:nvSpPr>
        <p:spPr>
          <a:xfrm xmlns:a="http://schemas.openxmlformats.org/drawingml/2006/main">
            <a:off x="685800" y="457200"/>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173044"/>
                </a:solidFill>
                <a:latin typeface="Arial"/>
                <a:ea typeface="Arial"/>
                <a:cs typeface="Arial"/>
              </a:defRPr>
            </a:pPr>
            <a:r>
              <a:rPr sz="3600" b="1">
                <a:solidFill>
                  <a:srgbClr val="173044"/>
                </a:solidFill>
                <a:latin typeface="Arial"/>
                <a:ea typeface="Arial"/>
                <a:cs typeface="Arial"/>
              </a:rPr>
              <a:t>Today’s robot challenge</a:t>
            </a:r>
          </a:p>
        </p:txBody>
      </p:sp>
      <p:sp>
        <p:nvSpPr>
          <p:cNvPr id="2" name="">
            <a:extLst xmlns:a="http://schemas.openxmlformats.org/drawingml/2006/main">
              <a:ext uri="{FF2B5EF4-FFF2-40B4-BE49-F238E27FC236}">
                <a16:creationId xmlns:a16="http://schemas.microsoft.com/office/drawing/2014/main" id="{92634ED2-82C6-47B6-9FC4-2BBC493CE0A9}"/>
              </a:ext>
            </a:extLst>
          </p:cNvPr>
          <p:cNvSpPr>
            <a:spLocks xmlns:a="http://schemas.openxmlformats.org/drawingml/2006/main" noGrp="1"/>
          </p:cNvSpPr>
          <p:nvPr/>
        </p:nvSpPr>
        <p:spPr>
          <a:xfrm xmlns:a="http://schemas.openxmlformats.org/drawingml/2006/main">
            <a:off x="762000" y="1952625"/>
            <a:ext cx="10477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73044"/>
                </a:solidFill>
                <a:latin typeface="Arial"/>
                <a:ea typeface="Arial"/>
                <a:cs typeface="Arial"/>
              </a:defRPr>
            </a:pPr>
            <a:r>
              <a:rPr sz="2550" b="0">
                <a:solidFill>
                  <a:srgbClr val="173044"/>
                </a:solidFill>
                <a:latin typeface="Arial"/>
                <a:ea typeface="Arial"/>
                <a:cs typeface="Arial"/>
              </a:rPr>
              <a:t>A consistent taped start</a:t>
            </a:r>
          </a:p>
        </p:txBody>
      </p:sp>
      <p:sp>
        <p:nvSpPr>
          <p:cNvPr id="3" name="">
            <a:extLst xmlns:a="http://schemas.openxmlformats.org/drawingml/2006/main">
              <a:ext uri="{FF2B5EF4-FFF2-40B4-BE49-F238E27FC236}">
                <a16:creationId xmlns:a16="http://schemas.microsoft.com/office/drawing/2014/main" id="{5D1D3BE3-D449-4B7C-B4C2-4E0B29F9B7E3}"/>
              </a:ext>
            </a:extLst>
          </p:cNvPr>
          <p:cNvSpPr>
            <a:spLocks xmlns:a="http://schemas.openxmlformats.org/drawingml/2006/main" noGrp="1"/>
          </p:cNvSpPr>
          <p:nvPr/>
        </p:nvSpPr>
        <p:spPr>
          <a:xfrm xmlns:a="http://schemas.openxmlformats.org/drawingml/2006/main">
            <a:off x="762000" y="3057525"/>
            <a:ext cx="10477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73044"/>
                </a:solidFill>
                <a:latin typeface="Arial"/>
                <a:ea typeface="Arial"/>
                <a:cs typeface="Arial"/>
              </a:defRPr>
            </a:pPr>
            <a:r>
              <a:rPr sz="2550" b="0">
                <a:solidFill>
                  <a:srgbClr val="173044"/>
                </a:solidFill>
                <a:latin typeface="Arial"/>
                <a:ea typeface="Arial"/>
                <a:cs typeface="Arial"/>
              </a:rPr>
              <a:t>Three measured trials</a:t>
            </a:r>
          </a:p>
        </p:txBody>
      </p:sp>
      <p:sp>
        <p:nvSpPr>
          <p:cNvPr id="4" name="">
            <a:extLst xmlns:a="http://schemas.openxmlformats.org/drawingml/2006/main">
              <a:ext uri="{FF2B5EF4-FFF2-40B4-BE49-F238E27FC236}">
                <a16:creationId xmlns:a16="http://schemas.microsoft.com/office/drawing/2014/main" id="{FBD1A528-CE29-442D-BE2F-601B419371C0}"/>
              </a:ext>
            </a:extLst>
          </p:cNvPr>
          <p:cNvSpPr>
            <a:spLocks xmlns:a="http://schemas.openxmlformats.org/drawingml/2006/main" noGrp="1"/>
          </p:cNvSpPr>
          <p:nvPr/>
        </p:nvSpPr>
        <p:spPr>
          <a:xfrm xmlns:a="http://schemas.openxmlformats.org/drawingml/2006/main">
            <a:off x="762000" y="4162425"/>
            <a:ext cx="10477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73044"/>
                </a:solidFill>
                <a:latin typeface="Arial"/>
                <a:ea typeface="Arial"/>
                <a:cs typeface="Arial"/>
              </a:defRPr>
            </a:pPr>
            <a:r>
              <a:rPr sz="2550" b="0">
                <a:solidFill>
                  <a:srgbClr val="173044"/>
                </a:solidFill>
                <a:latin typeface="Arial"/>
                <a:ea typeface="Arial"/>
                <a:cs typeface="Arial"/>
              </a:rPr>
              <a:t>One value changed at a time</a:t>
            </a:r>
          </a:p>
        </p:txBody>
      </p:sp>
    </p:spTree>
    <p:extLst>
      <p:ext uri="{BB962C8B-B14F-4D97-AF65-F5344CB8AC3E}">
        <p14:creationId xmlns:p14="http://schemas.microsoft.com/office/powerpoint/2010/main" val="1054225405"/>
      </p:ext>
    </p:extLst>
  </p:cSld>
</p:sld>
</file>

<file path=ppt/slides/slide3.xml><?xml version="1.0" encoding="utf-8"?>
<p:sld xmlns:p="http://schemas.openxmlformats.org/presentationml/2006/main">
  <p:cSld>
    <p:bg>
      <p:bgPr>
        <a:solidFill xmlns:a="http://schemas.openxmlformats.org/drawingml/2006/main">
          <a:srgbClr val="173044"/>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2AA33CE0-6DFB-42C7-8CFA-4013DDDC6A12}"/>
              </a:ext>
            </a:extLst>
          </p:cNvPr>
          <p:cNvSpPr>
            <a:spLocks xmlns:a="http://schemas.openxmlformats.org/drawingml/2006/main" noGrp="1"/>
          </p:cNvSpPr>
          <p:nvPr/>
        </p:nvSpPr>
        <p:spPr>
          <a:xfrm xmlns:a="http://schemas.openxmlformats.org/drawingml/2006/main">
            <a:off x="685800" y="457200"/>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FFFFFF"/>
                </a:solidFill>
                <a:latin typeface="Arial"/>
                <a:ea typeface="Arial"/>
                <a:cs typeface="Arial"/>
              </a:defRPr>
            </a:pPr>
            <a:r>
              <a:rPr sz="3600" b="1">
                <a:solidFill>
                  <a:srgbClr val="FFFFFF"/>
                </a:solidFill>
                <a:latin typeface="Arial"/>
                <a:ea typeface="Arial"/>
                <a:cs typeface="Arial"/>
              </a:rPr>
              <a:t>Variables and a fair test</a:t>
            </a:r>
          </a:p>
        </p:txBody>
      </p:sp>
      <p:sp>
        <p:nvSpPr>
          <p:cNvPr id="2" name="">
            <a:extLst xmlns:a="http://schemas.openxmlformats.org/drawingml/2006/main">
              <a:ext uri="{FF2B5EF4-FFF2-40B4-BE49-F238E27FC236}">
                <a16:creationId xmlns:a16="http://schemas.microsoft.com/office/drawing/2014/main" id="{D3B3C86E-44B2-485E-A703-50D5EE3422D5}"/>
              </a:ext>
            </a:extLst>
          </p:cNvPr>
          <p:cNvSpPr>
            <a:spLocks xmlns:a="http://schemas.openxmlformats.org/drawingml/2006/main" noGrp="1"/>
          </p:cNvSpPr>
          <p:nvPr/>
        </p:nvSpPr>
        <p:spPr>
          <a:xfrm xmlns:a="http://schemas.openxmlformats.org/drawingml/2006/main">
            <a:off x="781050" y="1952625"/>
            <a:ext cx="10572750" cy="3429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FFFFFF"/>
                </a:solidFill>
                <a:latin typeface="Consolas"/>
                <a:ea typeface="Consolas"/>
                <a:cs typeface="Consolas"/>
              </a:defRPr>
            </a:pPr>
            <a:r>
              <a:rPr sz="2325" b="0">
                <a:solidFill>
                  <a:srgbClr val="FFFFFF"/>
                </a:solidFill>
                <a:latin typeface="Consolas"/>
                <a:ea typeface="Consolas"/>
                <a:cs typeface="Consolas"/>
              </a:rPr>
              <a:t>travel = 180</a:t>
            </a:r>
          </a:p>
          <a:p xmlns:a="http://schemas.openxmlformats.org/drawingml/2006/main">
            <a:pPr>
              <a:defRPr sz="2325" b="0">
                <a:solidFill>
                  <a:srgbClr val="FFFFFF"/>
                </a:solidFill>
                <a:latin typeface="Consolas"/>
                <a:ea typeface="Consolas"/>
                <a:cs typeface="Consolas"/>
              </a:defRPr>
            </a:pPr>
            <a:r>
              <a:rPr sz="2325" b="0">
                <a:solidFill>
                  <a:srgbClr val="FFFFFF"/>
                </a:solidFill>
                <a:latin typeface="Consolas"/>
                <a:ea typeface="Consolas"/>
                <a:cs typeface="Consolas"/>
              </a:rPr>
              <a:t>await drive(travel)</a:t>
            </a:r>
          </a:p>
          <a:p xmlns:a="http://schemas.openxmlformats.org/drawingml/2006/main">
            <a:pPr>
              <a:defRPr sz="2325" b="0">
                <a:solidFill>
                  <a:srgbClr val="FFFFFF"/>
                </a:solidFill>
                <a:latin typeface="Consolas"/>
                <a:ea typeface="Consolas"/>
                <a:cs typeface="Consolas"/>
              </a:defRPr>
            </a:pPr>
            <a:r>
              <a:rPr sz="2325" b="0">
                <a:solidFill>
                  <a:srgbClr val="FFFFFF"/>
                </a:solidFill>
                <a:latin typeface="Consolas"/>
                <a:ea typeface="Consolas"/>
                <a:cs typeface="Consolas"/>
              </a:rPr>
              <a:t>await signal("D")</a:t>
            </a:r>
          </a:p>
        </p:txBody>
      </p:sp>
      <p:sp>
        <p:nvSpPr>
          <p:cNvPr id="3" name="">
            <a:extLst xmlns:a="http://schemas.openxmlformats.org/drawingml/2006/main">
              <a:ext uri="{FF2B5EF4-FFF2-40B4-BE49-F238E27FC236}">
                <a16:creationId xmlns:a16="http://schemas.microsoft.com/office/drawing/2014/main" id="{4FB72FBD-8951-4F22-B9E4-FF1DC49D1EED}"/>
              </a:ext>
            </a:extLst>
          </p:cNvPr>
          <p:cNvSpPr>
            <a:spLocks xmlns:a="http://schemas.openxmlformats.org/drawingml/2006/main" noGrp="1"/>
          </p:cNvSpPr>
          <p:nvPr/>
        </p:nvSpPr>
        <p:spPr>
          <a:xfrm xmlns:a="http://schemas.openxmlformats.org/drawingml/2006/main">
            <a:off x="762000" y="6181725"/>
            <a:ext cx="10572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B9D4DC"/>
                </a:solidFill>
                <a:latin typeface="Arial"/>
                <a:ea typeface="Arial"/>
                <a:cs typeface="Arial"/>
              </a:defRPr>
            </a:pPr>
            <a:r>
              <a:rPr sz="1425" b="0">
                <a:solidFill>
                  <a:srgbClr val="B9D4DC"/>
                </a:solidFill>
                <a:latin typeface="Arial"/>
                <a:ea typeface="Arial"/>
                <a:cs typeface="Arial"/>
              </a:rPr>
              <a:t>Reading fragment from a complete supplied Python project</a:t>
            </a:r>
          </a:p>
        </p:txBody>
      </p:sp>
    </p:spTree>
    <p:extLst>
      <p:ext uri="{BB962C8B-B14F-4D97-AF65-F5344CB8AC3E}">
        <p14:creationId xmlns:p14="http://schemas.microsoft.com/office/powerpoint/2010/main" val="884624629"/>
      </p:ext>
    </p:extLst>
  </p:cSld>
</p:sld>
</file>

<file path=ppt/slides/slide4.xml><?xml version="1.0" encoding="utf-8"?>
<p:sld xmlns:p="http://schemas.openxmlformats.org/presentationml/2006/main">
  <p:cSld>
    <p:bg>
      <p:bgPr>
        <a:solidFill xmlns:a="http://schemas.openxmlformats.org/drawingml/2006/main">
          <a:srgbClr val="FBFAF6"/>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37C02E73-D634-4996-888C-BE8411C5CACA}"/>
              </a:ext>
            </a:extLst>
          </p:cNvPr>
          <p:cNvSpPr>
            <a:spLocks xmlns:a="http://schemas.openxmlformats.org/drawingml/2006/main" noGrp="1"/>
          </p:cNvSpPr>
          <p:nvPr/>
        </p:nvSpPr>
        <p:spPr>
          <a:xfrm xmlns:a="http://schemas.openxmlformats.org/drawingml/2006/main">
            <a:off x="685800" y="457200"/>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173044"/>
                </a:solidFill>
                <a:latin typeface="Arial"/>
                <a:ea typeface="Arial"/>
                <a:cs typeface="Arial"/>
              </a:defRPr>
            </a:pPr>
            <a:r>
              <a:rPr sz="3600" b="1">
                <a:solidFill>
                  <a:srgbClr val="173044"/>
                </a:solidFill>
                <a:latin typeface="Arial"/>
                <a:ea typeface="Arial"/>
                <a:cs typeface="Arial"/>
              </a:rPr>
              <a:t>A prediction before the run</a:t>
            </a:r>
          </a:p>
        </p:txBody>
      </p:sp>
      <p:sp>
        <p:nvSpPr>
          <p:cNvPr id="2" name="">
            <a:extLst xmlns:a="http://schemas.openxmlformats.org/drawingml/2006/main">
              <a:ext uri="{FF2B5EF4-FFF2-40B4-BE49-F238E27FC236}">
                <a16:creationId xmlns:a16="http://schemas.microsoft.com/office/drawing/2014/main" id="{E2A6CDA1-B6EB-4547-BB19-8F3ACD56F61B}"/>
              </a:ext>
            </a:extLst>
          </p:cNvPr>
          <p:cNvSpPr>
            <a:spLocks xmlns:a="http://schemas.openxmlformats.org/drawingml/2006/main" noGrp="1"/>
          </p:cNvSpPr>
          <p:nvPr/>
        </p:nvSpPr>
        <p:spPr>
          <a:xfrm xmlns:a="http://schemas.openxmlformats.org/drawingml/2006/main">
            <a:off x="762000" y="1952625"/>
            <a:ext cx="10477500" cy="1390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0">
                <a:solidFill>
                  <a:srgbClr val="173044"/>
                </a:solidFill>
                <a:latin typeface="Arial"/>
                <a:ea typeface="Arial"/>
                <a:cs typeface="Arial"/>
              </a:defRPr>
            </a:pPr>
            <a:r>
              <a:rPr sz="2625" b="0">
                <a:solidFill>
                  <a:srgbClr val="173044"/>
                </a:solidFill>
                <a:latin typeface="Arial"/>
                <a:ea typeface="Arial"/>
                <a:cs typeface="Arial"/>
              </a:rPr>
              <a:t>If 180 wheel degrees travels 9 cm, what might 360 do?</a:t>
            </a:r>
          </a:p>
        </p:txBody>
      </p:sp>
      <p:sp>
        <p:nvSpPr>
          <p:cNvPr id="3" name="">
            <a:extLst xmlns:a="http://schemas.openxmlformats.org/drawingml/2006/main">
              <a:ext uri="{FF2B5EF4-FFF2-40B4-BE49-F238E27FC236}">
                <a16:creationId xmlns:a16="http://schemas.microsoft.com/office/drawing/2014/main" id="{F833DE89-98B3-449F-827D-B4C695ACDA34}"/>
              </a:ext>
            </a:extLst>
          </p:cNvPr>
          <p:cNvSpPr>
            <a:spLocks xmlns:a="http://schemas.openxmlformats.org/drawingml/2006/main" noGrp="1"/>
          </p:cNvSpPr>
          <p:nvPr/>
        </p:nvSpPr>
        <p:spPr>
          <a:xfrm xmlns:a="http://schemas.openxmlformats.org/drawingml/2006/main">
            <a:off x="762000" y="3476625"/>
            <a:ext cx="10477500" cy="1390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0">
                <a:solidFill>
                  <a:srgbClr val="173044"/>
                </a:solidFill>
                <a:latin typeface="Arial"/>
                <a:ea typeface="Arial"/>
                <a:cs typeface="Arial"/>
              </a:defRPr>
            </a:pPr>
            <a:r>
              <a:rPr sz="2625" b="0">
                <a:solidFill>
                  <a:srgbClr val="173044"/>
                </a:solidFill>
                <a:latin typeface="Arial"/>
                <a:ea typeface="Arial"/>
                <a:cs typeface="Arial"/>
              </a:rPr>
              <a:t>What will you keep the same in your test?</a:t>
            </a:r>
          </a:p>
        </p:txBody>
      </p:sp>
      <p:sp>
        <p:nvSpPr>
          <p:cNvPr id="4" name="">
            <a:extLst xmlns:a="http://schemas.openxmlformats.org/drawingml/2006/main">
              <a:ext uri="{FF2B5EF4-FFF2-40B4-BE49-F238E27FC236}">
                <a16:creationId xmlns:a16="http://schemas.microsoft.com/office/drawing/2014/main" id="{C8D0EA20-29E6-41D9-8A21-90545285B5C2}"/>
              </a:ext>
            </a:extLst>
          </p:cNvPr>
          <p:cNvSpPr>
            <a:spLocks xmlns:a="http://schemas.openxmlformats.org/drawingml/2006/main" noGrp="1"/>
          </p:cNvSpPr>
          <p:nvPr/>
        </p:nvSpPr>
        <p:spPr>
          <a:xfrm xmlns:a="http://schemas.openxmlformats.org/drawingml/2006/main">
            <a:off x="762000" y="6181725"/>
            <a:ext cx="10572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536A77"/>
                </a:solidFill>
                <a:latin typeface="Arial"/>
                <a:ea typeface="Arial"/>
                <a:cs typeface="Arial"/>
              </a:defRPr>
            </a:pPr>
            <a:r>
              <a:rPr sz="1425" b="0">
                <a:solidFill>
                  <a:srgbClr val="536A77"/>
                </a:solidFill>
                <a:latin typeface="Arial"/>
                <a:ea typeface="Arial"/>
                <a:cs typeface="Arial"/>
              </a:rPr>
              <a:t>Both partners explain a prediction before anyone presses Run.</a:t>
            </a:r>
          </a:p>
        </p:txBody>
      </p:sp>
    </p:spTree>
    <p:extLst>
      <p:ext uri="{BB962C8B-B14F-4D97-AF65-F5344CB8AC3E}">
        <p14:creationId xmlns:p14="http://schemas.microsoft.com/office/powerpoint/2010/main" val="693976134"/>
      </p:ext>
    </p:extLst>
  </p:cSld>
</p:sld>
</file>

<file path=ppt/slides/slide5.xml><?xml version="1.0" encoding="utf-8"?>
<p:sld xmlns:p="http://schemas.openxmlformats.org/presentationml/2006/main">
  <p:cSld>
    <p:bg>
      <p:bgPr>
        <a:solidFill xmlns:a="http://schemas.openxmlformats.org/drawingml/2006/main">
          <a:srgbClr val="FBFAF6"/>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5A6B7A65-ED0B-44D9-9C6D-2C5C464E99A0}"/>
              </a:ext>
            </a:extLst>
          </p:cNvPr>
          <p:cNvSpPr>
            <a:spLocks xmlns:a="http://schemas.openxmlformats.org/drawingml/2006/main" noGrp="1"/>
          </p:cNvSpPr>
          <p:nvPr/>
        </p:nvSpPr>
        <p:spPr>
          <a:xfrm xmlns:a="http://schemas.openxmlformats.org/drawingml/2006/main">
            <a:off x="685800" y="457200"/>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173044"/>
                </a:solidFill>
                <a:latin typeface="Arial"/>
                <a:ea typeface="Arial"/>
                <a:cs typeface="Arial"/>
              </a:defRPr>
            </a:pPr>
            <a:r>
              <a:rPr sz="3600" b="1">
                <a:solidFill>
                  <a:srgbClr val="173044"/>
                </a:solidFill>
                <a:latin typeface="Arial"/>
                <a:ea typeface="Arial"/>
                <a:cs typeface="Arial"/>
              </a:rPr>
              <a:t>Your work with a partner</a:t>
            </a:r>
          </a:p>
        </p:txBody>
      </p:sp>
      <p:sp>
        <p:nvSpPr>
          <p:cNvPr id="2" name="">
            <a:extLst xmlns:a="http://schemas.openxmlformats.org/drawingml/2006/main">
              <a:ext uri="{FF2B5EF4-FFF2-40B4-BE49-F238E27FC236}">
                <a16:creationId xmlns:a16="http://schemas.microsoft.com/office/drawing/2014/main" id="{EF4D4712-BCFD-41FE-A7FF-6FD110252804}"/>
              </a:ext>
            </a:extLst>
          </p:cNvPr>
          <p:cNvSpPr>
            <a:spLocks xmlns:a="http://schemas.openxmlformats.org/drawingml/2006/main" noGrp="1"/>
          </p:cNvSpPr>
          <p:nvPr/>
        </p:nvSpPr>
        <p:spPr>
          <a:xfrm xmlns:a="http://schemas.openxmlformats.org/drawingml/2006/main">
            <a:off x="762000" y="1952625"/>
            <a:ext cx="10477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73044"/>
                </a:solidFill>
                <a:latin typeface="Arial"/>
                <a:ea typeface="Arial"/>
                <a:cs typeface="Arial"/>
              </a:defRPr>
            </a:pPr>
            <a:r>
              <a:rPr sz="2175" b="0">
                <a:solidFill>
                  <a:srgbClr val="173044"/>
                </a:solidFill>
                <a:latin typeface="Arial"/>
                <a:ea typeface="Arial"/>
                <a:cs typeface="Arial"/>
              </a:rPr>
              <a:t>Driver: edit and start after the lane check.</a:t>
            </a:r>
          </a:p>
        </p:txBody>
      </p:sp>
      <p:sp>
        <p:nvSpPr>
          <p:cNvPr id="3" name="">
            <a:extLst xmlns:a="http://schemas.openxmlformats.org/drawingml/2006/main">
              <a:ext uri="{FF2B5EF4-FFF2-40B4-BE49-F238E27FC236}">
                <a16:creationId xmlns:a16="http://schemas.microsoft.com/office/drawing/2014/main" id="{CE705E34-D13A-4FA8-87A0-CBAE67DE88DA}"/>
              </a:ext>
            </a:extLst>
          </p:cNvPr>
          <p:cNvSpPr>
            <a:spLocks xmlns:a="http://schemas.openxmlformats.org/drawingml/2006/main" noGrp="1"/>
          </p:cNvSpPr>
          <p:nvPr/>
        </p:nvSpPr>
        <p:spPr>
          <a:xfrm xmlns:a="http://schemas.openxmlformats.org/drawingml/2006/main">
            <a:off x="762000" y="2886075"/>
            <a:ext cx="10477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73044"/>
                </a:solidFill>
                <a:latin typeface="Arial"/>
                <a:ea typeface="Arial"/>
                <a:cs typeface="Arial"/>
              </a:defRPr>
            </a:pPr>
            <a:r>
              <a:rPr sz="2175" b="0">
                <a:solidFill>
                  <a:srgbClr val="173044"/>
                </a:solidFill>
                <a:latin typeface="Arial"/>
                <a:ea typeface="Arial"/>
                <a:cs typeface="Arial"/>
              </a:rPr>
              <a:t>Navigator: predict, check, and record.</a:t>
            </a:r>
          </a:p>
        </p:txBody>
      </p:sp>
      <p:sp>
        <p:nvSpPr>
          <p:cNvPr id="4" name="">
            <a:extLst xmlns:a="http://schemas.openxmlformats.org/drawingml/2006/main">
              <a:ext uri="{FF2B5EF4-FFF2-40B4-BE49-F238E27FC236}">
                <a16:creationId xmlns:a16="http://schemas.microsoft.com/office/drawing/2014/main" id="{DBBCABA6-D69E-41D7-B0C1-9310CB5D34FF}"/>
              </a:ext>
            </a:extLst>
          </p:cNvPr>
          <p:cNvSpPr>
            <a:spLocks xmlns:a="http://schemas.openxmlformats.org/drawingml/2006/main" noGrp="1"/>
          </p:cNvSpPr>
          <p:nvPr/>
        </p:nvSpPr>
        <p:spPr>
          <a:xfrm xmlns:a="http://schemas.openxmlformats.org/drawingml/2006/main">
            <a:off x="762000" y="3819525"/>
            <a:ext cx="10477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73044"/>
                </a:solidFill>
                <a:latin typeface="Arial"/>
                <a:ea typeface="Arial"/>
                <a:cs typeface="Arial"/>
              </a:defRPr>
            </a:pPr>
            <a:r>
              <a:rPr sz="2175" b="0">
                <a:solidFill>
                  <a:srgbClr val="173044"/>
                </a:solidFill>
                <a:latin typeface="Arial"/>
                <a:ea typeface="Arial"/>
                <a:cs typeface="Arial"/>
              </a:rPr>
              <a:t>Swap roles halfway through your robot turn.</a:t>
            </a:r>
          </a:p>
        </p:txBody>
      </p:sp>
      <p:sp>
        <p:nvSpPr>
          <p:cNvPr id="5" name="">
            <a:extLst xmlns:a="http://schemas.openxmlformats.org/drawingml/2006/main">
              <a:ext uri="{FF2B5EF4-FFF2-40B4-BE49-F238E27FC236}">
                <a16:creationId xmlns:a16="http://schemas.microsoft.com/office/drawing/2014/main" id="{897E3114-A741-4B91-8D51-9D325CF4A993}"/>
              </a:ext>
            </a:extLst>
          </p:cNvPr>
          <p:cNvSpPr>
            <a:spLocks xmlns:a="http://schemas.openxmlformats.org/drawingml/2006/main" noGrp="1"/>
          </p:cNvSpPr>
          <p:nvPr/>
        </p:nvSpPr>
        <p:spPr>
          <a:xfrm xmlns:a="http://schemas.openxmlformats.org/drawingml/2006/main">
            <a:off x="762000" y="4752975"/>
            <a:ext cx="10477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73044"/>
                </a:solidFill>
                <a:latin typeface="Arial"/>
                <a:ea typeface="Arial"/>
                <a:cs typeface="Arial"/>
              </a:defRPr>
            </a:pPr>
            <a:r>
              <a:rPr sz="2175" b="0">
                <a:solidFill>
                  <a:srgbClr val="173044"/>
                </a:solidFill>
                <a:latin typeface="Arial"/>
                <a:ea typeface="Arial"/>
                <a:cs typeface="Arial"/>
              </a:rPr>
              <a:t>Away from the robot: complete the worksheet task.</a:t>
            </a:r>
          </a:p>
        </p:txBody>
      </p:sp>
    </p:spTree>
    <p:extLst>
      <p:ext uri="{BB962C8B-B14F-4D97-AF65-F5344CB8AC3E}">
        <p14:creationId xmlns:p14="http://schemas.microsoft.com/office/powerpoint/2010/main" val="250490917"/>
      </p:ext>
    </p:extLst>
  </p:cSld>
</p:sld>
</file>

<file path=ppt/slides/slide6.xml><?xml version="1.0" encoding="utf-8"?>
<p:sld xmlns:p="http://schemas.openxmlformats.org/presentationml/2006/main">
  <p:cSld>
    <p:bg>
      <p:bgPr>
        <a:solidFill xmlns:a="http://schemas.openxmlformats.org/drawingml/2006/main">
          <a:srgbClr val="FBFAF6"/>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1B3491E4-4E1C-43F4-97EA-50B329587D58}"/>
              </a:ext>
            </a:extLst>
          </p:cNvPr>
          <p:cNvSpPr>
            <a:spLocks xmlns:a="http://schemas.openxmlformats.org/drawingml/2006/main" noGrp="1"/>
          </p:cNvSpPr>
          <p:nvPr/>
        </p:nvSpPr>
        <p:spPr>
          <a:xfrm xmlns:a="http://schemas.openxmlformats.org/drawingml/2006/main">
            <a:off x="685800" y="457200"/>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173044"/>
                </a:solidFill>
                <a:latin typeface="Arial"/>
                <a:ea typeface="Arial"/>
                <a:cs typeface="Arial"/>
              </a:defRPr>
            </a:pPr>
            <a:r>
              <a:rPr sz="3600" b="1">
                <a:solidFill>
                  <a:srgbClr val="173044"/>
                </a:solidFill>
                <a:latin typeface="Arial"/>
                <a:ea typeface="Arial"/>
                <a:cs typeface="Arial"/>
              </a:rPr>
              <a:t>Evidence from our test</a:t>
            </a:r>
          </a:p>
        </p:txBody>
      </p:sp>
      <p:sp>
        <p:nvSpPr>
          <p:cNvPr id="2" name="">
            <a:extLst xmlns:a="http://schemas.openxmlformats.org/drawingml/2006/main">
              <a:ext uri="{FF2B5EF4-FFF2-40B4-BE49-F238E27FC236}">
                <a16:creationId xmlns:a16="http://schemas.microsoft.com/office/drawing/2014/main" id="{BB37A796-A2AC-43B9-874B-6CADC20C45CB}"/>
              </a:ext>
            </a:extLst>
          </p:cNvPr>
          <p:cNvSpPr>
            <a:spLocks xmlns:a="http://schemas.openxmlformats.org/drawingml/2006/main" noGrp="1"/>
          </p:cNvSpPr>
          <p:nvPr/>
        </p:nvSpPr>
        <p:spPr>
          <a:xfrm xmlns:a="http://schemas.openxmlformats.org/drawingml/2006/main">
            <a:off x="762000" y="1952625"/>
            <a:ext cx="10477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73044"/>
                </a:solidFill>
                <a:latin typeface="Arial"/>
                <a:ea typeface="Arial"/>
                <a:cs typeface="Arial"/>
              </a:defRPr>
            </a:pPr>
            <a:r>
              <a:rPr sz="2400" b="0">
                <a:solidFill>
                  <a:srgbClr val="173044"/>
                </a:solidFill>
                <a:latin typeface="Arial"/>
                <a:ea typeface="Arial"/>
                <a:cs typeface="Arial"/>
              </a:rPr>
              <a:t>We changed ____________________.</a:t>
            </a:r>
          </a:p>
        </p:txBody>
      </p:sp>
      <p:sp>
        <p:nvSpPr>
          <p:cNvPr id="3" name="">
            <a:extLst xmlns:a="http://schemas.openxmlformats.org/drawingml/2006/main">
              <a:ext uri="{FF2B5EF4-FFF2-40B4-BE49-F238E27FC236}">
                <a16:creationId xmlns:a16="http://schemas.microsoft.com/office/drawing/2014/main" id="{84520FA4-2753-41AD-BBC8-2B26A17E494B}"/>
              </a:ext>
            </a:extLst>
          </p:cNvPr>
          <p:cNvSpPr>
            <a:spLocks xmlns:a="http://schemas.openxmlformats.org/drawingml/2006/main" noGrp="1"/>
          </p:cNvSpPr>
          <p:nvPr/>
        </p:nvSpPr>
        <p:spPr>
          <a:xfrm xmlns:a="http://schemas.openxmlformats.org/drawingml/2006/main">
            <a:off x="762000" y="2847975"/>
            <a:ext cx="10477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73044"/>
                </a:solidFill>
                <a:latin typeface="Arial"/>
                <a:ea typeface="Arial"/>
                <a:cs typeface="Arial"/>
              </a:defRPr>
            </a:pPr>
            <a:r>
              <a:rPr sz="2400" b="0">
                <a:solidFill>
                  <a:srgbClr val="173044"/>
                </a:solidFill>
                <a:latin typeface="Arial"/>
                <a:ea typeface="Arial"/>
                <a:cs typeface="Arial"/>
              </a:rPr>
              <a:t>We predicted ____________________.</a:t>
            </a:r>
          </a:p>
        </p:txBody>
      </p:sp>
      <p:sp>
        <p:nvSpPr>
          <p:cNvPr id="4" name="">
            <a:extLst xmlns:a="http://schemas.openxmlformats.org/drawingml/2006/main">
              <a:ext uri="{FF2B5EF4-FFF2-40B4-BE49-F238E27FC236}">
                <a16:creationId xmlns:a16="http://schemas.microsoft.com/office/drawing/2014/main" id="{7E85D55C-E56A-4BAA-B557-56183B33B936}"/>
              </a:ext>
            </a:extLst>
          </p:cNvPr>
          <p:cNvSpPr>
            <a:spLocks xmlns:a="http://schemas.openxmlformats.org/drawingml/2006/main" noGrp="1"/>
          </p:cNvSpPr>
          <p:nvPr/>
        </p:nvSpPr>
        <p:spPr>
          <a:xfrm xmlns:a="http://schemas.openxmlformats.org/drawingml/2006/main">
            <a:off x="762000" y="3743325"/>
            <a:ext cx="10477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73044"/>
                </a:solidFill>
                <a:latin typeface="Arial"/>
                <a:ea typeface="Arial"/>
                <a:cs typeface="Arial"/>
              </a:defRPr>
            </a:pPr>
            <a:r>
              <a:rPr sz="2400" b="0">
                <a:solidFill>
                  <a:srgbClr val="173044"/>
                </a:solidFill>
                <a:latin typeface="Arial"/>
                <a:ea typeface="Arial"/>
                <a:cs typeface="Arial"/>
              </a:rPr>
              <a:t>We observed ____________________.</a:t>
            </a:r>
          </a:p>
        </p:txBody>
      </p:sp>
      <p:sp>
        <p:nvSpPr>
          <p:cNvPr id="5" name="">
            <a:extLst xmlns:a="http://schemas.openxmlformats.org/drawingml/2006/main">
              <a:ext uri="{FF2B5EF4-FFF2-40B4-BE49-F238E27FC236}">
                <a16:creationId xmlns:a16="http://schemas.microsoft.com/office/drawing/2014/main" id="{079E3865-1441-40C0-BEC6-008E77F80BB8}"/>
              </a:ext>
            </a:extLst>
          </p:cNvPr>
          <p:cNvSpPr>
            <a:spLocks xmlns:a="http://schemas.openxmlformats.org/drawingml/2006/main" noGrp="1"/>
          </p:cNvSpPr>
          <p:nvPr/>
        </p:nvSpPr>
        <p:spPr>
          <a:xfrm xmlns:a="http://schemas.openxmlformats.org/drawingml/2006/main">
            <a:off x="762000" y="4638675"/>
            <a:ext cx="10477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73044"/>
                </a:solidFill>
                <a:latin typeface="Arial"/>
                <a:ea typeface="Arial"/>
                <a:cs typeface="Arial"/>
              </a:defRPr>
            </a:pPr>
            <a:r>
              <a:rPr sz="2400" b="0">
                <a:solidFill>
                  <a:srgbClr val="173044"/>
                </a:solidFill>
                <a:latin typeface="Arial"/>
                <a:ea typeface="Arial"/>
                <a:cs typeface="Arial"/>
              </a:rPr>
              <a:t>Our next test would ____________________.</a:t>
            </a:r>
          </a:p>
        </p:txBody>
      </p:sp>
    </p:spTree>
    <p:extLst>
      <p:ext uri="{BB962C8B-B14F-4D97-AF65-F5344CB8AC3E}">
        <p14:creationId xmlns:p14="http://schemas.microsoft.com/office/powerpoint/2010/main" val="1020591926"/>
      </p:ext>
    </p:extLst>
  </p:cSld>
</p:sld>
</file>

<file path=ppt/slides/slide7.xml><?xml version="1.0" encoding="utf-8"?>
<p:sld xmlns:p="http://schemas.openxmlformats.org/presentationml/2006/main">
  <p:cSld>
    <p:bg>
      <p:bgPr>
        <a:solidFill xmlns:a="http://schemas.openxmlformats.org/drawingml/2006/main">
          <a:srgbClr val="FBFAF6"/>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C6D6036E-A2E9-4A36-B97A-34C71969360A}"/>
              </a:ext>
            </a:extLst>
          </p:cNvPr>
          <p:cNvSpPr>
            <a:spLocks xmlns:a="http://schemas.openxmlformats.org/drawingml/2006/main" noGrp="1"/>
          </p:cNvSpPr>
          <p:nvPr/>
        </p:nvSpPr>
        <p:spPr>
          <a:xfrm xmlns:a="http://schemas.openxmlformats.org/drawingml/2006/main">
            <a:off x="685800" y="457200"/>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173044"/>
                </a:solidFill>
                <a:latin typeface="Arial"/>
                <a:ea typeface="Arial"/>
                <a:cs typeface="Arial"/>
              </a:defRPr>
            </a:pPr>
            <a:r>
              <a:rPr sz="3600" b="1">
                <a:solidFill>
                  <a:srgbClr val="173044"/>
                </a:solidFill>
                <a:latin typeface="Arial"/>
                <a:ea typeface="Arial"/>
                <a:cs typeface="Arial"/>
              </a:rPr>
              <a:t>What you can explain now</a:t>
            </a:r>
          </a:p>
        </p:txBody>
      </p:sp>
      <p:sp>
        <p:nvSpPr>
          <p:cNvPr id="2" name="">
            <a:extLst xmlns:a="http://schemas.openxmlformats.org/drawingml/2006/main">
              <a:ext uri="{FF2B5EF4-FFF2-40B4-BE49-F238E27FC236}">
                <a16:creationId xmlns:a16="http://schemas.microsoft.com/office/drawing/2014/main" id="{3589665C-0395-4723-B7B6-A39E4F368AFA}"/>
              </a:ext>
            </a:extLst>
          </p:cNvPr>
          <p:cNvSpPr>
            <a:spLocks xmlns:a="http://schemas.openxmlformats.org/drawingml/2006/main" noGrp="1"/>
          </p:cNvSpPr>
          <p:nvPr/>
        </p:nvSpPr>
        <p:spPr>
          <a:xfrm xmlns:a="http://schemas.openxmlformats.org/drawingml/2006/main">
            <a:off x="762000" y="1857375"/>
            <a:ext cx="10477500" cy="2286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75" b="0">
                <a:solidFill>
                  <a:srgbClr val="173044"/>
                </a:solidFill>
                <a:latin typeface="Arial"/>
                <a:ea typeface="Arial"/>
                <a:cs typeface="Arial"/>
              </a:defRPr>
            </a:pPr>
            <a:r>
              <a:rPr sz="2775" b="0">
                <a:solidFill>
                  <a:srgbClr val="173044"/>
                </a:solidFill>
                <a:latin typeface="Arial"/>
                <a:ea typeface="Arial"/>
                <a:cs typeface="Arial"/>
              </a:rPr>
              <a:t>What value did you change, what did you keep the same, and what did your measurement tell you?</a:t>
            </a:r>
          </a:p>
        </p:txBody>
      </p:sp>
      <p:sp>
        <p:nvSpPr>
          <p:cNvPr id="3" name="">
            <a:extLst xmlns:a="http://schemas.openxmlformats.org/drawingml/2006/main">
              <a:ext uri="{FF2B5EF4-FFF2-40B4-BE49-F238E27FC236}">
                <a16:creationId xmlns:a16="http://schemas.microsoft.com/office/drawing/2014/main" id="{9CCF5E69-6906-42F9-84AE-D99905738210}"/>
              </a:ext>
            </a:extLst>
          </p:cNvPr>
          <p:cNvSpPr>
            <a:spLocks xmlns:a="http://schemas.openxmlformats.org/drawingml/2006/main" noGrp="1"/>
          </p:cNvSpPr>
          <p:nvPr/>
        </p:nvSpPr>
        <p:spPr>
          <a:xfrm xmlns:a="http://schemas.openxmlformats.org/drawingml/2006/main">
            <a:off x="762000" y="4629150"/>
            <a:ext cx="10477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006E75"/>
                </a:solidFill>
                <a:latin typeface="Arial"/>
                <a:ea typeface="Arial"/>
                <a:cs typeface="Arial"/>
              </a:defRPr>
            </a:pPr>
            <a:r>
              <a:rPr sz="2175" b="0">
                <a:solidFill>
                  <a:srgbClr val="006E75"/>
                </a:solidFill>
                <a:latin typeface="Arial"/>
                <a:ea typeface="Arial"/>
                <a:cs typeface="Arial"/>
              </a:rPr>
              <a:t>Save your project. Reset the robot and parts for the next pair.</a:t>
            </a:r>
          </a:p>
        </p:txBody>
      </p:sp>
      <p:sp>
        <p:nvSpPr>
          <p:cNvPr id="4" name="">
            <a:extLst xmlns:a="http://schemas.openxmlformats.org/drawingml/2006/main">
              <a:ext uri="{FF2B5EF4-FFF2-40B4-BE49-F238E27FC236}">
                <a16:creationId xmlns:a16="http://schemas.microsoft.com/office/drawing/2014/main" id="{29607218-CD6E-415D-822C-BBFC8B6D24BA}"/>
              </a:ext>
            </a:extLst>
          </p:cNvPr>
          <p:cNvSpPr>
            <a:spLocks xmlns:a="http://schemas.openxmlformats.org/drawingml/2006/main" noGrp="1"/>
          </p:cNvSpPr>
          <p:nvPr/>
        </p:nvSpPr>
        <p:spPr>
          <a:xfrm xmlns:a="http://schemas.openxmlformats.org/drawingml/2006/main">
            <a:off x="762000" y="6181725"/>
            <a:ext cx="10572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536A77"/>
                </a:solidFill>
                <a:latin typeface="Arial"/>
                <a:ea typeface="Arial"/>
                <a:cs typeface="Arial"/>
              </a:defRPr>
            </a:pPr>
            <a:r>
              <a:rPr sz="1425" b="0">
                <a:solidFill>
                  <a:srgbClr val="536A77"/>
                </a:solidFill>
                <a:latin typeface="Arial"/>
                <a:ea typeface="Arial"/>
                <a:cs typeface="Arial"/>
              </a:rPr>
              <a:t>FRC autonomous routines rely on measurement and repeatable starts.</a:t>
            </a:r>
          </a:p>
        </p:txBody>
      </p:sp>
    </p:spTree>
    <p:extLst>
      <p:ext uri="{BB962C8B-B14F-4D97-AF65-F5344CB8AC3E}">
        <p14:creationId xmlns:p14="http://schemas.microsoft.com/office/powerpoint/2010/main" val="164311235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2026-10-02T02:43:34.8160000Z</dcterms:created>
  <dcterms:modified xsi:type="dcterms:W3CDTF">2026-10-02T02:43:34.8160000Z</dcterms:modified>
</coreProperties>
</file>